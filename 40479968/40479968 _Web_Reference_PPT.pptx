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61" r:id="rId3"/>
    <p:sldId id="257" r:id="rId4"/>
    <p:sldId id="258" r:id="rId5"/>
    <p:sldId id="267" r:id="rId6"/>
    <p:sldId id="268" r:id="rId7"/>
    <p:sldId id="269" r:id="rId8"/>
    <p:sldId id="262" r:id="rId9"/>
    <p:sldId id="264" r:id="rId10"/>
    <p:sldId id="265" r:id="rId11"/>
    <p:sldId id="266" r:id="rId12"/>
    <p:sldId id="259" r:id="rId13"/>
    <p:sldId id="263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7F109AA-BF25-4A2B-8FDE-6359E70AB65B}">
          <p14:sldIdLst>
            <p14:sldId id="256"/>
            <p14:sldId id="261"/>
          </p14:sldIdLst>
        </p14:section>
        <p14:section name="Reports" id="{AA05AEA2-5A97-4A0C-8924-AF8B634B235B}">
          <p14:sldIdLst>
            <p14:sldId id="257"/>
            <p14:sldId id="258"/>
            <p14:sldId id="267"/>
            <p14:sldId id="268"/>
            <p14:sldId id="269"/>
          </p14:sldIdLst>
        </p14:section>
        <p14:section name="Views" id="{DE2FCF9C-9E1E-4277-891E-FCCDCCA74827}">
          <p14:sldIdLst>
            <p14:sldId id="262"/>
            <p14:sldId id="264"/>
            <p14:sldId id="265"/>
            <p14:sldId id="266"/>
          </p14:sldIdLst>
        </p14:section>
        <p14:section name="Parameterised reports" id="{A33C2A5D-0905-47BB-A1FF-49B80E23719A}">
          <p14:sldIdLst>
            <p14:sldId id="259"/>
            <p14:sldId id="263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7F834-D83D-433F-8BD5-BF6506924AF0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F0A356-6A10-4B14-97A9-15D971662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423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0A356-6A10-4B14-97A9-15D9716629F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069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1267F-54D4-CC64-A1EC-24B9D6C3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0B2AB-9D0C-EF8F-0699-13DDD99B3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49CD1-70D9-5900-0BED-6DF42553F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C539D-8C93-DB82-8E0A-8C012519D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0A356-6A10-4B14-97A9-15D9716629F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293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0A356-6A10-4B14-97A9-15D9716629F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610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380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65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591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397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47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71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26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29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GB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7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80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65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31C8F93-009E-4423-AB95-0677AEBF61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9085E77-7408-4780-AD46-7D619F7D15D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5211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B462-D0B0-022C-B79F-B453C0EEA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Reference Guide for Web</a:t>
            </a:r>
            <a:br>
              <a:rPr lang="en-GB" sz="5400" dirty="0"/>
            </a:br>
            <a:r>
              <a:rPr lang="en-GB" sz="5400" dirty="0"/>
              <a:t>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7A201-A269-2589-37D5-90F17B438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88227"/>
            <a:ext cx="9144000" cy="419356"/>
          </a:xfrm>
        </p:spPr>
        <p:txBody>
          <a:bodyPr>
            <a:normAutofit/>
          </a:bodyPr>
          <a:lstStyle/>
          <a:p>
            <a:r>
              <a:rPr lang="en-GB" dirty="0"/>
              <a:t>StudentID_40479968</a:t>
            </a:r>
          </a:p>
        </p:txBody>
      </p:sp>
    </p:spTree>
    <p:extLst>
      <p:ext uri="{BB962C8B-B14F-4D97-AF65-F5344CB8AC3E}">
        <p14:creationId xmlns:p14="http://schemas.microsoft.com/office/powerpoint/2010/main" val="145697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7334D-1A22-09CF-A5D3-4C582A07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F02308-10C3-8304-C18D-0BD95876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214FE6-166D-04BE-AAC7-4402A09DE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50DAAE-837A-C15B-FCC8-E88F0311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811" y="403509"/>
            <a:ext cx="4087368" cy="6050982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893A0-C5AE-6AB6-7568-4DC345A97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95" y="2888481"/>
            <a:ext cx="3765200" cy="630960"/>
          </a:xfrm>
        </p:spPr>
        <p:txBody>
          <a:bodyPr>
            <a:no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Directory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D22BC-8C71-452C-DA44-8A83879ECCE3}"/>
              </a:ext>
            </a:extLst>
          </p:cNvPr>
          <p:cNvSpPr txBox="1">
            <a:spLocks/>
          </p:cNvSpPr>
          <p:nvPr/>
        </p:nvSpPr>
        <p:spPr>
          <a:xfrm>
            <a:off x="5243129" y="614772"/>
            <a:ext cx="3125669" cy="5612131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Pct val="80000"/>
              <a:buFont typeface="Arial" panose="020B0604020202020204" pitchFamily="34" charset="0"/>
              <a:buNone/>
              <a:defRPr sz="1800" kern="1200" spc="1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Group03/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├── Database/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│   ├── </a:t>
            </a:r>
            <a:r>
              <a:rPr kumimoji="0" lang="en-GB" sz="950" b="0" i="0" u="none" strike="noStrike" kern="1200" cap="none" spc="1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create.sql</a:t>
            </a:r>
            <a:endParaRPr kumimoji="0" lang="en-GB" sz="950" b="0" i="0" u="none" strike="noStrike" kern="1200" cap="none" spc="1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│   └── </a:t>
            </a:r>
            <a:r>
              <a:rPr kumimoji="0" lang="en-GB" sz="950" b="0" i="0" u="none" strike="noStrike" kern="1200" cap="none" spc="1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insert.sql</a:t>
            </a:r>
            <a:endParaRPr kumimoji="0" lang="en-GB" sz="950" b="0" i="0" u="none" strike="noStrike" kern="1200" cap="none" spc="1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├── Web App/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│   </a:t>
            </a: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├── </a:t>
            </a:r>
            <a:r>
              <a:rPr lang="en-GB" sz="95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AddHTML</a:t>
            </a:r>
            <a:endParaRPr lang="en-GB" sz="95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CSS</a:t>
            </a:r>
            <a:endParaRPr kumimoji="0" lang="en-GB" sz="950" b="0" i="0" u="none" strike="noStrike" kern="1200" cap="none" spc="1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entury Gothic" panose="020B0502020202020204" pitchFamily="34" charset="0"/>
            </a:endParaRP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</a:t>
            </a:r>
            <a:r>
              <a:rPr lang="en-GB" sz="95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DataHTML</a:t>
            </a:r>
            <a:endParaRPr lang="en-GB" sz="95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</a:t>
            </a:r>
            <a:r>
              <a:rPr lang="en-GB" sz="95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EditHTML</a:t>
            </a:r>
            <a:endParaRPr lang="en-GB" sz="95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HTML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Images</a:t>
            </a:r>
            <a:endParaRPr kumimoji="0" lang="en-GB" sz="950" b="0" i="0" u="none" strike="noStrike" kern="1200" cap="none" spc="1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│   └── JS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├── Database_Technical_Documentation.docx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</a:t>
            </a:r>
            <a:endParaRPr kumimoji="0" lang="en-GB" sz="950" b="0" i="0" u="none" strike="noStrike" kern="1200" cap="none" spc="1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entury Gothic" panose="020B05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├── Group_System_Video.mp4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├── Work_Breakdown_Table.docx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F6F74">
                  <a:lumMod val="50000"/>
                </a:srgbClr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GB" sz="950" b="0" i="0" u="none" strike="noStrike" kern="1200" cap="none" spc="1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B0502020202020204" pitchFamily="34" charset="0"/>
              </a:rPr>
              <a:t>│</a:t>
            </a:r>
          </a:p>
          <a:p>
            <a:r>
              <a:rPr lang="en-GB" sz="950" dirty="0">
                <a:solidFill>
                  <a:schemeClr val="tx2"/>
                </a:solidFill>
              </a:rPr>
              <a:t>├── 40479966/</a:t>
            </a:r>
          </a:p>
          <a:p>
            <a:r>
              <a:rPr lang="en-GB" sz="950" dirty="0">
                <a:solidFill>
                  <a:schemeClr val="tx2"/>
                </a:solidFill>
              </a:rPr>
              <a:t>│   ├── 40479966 _Design_Spec.docx</a:t>
            </a:r>
          </a:p>
          <a:p>
            <a:r>
              <a:rPr lang="en-GB" sz="950" dirty="0">
                <a:solidFill>
                  <a:schemeClr val="tx2"/>
                </a:solidFill>
              </a:rPr>
              <a:t>│   ├── 40479966 _</a:t>
            </a:r>
            <a:r>
              <a:rPr lang="en-GB" sz="950" dirty="0" err="1">
                <a:solidFill>
                  <a:schemeClr val="tx2"/>
                </a:solidFill>
              </a:rPr>
              <a:t>reports.sql</a:t>
            </a:r>
            <a:endParaRPr lang="en-GB" sz="950" dirty="0">
              <a:solidFill>
                <a:schemeClr val="tx2"/>
              </a:solidFill>
            </a:endParaRPr>
          </a:p>
          <a:p>
            <a:r>
              <a:rPr lang="en-GB" sz="950" dirty="0">
                <a:solidFill>
                  <a:schemeClr val="tx2"/>
                </a:solidFill>
              </a:rPr>
              <a:t>│   ├── 40479966 _Web_Reference_PPT.pptx</a:t>
            </a:r>
          </a:p>
          <a:p>
            <a:r>
              <a:rPr lang="en-GB" sz="950" dirty="0">
                <a:solidFill>
                  <a:schemeClr val="tx2"/>
                </a:solidFill>
              </a:rPr>
              <a:t>│   ├── 40479966 _Individual_Video.mp4</a:t>
            </a:r>
          </a:p>
          <a:p>
            <a:r>
              <a:rPr lang="en-GB" sz="950" dirty="0">
                <a:solidFill>
                  <a:schemeClr val="tx2"/>
                </a:solidFill>
              </a:rPr>
              <a:t>│   └── 40479966 _GenAi_Log.docx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6BD8CE-D63D-8B30-8815-26E463747586}"/>
              </a:ext>
            </a:extLst>
          </p:cNvPr>
          <p:cNvSpPr txBox="1">
            <a:spLocks/>
          </p:cNvSpPr>
          <p:nvPr/>
        </p:nvSpPr>
        <p:spPr>
          <a:xfrm>
            <a:off x="8865826" y="1233904"/>
            <a:ext cx="2829146" cy="4852359"/>
          </a:xfrm>
          <a:prstGeom prst="rect">
            <a:avLst/>
          </a:prstGeom>
          <a:effectLst/>
        </p:spPr>
        <p:txBody>
          <a:bodyPr vert="horz" lIns="0" tIns="45720" rIns="0" bIns="45720" rtlCol="0" anchor="ctr">
            <a:no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6F6F74">
                  <a:lumMod val="50000"/>
                </a:srgbClr>
              </a:buClr>
            </a:pPr>
            <a:endParaRPr lang="en-GB" sz="950" dirty="0">
              <a:solidFill>
                <a:srgbClr val="6F6F74">
                  <a:lumMod val="50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1ADCB1C-D13F-7B6F-F630-8F14C046A30B}"/>
              </a:ext>
            </a:extLst>
          </p:cNvPr>
          <p:cNvSpPr txBox="1">
            <a:spLocks/>
          </p:cNvSpPr>
          <p:nvPr/>
        </p:nvSpPr>
        <p:spPr>
          <a:xfrm>
            <a:off x="8699710" y="614773"/>
            <a:ext cx="2829146" cy="5612132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vert="horz" lIns="0" tIns="45720" rIns="0" bIns="45720" rtlCol="0" anchor="ctr">
            <a:no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50" dirty="0">
                <a:solidFill>
                  <a:schemeClr val="tx2"/>
                </a:solidFill>
              </a:rPr>
              <a:t>├── 40479968/</a:t>
            </a:r>
          </a:p>
          <a:p>
            <a:r>
              <a:rPr lang="en-GB" sz="950" dirty="0">
                <a:solidFill>
                  <a:schemeClr val="tx2"/>
                </a:solidFill>
              </a:rPr>
              <a:t>│   ├── 40479968 _Design_Spec.docx</a:t>
            </a:r>
          </a:p>
          <a:p>
            <a:r>
              <a:rPr lang="en-GB" sz="950" dirty="0">
                <a:solidFill>
                  <a:schemeClr val="tx2"/>
                </a:solidFill>
              </a:rPr>
              <a:t>│   ├── 40479968 _ </a:t>
            </a:r>
            <a:r>
              <a:rPr lang="en-GB" sz="950" dirty="0" err="1">
                <a:solidFill>
                  <a:schemeClr val="tx2"/>
                </a:solidFill>
              </a:rPr>
              <a:t>reports.sql</a:t>
            </a:r>
            <a:endParaRPr lang="en-GB" sz="950" dirty="0">
              <a:solidFill>
                <a:schemeClr val="tx2"/>
              </a:solidFill>
            </a:endParaRPr>
          </a:p>
          <a:p>
            <a:r>
              <a:rPr lang="en-GB" sz="950" dirty="0">
                <a:solidFill>
                  <a:schemeClr val="tx2"/>
                </a:solidFill>
              </a:rPr>
              <a:t>│   ├── 40479968 _Web_Reference_PPT.pptx</a:t>
            </a:r>
          </a:p>
          <a:p>
            <a:r>
              <a:rPr lang="en-GB" sz="950" dirty="0">
                <a:solidFill>
                  <a:schemeClr val="tx2"/>
                </a:solidFill>
              </a:rPr>
              <a:t>│   ├── 40479968 _Individual_Video.mp4</a:t>
            </a:r>
          </a:p>
          <a:p>
            <a:r>
              <a:rPr lang="en-GB" sz="950" dirty="0">
                <a:solidFill>
                  <a:schemeClr val="tx2"/>
                </a:solidFill>
              </a:rPr>
              <a:t>│   └── 40479968 _GenAi_Log.docx</a:t>
            </a:r>
            <a:endParaRPr lang="en-GB" sz="95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├── 40486524/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40486524 _Design_Spec.docx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40486524 _ </a:t>
            </a:r>
            <a:r>
              <a:rPr lang="en-GB" sz="95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reports.sql</a:t>
            </a:r>
            <a:endParaRPr lang="en-GB" sz="95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40486524 _Web_Reference_PPT.pptx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40486524 _Individual_Video.mp4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</a:rPr>
              <a:t>│   └── </a:t>
            </a: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40486524 _GenAi_Log.docx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├── StudentID_40479966/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40479966 _Design_Spec.docx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40479966 _ </a:t>
            </a:r>
            <a:r>
              <a:rPr lang="en-GB" sz="95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reports.sql</a:t>
            </a:r>
            <a:endParaRPr lang="en-GB" sz="95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40479966 _Web_Reference_PPT.pptx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40479966 _Individual_Video.mp4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└── 40479966 _GenAi_Log.docx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└── StudentID_40479969/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40479969 _Design_Spec.docx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40479969 _ </a:t>
            </a:r>
            <a:r>
              <a:rPr lang="en-GB" sz="95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reports.sql</a:t>
            </a:r>
            <a:endParaRPr lang="en-GB" sz="950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40479969 _Web_Reference_PPT.pptx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│   ├── 40479969 _Individual_Video.mp4</a:t>
            </a:r>
          </a:p>
          <a:p>
            <a:pPr>
              <a:buClr>
                <a:srgbClr val="6F6F74">
                  <a:lumMod val="50000"/>
                </a:srgbClr>
              </a:buClr>
            </a:pPr>
            <a:r>
              <a:rPr lang="en-GB" sz="950" dirty="0">
                <a:solidFill>
                  <a:schemeClr val="tx2"/>
                </a:solidFill>
              </a:rPr>
              <a:t>│   └── </a:t>
            </a:r>
            <a:r>
              <a:rPr lang="en-GB" sz="950" dirty="0">
                <a:solidFill>
                  <a:schemeClr val="tx2"/>
                </a:solidFill>
                <a:latin typeface="Century Gothic" panose="020B0502020202020204" pitchFamily="34" charset="0"/>
              </a:rPr>
              <a:t>40479969 _GenAi_Log.docx</a:t>
            </a:r>
          </a:p>
          <a:p>
            <a:endParaRPr lang="en-GB" sz="950" dirty="0"/>
          </a:p>
        </p:txBody>
      </p:sp>
    </p:spTree>
    <p:extLst>
      <p:ext uri="{BB962C8B-B14F-4D97-AF65-F5344CB8AC3E}">
        <p14:creationId xmlns:p14="http://schemas.microsoft.com/office/powerpoint/2010/main" val="4255570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99DDB0-F27A-44CC-8E62-15E86AF9E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811" y="403509"/>
            <a:ext cx="4087368" cy="6050982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55A70-2F0A-0AA7-6A82-5F00248C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95" y="435046"/>
            <a:ext cx="3765200" cy="798109"/>
          </a:xfrm>
        </p:spPr>
        <p:txBody>
          <a:bodyPr>
            <a:no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Report Reference Index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51548-7DD2-D2DC-46E5-E95D8AA0A30A}"/>
              </a:ext>
            </a:extLst>
          </p:cNvPr>
          <p:cNvSpPr txBox="1"/>
          <p:nvPr/>
        </p:nvSpPr>
        <p:spPr>
          <a:xfrm>
            <a:off x="455135" y="1120676"/>
            <a:ext cx="40873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…\Data-Driven-2026\Web App\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DataHTML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\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EmmaData</a:t>
            </a:r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…\Data-Driven-2026\Web App\JS\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ReportJS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\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emmaReports</a:t>
            </a:r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…\Data-Driven-2026\40479968\40479968_Reports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AFEA0D-0B2F-7ECF-23DE-9FEF60277DAA}"/>
              </a:ext>
            </a:extLst>
          </p:cNvPr>
          <p:cNvSpPr txBox="1"/>
          <p:nvPr/>
        </p:nvSpPr>
        <p:spPr>
          <a:xfrm>
            <a:off x="6025577" y="3395433"/>
            <a:ext cx="3600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External view - report dropdown selection on the web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CB74BE-C281-62F4-F17E-715E61FDA547}"/>
              </a:ext>
            </a:extLst>
          </p:cNvPr>
          <p:cNvSpPr txBox="1"/>
          <p:nvPr/>
        </p:nvSpPr>
        <p:spPr>
          <a:xfrm>
            <a:off x="417035" y="3581019"/>
            <a:ext cx="40873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Building tables in JS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Using a dropdown selection to choose which report to view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Non-selected reports will be hidden using an </a:t>
            </a:r>
            <a:r>
              <a:rPr lang="en-GB" dirty="0" err="1">
                <a:solidFill>
                  <a:schemeClr val="bg1"/>
                </a:solidFill>
              </a:rPr>
              <a:t>eventListener</a:t>
            </a:r>
            <a:r>
              <a:rPr lang="en-GB" dirty="0">
                <a:solidFill>
                  <a:schemeClr val="bg1"/>
                </a:solidFill>
              </a:rPr>
              <a:t> and CSS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F7E7F6E-84A1-EF4B-F60F-FDD7F958B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616" y="2984385"/>
            <a:ext cx="1165961" cy="153175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1E6DAED-C126-4097-CBFA-36141C38F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289" y="90917"/>
            <a:ext cx="7483381" cy="153175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F685DA6-272E-4DB7-3002-DC64ED228AD5}"/>
              </a:ext>
            </a:extLst>
          </p:cNvPr>
          <p:cNvSpPr txBox="1"/>
          <p:nvPr/>
        </p:nvSpPr>
        <p:spPr>
          <a:xfrm>
            <a:off x="4937526" y="1609909"/>
            <a:ext cx="7028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Internal view – creation of the dropdown selection in EmmaData.html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2AF4081-9AFB-971F-28DA-4792B78B2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617" y="2074745"/>
            <a:ext cx="5483796" cy="47971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4AF66B2-67B8-9D4A-8D86-EE4A5D6F16FB}"/>
              </a:ext>
            </a:extLst>
          </p:cNvPr>
          <p:cNvSpPr txBox="1"/>
          <p:nvPr/>
        </p:nvSpPr>
        <p:spPr>
          <a:xfrm>
            <a:off x="4542503" y="2549868"/>
            <a:ext cx="5938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Div containing second report with its class name currently set to “hide”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19A9479-497B-ACD6-4E37-5756F875B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9195" y="2110860"/>
            <a:ext cx="1772805" cy="74343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0421303-3B09-05C1-B35A-68995BBE216D}"/>
              </a:ext>
            </a:extLst>
          </p:cNvPr>
          <p:cNvSpPr txBox="1"/>
          <p:nvPr/>
        </p:nvSpPr>
        <p:spPr>
          <a:xfrm>
            <a:off x="10019071" y="2856824"/>
            <a:ext cx="23736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CSS will now not display anything with the class name of “hide”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AE202D3-FD24-1B2B-B585-C911CBD40D7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09" t="17649"/>
          <a:stretch>
            <a:fillRect/>
          </a:stretch>
        </p:blipFill>
        <p:spPr>
          <a:xfrm>
            <a:off x="4927693" y="4983796"/>
            <a:ext cx="6990132" cy="180295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B9C824A-F8FD-3521-7283-E8D82D6534F7}"/>
              </a:ext>
            </a:extLst>
          </p:cNvPr>
          <p:cNvSpPr txBox="1"/>
          <p:nvPr/>
        </p:nvSpPr>
        <p:spPr>
          <a:xfrm>
            <a:off x="6017337" y="4182958"/>
            <a:ext cx="6274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Contents of </a:t>
            </a:r>
            <a:r>
              <a:rPr lang="en-GB" sz="1600" i="1" dirty="0" err="1"/>
              <a:t>eventListener</a:t>
            </a:r>
            <a:r>
              <a:rPr lang="en-GB" sz="1600" i="1" dirty="0"/>
              <a:t> on the dropdown to change the </a:t>
            </a:r>
            <a:r>
              <a:rPr lang="en-GB" sz="1600" i="1" dirty="0" err="1"/>
              <a:t>className</a:t>
            </a:r>
            <a:r>
              <a:rPr lang="en-GB" sz="1600" i="1" dirty="0"/>
              <a:t> of the report </a:t>
            </a:r>
            <a:r>
              <a:rPr lang="en-GB" sz="1600" i="1" dirty="0" err="1"/>
              <a:t>divs</a:t>
            </a:r>
            <a:r>
              <a:rPr lang="en-GB" sz="1600" i="1" dirty="0"/>
              <a:t> depending on the dropdown selection</a:t>
            </a:r>
          </a:p>
        </p:txBody>
      </p:sp>
    </p:spTree>
    <p:extLst>
      <p:ext uri="{BB962C8B-B14F-4D97-AF65-F5344CB8AC3E}">
        <p14:creationId xmlns:p14="http://schemas.microsoft.com/office/powerpoint/2010/main" val="1944730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0">
            <a:extLst>
              <a:ext uri="{FF2B5EF4-FFF2-40B4-BE49-F238E27FC236}">
                <a16:creationId xmlns:a16="http://schemas.microsoft.com/office/drawing/2014/main" id="{03A23698-3100-6DFF-74C6-8DB944CFC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" t="-959" r="-415" b="-233"/>
          <a:stretch>
            <a:fillRect/>
          </a:stretch>
        </p:blipFill>
        <p:spPr>
          <a:xfrm>
            <a:off x="475166" y="2143050"/>
            <a:ext cx="4574700" cy="39726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797BE6-9290-1C8F-C759-E53EF853DC06}"/>
              </a:ext>
            </a:extLst>
          </p:cNvPr>
          <p:cNvSpPr txBox="1"/>
          <p:nvPr/>
        </p:nvSpPr>
        <p:spPr>
          <a:xfrm>
            <a:off x="1148785" y="6096000"/>
            <a:ext cx="3138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Creation of the table in JS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192FC-3236-0C72-76F4-D3B83C9EAEB7}"/>
              </a:ext>
            </a:extLst>
          </p:cNvPr>
          <p:cNvSpPr txBox="1"/>
          <p:nvPr/>
        </p:nvSpPr>
        <p:spPr>
          <a:xfrm>
            <a:off x="0" y="0"/>
            <a:ext cx="2998838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FIRST REPORT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A446D6-031B-6331-0D3A-9083CFFD6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62" y="547377"/>
            <a:ext cx="4519052" cy="8077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F4A58D-7E0F-10B7-F9D6-068F8A3C33FC}"/>
              </a:ext>
            </a:extLst>
          </p:cNvPr>
          <p:cNvSpPr txBox="1"/>
          <p:nvPr/>
        </p:nvSpPr>
        <p:spPr>
          <a:xfrm>
            <a:off x="957057" y="1355167"/>
            <a:ext cx="33789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Fetching the SQL view to display its contents in the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D2E14F-F3FF-38DF-7B63-42C4282DE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703" y="1265133"/>
            <a:ext cx="6427973" cy="36334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D0DEB2-3D62-C3C0-FD81-24CB7C22A815}"/>
              </a:ext>
            </a:extLst>
          </p:cNvPr>
          <p:cNvSpPr txBox="1"/>
          <p:nvPr/>
        </p:nvSpPr>
        <p:spPr>
          <a:xfrm>
            <a:off x="5937096" y="4978356"/>
            <a:ext cx="5655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What the tabular report looks like in the web application (first ten rows)</a:t>
            </a:r>
          </a:p>
        </p:txBody>
      </p:sp>
    </p:spTree>
    <p:extLst>
      <p:ext uri="{BB962C8B-B14F-4D97-AF65-F5344CB8AC3E}">
        <p14:creationId xmlns:p14="http://schemas.microsoft.com/office/powerpoint/2010/main" val="20794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25D38-491F-A56E-2AC9-44C48AEF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0">
            <a:extLst>
              <a:ext uri="{FF2B5EF4-FFF2-40B4-BE49-F238E27FC236}">
                <a16:creationId xmlns:a16="http://schemas.microsoft.com/office/drawing/2014/main" id="{0B24377E-2616-5B04-36E0-F8B36953A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99" r="1204" b="558"/>
          <a:stretch>
            <a:fillRect/>
          </a:stretch>
        </p:blipFill>
        <p:spPr>
          <a:xfrm>
            <a:off x="475166" y="1976285"/>
            <a:ext cx="4519621" cy="41787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CC59BA-6439-DA58-DD94-DDD66926D9B5}"/>
              </a:ext>
            </a:extLst>
          </p:cNvPr>
          <p:cNvSpPr txBox="1"/>
          <p:nvPr/>
        </p:nvSpPr>
        <p:spPr>
          <a:xfrm>
            <a:off x="1148785" y="6135328"/>
            <a:ext cx="3138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Creation of the table in JS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A1737-2908-7B92-CED2-94609B5F6374}"/>
              </a:ext>
            </a:extLst>
          </p:cNvPr>
          <p:cNvSpPr txBox="1"/>
          <p:nvPr/>
        </p:nvSpPr>
        <p:spPr>
          <a:xfrm>
            <a:off x="0" y="0"/>
            <a:ext cx="2998838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SECOND REPORT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A01B2A-663B-8CA2-F586-7BE639AD49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35"/>
          <a:stretch>
            <a:fillRect/>
          </a:stretch>
        </p:blipFill>
        <p:spPr>
          <a:xfrm>
            <a:off x="465830" y="510215"/>
            <a:ext cx="4361418" cy="7827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B31A54-23AF-FC32-17D7-8D6715CB7860}"/>
              </a:ext>
            </a:extLst>
          </p:cNvPr>
          <p:cNvSpPr txBox="1"/>
          <p:nvPr/>
        </p:nvSpPr>
        <p:spPr>
          <a:xfrm>
            <a:off x="957056" y="1325672"/>
            <a:ext cx="353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Fetching the SQL view to display its contents in the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77359B-2891-DA42-E053-4510EBCF2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2207" y="1283600"/>
            <a:ext cx="6427973" cy="35965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35E38B-CEFD-D686-CFA7-0F9211A6A66D}"/>
              </a:ext>
            </a:extLst>
          </p:cNvPr>
          <p:cNvSpPr txBox="1"/>
          <p:nvPr/>
        </p:nvSpPr>
        <p:spPr>
          <a:xfrm>
            <a:off x="5937096" y="4978356"/>
            <a:ext cx="5655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What the tabular report looks like in the web application (first ten rows)</a:t>
            </a:r>
          </a:p>
        </p:txBody>
      </p:sp>
    </p:spTree>
    <p:extLst>
      <p:ext uri="{BB962C8B-B14F-4D97-AF65-F5344CB8AC3E}">
        <p14:creationId xmlns:p14="http://schemas.microsoft.com/office/powerpoint/2010/main" val="246451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DE154-AE28-DD86-A092-9908F79C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0">
            <a:extLst>
              <a:ext uri="{FF2B5EF4-FFF2-40B4-BE49-F238E27FC236}">
                <a16:creationId xmlns:a16="http://schemas.microsoft.com/office/drawing/2014/main" id="{9B94CC94-BD1D-1D63-F0B1-9AABB32E8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4" b="456"/>
          <a:stretch>
            <a:fillRect/>
          </a:stretch>
        </p:blipFill>
        <p:spPr>
          <a:xfrm>
            <a:off x="475166" y="2025445"/>
            <a:ext cx="4574700" cy="41492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CDA3FA-48B2-9695-3C3F-9B70154587D2}"/>
              </a:ext>
            </a:extLst>
          </p:cNvPr>
          <p:cNvSpPr txBox="1"/>
          <p:nvPr/>
        </p:nvSpPr>
        <p:spPr>
          <a:xfrm>
            <a:off x="1148785" y="6125496"/>
            <a:ext cx="3138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Creation of the table in JS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E2278-01DA-0C93-F665-FC03C701FBF0}"/>
              </a:ext>
            </a:extLst>
          </p:cNvPr>
          <p:cNvSpPr txBox="1"/>
          <p:nvPr/>
        </p:nvSpPr>
        <p:spPr>
          <a:xfrm>
            <a:off x="0" y="0"/>
            <a:ext cx="2998838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THIRD REPORT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5651E-80DE-3D47-1265-BF4B7BDC4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684" y="449055"/>
            <a:ext cx="4700604" cy="8881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4C94E1-3769-6E39-D5C2-B43F52AC7DCB}"/>
              </a:ext>
            </a:extLst>
          </p:cNvPr>
          <p:cNvSpPr txBox="1"/>
          <p:nvPr/>
        </p:nvSpPr>
        <p:spPr>
          <a:xfrm>
            <a:off x="1055381" y="1384663"/>
            <a:ext cx="33789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Fetching the SQL view to display its contents in the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28DFA1-86BB-0452-6A02-6DA780EBF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2792" y="778883"/>
            <a:ext cx="6475929" cy="41492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444111-B671-2749-6C3C-74B1F1A5AAE1}"/>
              </a:ext>
            </a:extLst>
          </p:cNvPr>
          <p:cNvSpPr txBox="1"/>
          <p:nvPr/>
        </p:nvSpPr>
        <p:spPr>
          <a:xfrm>
            <a:off x="5937096" y="4978356"/>
            <a:ext cx="5655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What the tabular version of the report looks like in the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14408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88885-3DD6-658D-8D56-7132395E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7C4909-858E-D990-A379-891D2A55D92E}"/>
              </a:ext>
            </a:extLst>
          </p:cNvPr>
          <p:cNvSpPr txBox="1"/>
          <p:nvPr/>
        </p:nvSpPr>
        <p:spPr>
          <a:xfrm>
            <a:off x="0" y="0"/>
            <a:ext cx="2998838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THIRD REPORT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06E0C2-AE93-354C-B708-3F3918956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7754" y="3526025"/>
            <a:ext cx="6234873" cy="31239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D694A1-111D-34AC-5050-BF0A0A970D01}"/>
              </a:ext>
            </a:extLst>
          </p:cNvPr>
          <p:cNvSpPr txBox="1"/>
          <p:nvPr/>
        </p:nvSpPr>
        <p:spPr>
          <a:xfrm>
            <a:off x="6096000" y="2844225"/>
            <a:ext cx="5655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What the bar chart of the report looks like in the web application – makes use </a:t>
            </a:r>
            <a:r>
              <a:rPr lang="en-GB" sz="1600" i="1"/>
              <a:t>of chart.js and CDN</a:t>
            </a:r>
            <a:endParaRPr lang="en-GB" sz="16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AE2562-1D8D-5257-F3DB-2C429464E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10" y="446804"/>
            <a:ext cx="5334655" cy="46219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A3A2B9-F71F-BEC3-D44D-76C1D47FE8CD}"/>
              </a:ext>
            </a:extLst>
          </p:cNvPr>
          <p:cNvSpPr txBox="1"/>
          <p:nvPr/>
        </p:nvSpPr>
        <p:spPr>
          <a:xfrm>
            <a:off x="671549" y="5086680"/>
            <a:ext cx="4171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Creation of the bar chart in JS</a:t>
            </a:r>
          </a:p>
        </p:txBody>
      </p:sp>
    </p:spTree>
    <p:extLst>
      <p:ext uri="{BB962C8B-B14F-4D97-AF65-F5344CB8AC3E}">
        <p14:creationId xmlns:p14="http://schemas.microsoft.com/office/powerpoint/2010/main" val="3779812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3A07F-96C1-2306-8908-3F7721A0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5485D9-BB20-C59A-1C57-6527F469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1E7856-3A75-EC61-98AE-5C75CA10B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05D213-CAD0-4225-BB21-57C26AB0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811" y="403509"/>
            <a:ext cx="4087368" cy="6050982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8ABF3-3F86-55A5-CC4A-9E338FB36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533" y="264996"/>
            <a:ext cx="3765200" cy="975090"/>
          </a:xfrm>
        </p:spPr>
        <p:txBody>
          <a:bodyPr>
            <a:no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View Reference Index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7012B-D2A5-36C3-1A4C-03C043057471}"/>
              </a:ext>
            </a:extLst>
          </p:cNvPr>
          <p:cNvSpPr txBox="1"/>
          <p:nvPr/>
        </p:nvSpPr>
        <p:spPr>
          <a:xfrm>
            <a:off x="424449" y="1702813"/>
            <a:ext cx="40873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SQL queries using views for data aggregation and access protection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Making use of different SQL constraints such as ROUND() and COUNT()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First query to select all members with medical conditions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Second query to select all members over forty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Third query to count how many coach specialisations are registered at each centre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331BF7-0453-F6E8-546D-F7B97A5858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219" r="48587"/>
          <a:stretch>
            <a:fillRect/>
          </a:stretch>
        </p:blipFill>
        <p:spPr>
          <a:xfrm>
            <a:off x="6506238" y="220567"/>
            <a:ext cx="5422599" cy="18916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4B32284-AE60-5D9E-3F99-729B79A8E77D}"/>
              </a:ext>
            </a:extLst>
          </p:cNvPr>
          <p:cNvSpPr txBox="1"/>
          <p:nvPr/>
        </p:nvSpPr>
        <p:spPr>
          <a:xfrm>
            <a:off x="4660777" y="972993"/>
            <a:ext cx="1757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First query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3967E1-B384-324C-2CA0-126942AFB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357" y="2284540"/>
            <a:ext cx="5698649" cy="17061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18108A-ABEB-34C8-B2E9-4BD12EC93440}"/>
              </a:ext>
            </a:extLst>
          </p:cNvPr>
          <p:cNvSpPr txBox="1"/>
          <p:nvPr/>
        </p:nvSpPr>
        <p:spPr>
          <a:xfrm>
            <a:off x="4873433" y="2810710"/>
            <a:ext cx="121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Second query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136E98-756C-67D1-3578-625849076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238" y="4163018"/>
            <a:ext cx="5381068" cy="25484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58AF8E5-B9B5-5E9E-62ED-4A261C9C299E}"/>
              </a:ext>
            </a:extLst>
          </p:cNvPr>
          <p:cNvSpPr txBox="1"/>
          <p:nvPr/>
        </p:nvSpPr>
        <p:spPr>
          <a:xfrm>
            <a:off x="4701571" y="5151718"/>
            <a:ext cx="1757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Third query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EFE6C-0D19-62C8-12EB-3DF953977251}"/>
              </a:ext>
            </a:extLst>
          </p:cNvPr>
          <p:cNvSpPr txBox="1"/>
          <p:nvPr/>
        </p:nvSpPr>
        <p:spPr>
          <a:xfrm>
            <a:off x="394329" y="1056482"/>
            <a:ext cx="4087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…\Data-Driven-2026\40479968\40479968_Reports</a:t>
            </a:r>
          </a:p>
        </p:txBody>
      </p:sp>
    </p:spTree>
    <p:extLst>
      <p:ext uri="{BB962C8B-B14F-4D97-AF65-F5344CB8AC3E}">
        <p14:creationId xmlns:p14="http://schemas.microsoft.com/office/powerpoint/2010/main" val="4244812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2F21-4B28-9E80-9763-2E2BAE3A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9C265C5-07BA-40D5-4434-55E5BBEACE10}"/>
              </a:ext>
            </a:extLst>
          </p:cNvPr>
          <p:cNvSpPr txBox="1"/>
          <p:nvPr/>
        </p:nvSpPr>
        <p:spPr>
          <a:xfrm>
            <a:off x="1179864" y="639235"/>
            <a:ext cx="3393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Turning the query below into a view called “</a:t>
            </a:r>
            <a:r>
              <a:rPr lang="en-GB" sz="1600" i="1" dirty="0" err="1"/>
              <a:t>vwMedicalCondition</a:t>
            </a:r>
            <a:r>
              <a:rPr lang="en-GB" sz="1600" i="1" dirty="0"/>
              <a:t>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3006A-EF37-A6BC-3EB9-12987624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19" r="48587"/>
          <a:stretch>
            <a:fillRect/>
          </a:stretch>
        </p:blipFill>
        <p:spPr>
          <a:xfrm>
            <a:off x="3351531" y="1740310"/>
            <a:ext cx="7897289" cy="27549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F944F1-B1C3-4CB9-D5C8-45631EFC00F0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876782" y="1470232"/>
            <a:ext cx="474749" cy="270078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C265C5-07BA-40D5-4434-55E5BBEACE10}"/>
              </a:ext>
            </a:extLst>
          </p:cNvPr>
          <p:cNvSpPr txBox="1"/>
          <p:nvPr/>
        </p:nvSpPr>
        <p:spPr>
          <a:xfrm>
            <a:off x="774079" y="1864561"/>
            <a:ext cx="2340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Selecting the relevant fields to be displayed later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F944F1-B1C3-4CB9-D5C8-45631EFC00F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114156" y="2280060"/>
            <a:ext cx="474612" cy="128843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28A1A82-49F0-AF7A-8BAC-F76D0295C766}"/>
              </a:ext>
            </a:extLst>
          </p:cNvPr>
          <p:cNvSpPr txBox="1"/>
          <p:nvPr/>
        </p:nvSpPr>
        <p:spPr>
          <a:xfrm>
            <a:off x="7457760" y="639235"/>
            <a:ext cx="3393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Concatenating the two name fields into one “</a:t>
            </a:r>
            <a:r>
              <a:rPr lang="en-GB" sz="1600" i="1" dirty="0" err="1"/>
              <a:t>fullName</a:t>
            </a:r>
            <a:r>
              <a:rPr lang="en-GB" sz="1600" i="1" dirty="0"/>
              <a:t>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3C8F80-3BD2-096F-9B4B-7108020281C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9016174" y="1224010"/>
            <a:ext cx="138504" cy="105605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F56873-49A8-BB4A-A8CB-9735E42D893C}"/>
              </a:ext>
            </a:extLst>
          </p:cNvPr>
          <p:cNvSpPr txBox="1"/>
          <p:nvPr/>
        </p:nvSpPr>
        <p:spPr>
          <a:xfrm>
            <a:off x="8064569" y="2864835"/>
            <a:ext cx="3393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The fields come from the most relevant 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28CAAC-0CD2-EEC5-31AA-80BF95DE9A95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607271" y="3157223"/>
            <a:ext cx="1457298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19C79F0-1406-0851-8ABF-84F77A83036A}"/>
              </a:ext>
            </a:extLst>
          </p:cNvPr>
          <p:cNvSpPr txBox="1"/>
          <p:nvPr/>
        </p:nvSpPr>
        <p:spPr>
          <a:xfrm>
            <a:off x="944590" y="2901556"/>
            <a:ext cx="2288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Joining the member table to the measurement table using their shared field – “</a:t>
            </a:r>
            <a:r>
              <a:rPr lang="en-GB" sz="1600" i="1" dirty="0" err="1"/>
              <a:t>memberId</a:t>
            </a:r>
            <a:r>
              <a:rPr lang="en-GB" sz="1600" i="1" dirty="0"/>
              <a:t>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4689F3-3419-AC1D-3253-DB7704D01538}"/>
              </a:ext>
            </a:extLst>
          </p:cNvPr>
          <p:cNvCxnSpPr>
            <a:cxnSpLocks/>
          </p:cNvCxnSpPr>
          <p:nvPr/>
        </p:nvCxnSpPr>
        <p:spPr>
          <a:xfrm flipV="1">
            <a:off x="3114156" y="3429000"/>
            <a:ext cx="222429" cy="2061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085C6FD-2002-41A9-46AB-55E1F2A80F66}"/>
              </a:ext>
            </a:extLst>
          </p:cNvPr>
          <p:cNvSpPr txBox="1"/>
          <p:nvPr/>
        </p:nvSpPr>
        <p:spPr>
          <a:xfrm>
            <a:off x="8064569" y="4495284"/>
            <a:ext cx="3393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The condition of the query – selecting non-null values of </a:t>
            </a:r>
            <a:r>
              <a:rPr lang="en-GB" sz="1600" i="1" dirty="0" err="1"/>
              <a:t>memberCondition</a:t>
            </a:r>
            <a:r>
              <a:rPr lang="en-GB" sz="1600" i="1" dirty="0"/>
              <a:t> only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B1A045-D4E7-30A9-9E28-89421651992A}"/>
              </a:ext>
            </a:extLst>
          </p:cNvPr>
          <p:cNvCxnSpPr>
            <a:cxnSpLocks/>
          </p:cNvCxnSpPr>
          <p:nvPr/>
        </p:nvCxnSpPr>
        <p:spPr>
          <a:xfrm flipH="1" flipV="1">
            <a:off x="7836310" y="4034385"/>
            <a:ext cx="707922" cy="460899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9A28408-3476-43CF-7BA5-4F1931DD3AA9}"/>
              </a:ext>
            </a:extLst>
          </p:cNvPr>
          <p:cNvSpPr txBox="1"/>
          <p:nvPr/>
        </p:nvSpPr>
        <p:spPr>
          <a:xfrm>
            <a:off x="1779638" y="4752439"/>
            <a:ext cx="3393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The results of the query will be displayed by surnames in alphabetical order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C714B0-9B0C-07BB-D9E6-76E80F6E4D61}"/>
              </a:ext>
            </a:extLst>
          </p:cNvPr>
          <p:cNvCxnSpPr>
            <a:cxnSpLocks/>
          </p:cNvCxnSpPr>
          <p:nvPr/>
        </p:nvCxnSpPr>
        <p:spPr>
          <a:xfrm flipV="1">
            <a:off x="4011132" y="4449098"/>
            <a:ext cx="472378" cy="25218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706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FC9F9-2D42-6A1B-0945-EDEA93B0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50AB3EB-5F79-154A-6CA3-81B165AE829D}"/>
              </a:ext>
            </a:extLst>
          </p:cNvPr>
          <p:cNvSpPr txBox="1"/>
          <p:nvPr/>
        </p:nvSpPr>
        <p:spPr>
          <a:xfrm>
            <a:off x="3932795" y="639235"/>
            <a:ext cx="3393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Turning the query below into a view called “</a:t>
            </a:r>
            <a:r>
              <a:rPr lang="en-GB" sz="1600" i="1" dirty="0" err="1"/>
              <a:t>vwOlderMembers</a:t>
            </a:r>
            <a:r>
              <a:rPr lang="en-GB" sz="1600" i="1" dirty="0"/>
              <a:t>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75CCD9-FF81-BC3A-BFA3-234D7A5E4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6" r="634" b="1677"/>
          <a:stretch>
            <a:fillRect/>
          </a:stretch>
        </p:blipFill>
        <p:spPr>
          <a:xfrm>
            <a:off x="2536725" y="1740310"/>
            <a:ext cx="9153833" cy="27087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72D7A3-0304-0D02-C5CC-3061E46BEEF3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5448300" y="1224010"/>
            <a:ext cx="181413" cy="48323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5D6398B-C02D-4F6E-0B06-EA6135E867F9}"/>
              </a:ext>
            </a:extLst>
          </p:cNvPr>
          <p:cNvSpPr txBox="1"/>
          <p:nvPr/>
        </p:nvSpPr>
        <p:spPr>
          <a:xfrm>
            <a:off x="553822" y="777787"/>
            <a:ext cx="2028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Selecting the relevant fields to be displayed later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51B1F3-10CB-00AD-28F8-82D49EB3B513}"/>
              </a:ext>
            </a:extLst>
          </p:cNvPr>
          <p:cNvCxnSpPr>
            <a:cxnSpLocks/>
          </p:cNvCxnSpPr>
          <p:nvPr/>
        </p:nvCxnSpPr>
        <p:spPr>
          <a:xfrm>
            <a:off x="2081791" y="1608784"/>
            <a:ext cx="454934" cy="682378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647A2D-C9F1-D5F5-26D2-DBED4D62E611}"/>
              </a:ext>
            </a:extLst>
          </p:cNvPr>
          <p:cNvSpPr txBox="1"/>
          <p:nvPr/>
        </p:nvSpPr>
        <p:spPr>
          <a:xfrm>
            <a:off x="8244342" y="481918"/>
            <a:ext cx="3393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Concatenating the two name fields into one “</a:t>
            </a:r>
            <a:r>
              <a:rPr lang="en-GB" sz="1600" i="1" dirty="0" err="1"/>
              <a:t>fullName</a:t>
            </a:r>
            <a:r>
              <a:rPr lang="en-GB" sz="1600" i="1" dirty="0"/>
              <a:t>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19878A-5DB1-8E68-F47E-053D6A6D040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9802756" y="1066693"/>
            <a:ext cx="138504" cy="105605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708A169-D303-C461-DE9D-2D95959E8527}"/>
              </a:ext>
            </a:extLst>
          </p:cNvPr>
          <p:cNvSpPr txBox="1"/>
          <p:nvPr/>
        </p:nvSpPr>
        <p:spPr>
          <a:xfrm>
            <a:off x="7816321" y="3338296"/>
            <a:ext cx="3393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All fields come from the member 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A8A670-BDE0-80AC-436B-D3F7DE9CF45D}"/>
              </a:ext>
            </a:extLst>
          </p:cNvPr>
          <p:cNvCxnSpPr>
            <a:cxnSpLocks/>
          </p:cNvCxnSpPr>
          <p:nvPr/>
        </p:nvCxnSpPr>
        <p:spPr>
          <a:xfrm flipH="1">
            <a:off x="5448300" y="3552096"/>
            <a:ext cx="2705100" cy="1025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F43ADD6-9A5E-DF7E-DE2B-465E6FEA07ED}"/>
              </a:ext>
            </a:extLst>
          </p:cNvPr>
          <p:cNvSpPr txBox="1"/>
          <p:nvPr/>
        </p:nvSpPr>
        <p:spPr>
          <a:xfrm>
            <a:off x="7012516" y="4544445"/>
            <a:ext cx="3393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The condition of the query (using HAVING as the value was created within the query) – selecting members whose age is over or equal to 40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22618E-F77D-117C-DBA2-713A7D28163A}"/>
              </a:ext>
            </a:extLst>
          </p:cNvPr>
          <p:cNvCxnSpPr>
            <a:cxnSpLocks/>
          </p:cNvCxnSpPr>
          <p:nvPr/>
        </p:nvCxnSpPr>
        <p:spPr>
          <a:xfrm flipH="1" flipV="1">
            <a:off x="5742039" y="3923071"/>
            <a:ext cx="1593881" cy="62137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EC57B0E-FDBB-B498-43DE-ACCA4C00D6F6}"/>
              </a:ext>
            </a:extLst>
          </p:cNvPr>
          <p:cNvSpPr txBox="1"/>
          <p:nvPr/>
        </p:nvSpPr>
        <p:spPr>
          <a:xfrm>
            <a:off x="3704257" y="4790666"/>
            <a:ext cx="2950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The results of the query will be displayed by surnames in alphabetical order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12A4412-B738-70C2-F3E3-D6FB60255DFC}"/>
              </a:ext>
            </a:extLst>
          </p:cNvPr>
          <p:cNvCxnSpPr>
            <a:cxnSpLocks/>
          </p:cNvCxnSpPr>
          <p:nvPr/>
        </p:nvCxnSpPr>
        <p:spPr>
          <a:xfrm flipH="1" flipV="1">
            <a:off x="4483510" y="4449098"/>
            <a:ext cx="158814" cy="341568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2BA7F62-D27F-7F00-857A-7CAC16A26699}"/>
              </a:ext>
            </a:extLst>
          </p:cNvPr>
          <p:cNvSpPr txBox="1"/>
          <p:nvPr/>
        </p:nvSpPr>
        <p:spPr>
          <a:xfrm>
            <a:off x="363429" y="2107189"/>
            <a:ext cx="20281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DATEDIFF() is used to compare the time between the current date and the member’s </a:t>
            </a:r>
            <a:r>
              <a:rPr lang="en-GB" sz="1600" i="1" dirty="0" err="1"/>
              <a:t>DoB</a:t>
            </a:r>
            <a:endParaRPr lang="en-GB" sz="1600" i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66BAE9A-4A73-922A-3D5B-B3B5E65CB700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391542" y="2768909"/>
            <a:ext cx="1447033" cy="13055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82C2AEA-6FF3-97DB-8FDA-B98A840253F6}"/>
              </a:ext>
            </a:extLst>
          </p:cNvPr>
          <p:cNvSpPr txBox="1"/>
          <p:nvPr/>
        </p:nvSpPr>
        <p:spPr>
          <a:xfrm>
            <a:off x="553822" y="4341275"/>
            <a:ext cx="21252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ROUND() is used to round up the number calculated by the DATEDIFF after being converted from days to years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63EB66-48B0-C26F-A22A-89DE82019EC0}"/>
              </a:ext>
            </a:extLst>
          </p:cNvPr>
          <p:cNvCxnSpPr>
            <a:cxnSpLocks/>
          </p:cNvCxnSpPr>
          <p:nvPr/>
        </p:nvCxnSpPr>
        <p:spPr>
          <a:xfrm flipV="1">
            <a:off x="2120658" y="2997845"/>
            <a:ext cx="979203" cy="134343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359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1AEC-80FD-55F4-088C-4B9CC4D86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B998BDA-A6F4-E5F4-FCDB-48332E3AB1A5}"/>
              </a:ext>
            </a:extLst>
          </p:cNvPr>
          <p:cNvSpPr txBox="1"/>
          <p:nvPr/>
        </p:nvSpPr>
        <p:spPr>
          <a:xfrm>
            <a:off x="8244342" y="420629"/>
            <a:ext cx="3393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Turning the query below into a view called “</a:t>
            </a:r>
            <a:r>
              <a:rPr lang="en-GB" sz="1600" i="1" dirty="0" err="1"/>
              <a:t>vwSpecialisationNumber</a:t>
            </a:r>
            <a:r>
              <a:rPr lang="en-GB" sz="1600" i="1" dirty="0"/>
              <a:t>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5ED466-0146-976A-3D42-206A12583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" r="1390" b="1982"/>
          <a:stretch>
            <a:fillRect/>
          </a:stretch>
        </p:blipFill>
        <p:spPr>
          <a:xfrm>
            <a:off x="3288031" y="1408261"/>
            <a:ext cx="8077200" cy="378729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FA5093-C0E0-4774-0F86-4F2DB76F9462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8244342" y="1251626"/>
            <a:ext cx="1696918" cy="357158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C27C3B7-47DC-1FE2-0999-35D89B8D5EB3}"/>
              </a:ext>
            </a:extLst>
          </p:cNvPr>
          <p:cNvSpPr txBox="1"/>
          <p:nvPr/>
        </p:nvSpPr>
        <p:spPr>
          <a:xfrm>
            <a:off x="1165833" y="698137"/>
            <a:ext cx="2028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Selecting the relevant fields to be displayed later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BE7C88-66C7-D43E-B22E-F9B2082486EC}"/>
              </a:ext>
            </a:extLst>
          </p:cNvPr>
          <p:cNvCxnSpPr>
            <a:cxnSpLocks/>
          </p:cNvCxnSpPr>
          <p:nvPr/>
        </p:nvCxnSpPr>
        <p:spPr>
          <a:xfrm>
            <a:off x="2528609" y="1521946"/>
            <a:ext cx="759422" cy="450451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6D9BFBC-98AB-8F05-3674-B65F949EF4A6}"/>
              </a:ext>
            </a:extLst>
          </p:cNvPr>
          <p:cNvSpPr txBox="1"/>
          <p:nvPr/>
        </p:nvSpPr>
        <p:spPr>
          <a:xfrm>
            <a:off x="7653024" y="2768661"/>
            <a:ext cx="3985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The fields come from </a:t>
            </a:r>
            <a:r>
              <a:rPr lang="en-GB" sz="1600" i="1" dirty="0" err="1"/>
              <a:t>tblCoachCentre</a:t>
            </a:r>
            <a:r>
              <a:rPr lang="en-GB" sz="1600" i="1" dirty="0"/>
              <a:t> to link the two relevant tables together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6A3C76-B1AE-69EF-D831-D9CCFF583CA8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6651227" y="2858370"/>
            <a:ext cx="1001797" cy="202679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4652E7-FCDE-8FDC-516B-F753B56503AE}"/>
              </a:ext>
            </a:extLst>
          </p:cNvPr>
          <p:cNvSpPr txBox="1"/>
          <p:nvPr/>
        </p:nvSpPr>
        <p:spPr>
          <a:xfrm>
            <a:off x="7549678" y="3665823"/>
            <a:ext cx="3985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Two INNER JOINS needed to link the coach and centre to their respective FOREIGN KEYS in </a:t>
            </a:r>
            <a:r>
              <a:rPr lang="en-GB" sz="1600" i="1" dirty="0" err="1"/>
              <a:t>tblCoachCentre</a:t>
            </a:r>
            <a:endParaRPr lang="en-GB" sz="1600" i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5EA555-3A24-ABDA-21DF-C27A984C3D43}"/>
              </a:ext>
            </a:extLst>
          </p:cNvPr>
          <p:cNvCxnSpPr>
            <a:cxnSpLocks/>
          </p:cNvCxnSpPr>
          <p:nvPr/>
        </p:nvCxnSpPr>
        <p:spPr>
          <a:xfrm flipH="1" flipV="1">
            <a:off x="6650461" y="3175578"/>
            <a:ext cx="1002563" cy="60106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1F1031F-A641-B521-6921-16C781E33CAB}"/>
              </a:ext>
            </a:extLst>
          </p:cNvPr>
          <p:cNvSpPr txBox="1"/>
          <p:nvPr/>
        </p:nvSpPr>
        <p:spPr>
          <a:xfrm>
            <a:off x="7326631" y="4870471"/>
            <a:ext cx="2950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The results of the query will be displayed by centre name in alphabetical order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44F8178-4678-0FE3-CDED-AAF3EF635F01}"/>
              </a:ext>
            </a:extLst>
          </p:cNvPr>
          <p:cNvCxnSpPr>
            <a:cxnSpLocks/>
          </p:cNvCxnSpPr>
          <p:nvPr/>
        </p:nvCxnSpPr>
        <p:spPr>
          <a:xfrm flipH="1" flipV="1">
            <a:off x="6398035" y="4951328"/>
            <a:ext cx="1021940" cy="244225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3144FE7-F12B-B20A-8882-6E064A60D29B}"/>
              </a:ext>
            </a:extLst>
          </p:cNvPr>
          <p:cNvSpPr txBox="1"/>
          <p:nvPr/>
        </p:nvSpPr>
        <p:spPr>
          <a:xfrm>
            <a:off x="553822" y="2014857"/>
            <a:ext cx="20281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COUNT() is used to add up the number of specialisations</a:t>
            </a:r>
          </a:p>
          <a:p>
            <a:pPr algn="ctr"/>
            <a:endParaRPr lang="en-GB" sz="1600" i="1" dirty="0"/>
          </a:p>
          <a:p>
            <a:pPr algn="ctr"/>
            <a:r>
              <a:rPr lang="en-GB" sz="1600" i="1" dirty="0"/>
              <a:t>DISTINCT is used to count only unique specialisations that are not already counted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242F7A-FAC9-3CAF-414B-C45AC9B0F355}"/>
              </a:ext>
            </a:extLst>
          </p:cNvPr>
          <p:cNvCxnSpPr>
            <a:cxnSpLocks/>
          </p:cNvCxnSpPr>
          <p:nvPr/>
        </p:nvCxnSpPr>
        <p:spPr>
          <a:xfrm>
            <a:off x="2325713" y="2437057"/>
            <a:ext cx="1474762" cy="75065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3BE6C0B-F116-56F2-58FC-B1DE143E2D5E}"/>
              </a:ext>
            </a:extLst>
          </p:cNvPr>
          <p:cNvCxnSpPr>
            <a:cxnSpLocks/>
          </p:cNvCxnSpPr>
          <p:nvPr/>
        </p:nvCxnSpPr>
        <p:spPr>
          <a:xfrm flipV="1">
            <a:off x="2445382" y="2642397"/>
            <a:ext cx="2196942" cy="143268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58AF9E-482B-674F-AB13-2952A2DBEF10}"/>
              </a:ext>
            </a:extLst>
          </p:cNvPr>
          <p:cNvCxnSpPr>
            <a:cxnSpLocks/>
          </p:cNvCxnSpPr>
          <p:nvPr/>
        </p:nvCxnSpPr>
        <p:spPr>
          <a:xfrm flipH="1" flipV="1">
            <a:off x="6843582" y="3796952"/>
            <a:ext cx="809442" cy="94215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30B888B-330B-FC23-8DAD-D2590C497F5C}"/>
              </a:ext>
            </a:extLst>
          </p:cNvPr>
          <p:cNvSpPr txBox="1"/>
          <p:nvPr/>
        </p:nvSpPr>
        <p:spPr>
          <a:xfrm>
            <a:off x="639147" y="4922365"/>
            <a:ext cx="2187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The results will be grouped by </a:t>
            </a:r>
            <a:r>
              <a:rPr lang="en-GB" sz="1600" i="1" dirty="0" err="1"/>
              <a:t>centreID</a:t>
            </a:r>
            <a:r>
              <a:rPr lang="en-GB" sz="1600" i="1" dirty="0"/>
              <a:t> then city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682295-971F-A0C0-55CE-D24C22DD4D2E}"/>
              </a:ext>
            </a:extLst>
          </p:cNvPr>
          <p:cNvCxnSpPr>
            <a:cxnSpLocks/>
          </p:cNvCxnSpPr>
          <p:nvPr/>
        </p:nvCxnSpPr>
        <p:spPr>
          <a:xfrm flipV="1">
            <a:off x="2318826" y="4409314"/>
            <a:ext cx="961293" cy="513051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354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84A37-5D45-68FB-1516-68D13E56E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5686A8-1A56-A272-12BC-FA252631F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9D00AF-AE96-4AFE-5220-53BBCAF01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CC6E8D-D4B8-FF07-2AB1-D90A91F42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811" y="403509"/>
            <a:ext cx="4087368" cy="6050982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A7BDE-B82E-C8C5-B873-22E594A3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95" y="760038"/>
            <a:ext cx="3765200" cy="768612"/>
          </a:xfrm>
        </p:spPr>
        <p:txBody>
          <a:bodyPr>
            <a:no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Parameterised Reporting Reference Index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694F1-4A2A-0EEC-6B08-C634011C053F}"/>
              </a:ext>
            </a:extLst>
          </p:cNvPr>
          <p:cNvSpPr txBox="1"/>
          <p:nvPr/>
        </p:nvSpPr>
        <p:spPr>
          <a:xfrm>
            <a:off x="432891" y="5101508"/>
            <a:ext cx="376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Tabular reports make use of an input box and dropdown box to filter through the table columns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0B224DA-8F57-2EF2-16A7-AD4B84D4A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0" t="14060" r="9471" b="66777"/>
          <a:stretch>
            <a:fillRect/>
          </a:stretch>
        </p:blipFill>
        <p:spPr>
          <a:xfrm>
            <a:off x="5641799" y="2615381"/>
            <a:ext cx="5459597" cy="10305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EE87D-F054-8069-BAD6-6B6C258D8A5A}"/>
              </a:ext>
            </a:extLst>
          </p:cNvPr>
          <p:cNvSpPr txBox="1"/>
          <p:nvPr/>
        </p:nvSpPr>
        <p:spPr>
          <a:xfrm>
            <a:off x="5246671" y="1750358"/>
            <a:ext cx="641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Input textbox and column selection dropdown in 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F5F8B6-A5A4-53C9-04E9-B3CE802CBCD0}"/>
              </a:ext>
            </a:extLst>
          </p:cNvPr>
          <p:cNvSpPr txBox="1"/>
          <p:nvPr/>
        </p:nvSpPr>
        <p:spPr>
          <a:xfrm>
            <a:off x="5956767" y="3645977"/>
            <a:ext cx="4932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Error handling to provide feedback to the user if there has been a problem loading the webpage</a:t>
            </a:r>
          </a:p>
        </p:txBody>
      </p:sp>
      <p:pic>
        <p:nvPicPr>
          <p:cNvPr id="18" name="Content Placeholder 10">
            <a:extLst>
              <a:ext uri="{FF2B5EF4-FFF2-40B4-BE49-F238E27FC236}">
                <a16:creationId xmlns:a16="http://schemas.microsoft.com/office/drawing/2014/main" id="{BA611E0B-0F49-8275-9F42-1CAF203496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77" b="37987"/>
          <a:stretch>
            <a:fillRect/>
          </a:stretch>
        </p:blipFill>
        <p:spPr>
          <a:xfrm>
            <a:off x="5484482" y="598240"/>
            <a:ext cx="5812488" cy="11521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26CD18-3DB5-E28B-50C3-F543C75AE794}"/>
              </a:ext>
            </a:extLst>
          </p:cNvPr>
          <p:cNvSpPr txBox="1"/>
          <p:nvPr/>
        </p:nvSpPr>
        <p:spPr>
          <a:xfrm>
            <a:off x="432891" y="1809533"/>
            <a:ext cx="376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…\Data-Driven-2026\Web App\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DataHTML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\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EmmaData</a:t>
            </a:r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…\Data-Driven-2026\Web App\JS\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ReportJS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\</a:t>
            </a:r>
            <a:r>
              <a:rPr lang="en-GB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emmaReports</a:t>
            </a:r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…\Data-Driven-2026\40479968\40479968_Reports</a:t>
            </a:r>
          </a:p>
        </p:txBody>
      </p:sp>
      <p:pic>
        <p:nvPicPr>
          <p:cNvPr id="17" name="Content Placeholder 10">
            <a:extLst>
              <a:ext uri="{FF2B5EF4-FFF2-40B4-BE49-F238E27FC236}">
                <a16:creationId xmlns:a16="http://schemas.microsoft.com/office/drawing/2014/main" id="{26F05DBA-0839-7490-C392-42BCD0B02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2" t="47909" r="44921" b="39444"/>
          <a:stretch>
            <a:fillRect/>
          </a:stretch>
        </p:blipFill>
        <p:spPr>
          <a:xfrm>
            <a:off x="6765729" y="4947542"/>
            <a:ext cx="3314834" cy="7665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BBA1301-921E-87FD-0553-42D5588A631C}"/>
              </a:ext>
            </a:extLst>
          </p:cNvPr>
          <p:cNvSpPr txBox="1"/>
          <p:nvPr/>
        </p:nvSpPr>
        <p:spPr>
          <a:xfrm>
            <a:off x="5956766" y="5714102"/>
            <a:ext cx="493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Removing the current display of rows</a:t>
            </a:r>
          </a:p>
        </p:txBody>
      </p:sp>
    </p:spTree>
    <p:extLst>
      <p:ext uri="{BB962C8B-B14F-4D97-AF65-F5344CB8AC3E}">
        <p14:creationId xmlns:p14="http://schemas.microsoft.com/office/powerpoint/2010/main" val="3646461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0EFD0-9808-D74B-9E6F-DF5D6B070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C32A1B-FE1B-16FF-0C55-4D59E7C6A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D37E50-F1A1-9344-CBA3-021F4C295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6E3200-DE0A-B82A-915D-8C43426E1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811" y="403509"/>
            <a:ext cx="4087368" cy="6050982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DBD5A-98CA-5AD2-EBA9-390554813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68576"/>
            <a:ext cx="3765200" cy="768612"/>
          </a:xfrm>
        </p:spPr>
        <p:txBody>
          <a:bodyPr>
            <a:no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Parameterised reports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B884E3-D98C-405C-18D3-2BEC8FE0A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7127" y="4961433"/>
            <a:ext cx="3525905" cy="1488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6B8368-937A-B33D-05A5-909409937386}"/>
              </a:ext>
            </a:extLst>
          </p:cNvPr>
          <p:cNvSpPr txBox="1"/>
          <p:nvPr/>
        </p:nvSpPr>
        <p:spPr>
          <a:xfrm>
            <a:off x="573409" y="1337188"/>
            <a:ext cx="3765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First select the column of the table you want to filter by 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Then enter your desired search request into the search bar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Table will automatically update and display the correct records if there is a match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Allows the user to dynamically interact with the reports to further provide more meaningful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1B03D-18F8-89D5-A82B-D1CB744A6BC7}"/>
              </a:ext>
            </a:extLst>
          </p:cNvPr>
          <p:cNvSpPr txBox="1"/>
          <p:nvPr/>
        </p:nvSpPr>
        <p:spPr>
          <a:xfrm>
            <a:off x="5771955" y="6449782"/>
            <a:ext cx="5676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Screenshot of the search bar and column toggle</a:t>
            </a:r>
          </a:p>
        </p:txBody>
      </p:sp>
      <p:pic>
        <p:nvPicPr>
          <p:cNvPr id="15" name="Content Placeholder 10">
            <a:extLst>
              <a:ext uri="{FF2B5EF4-FFF2-40B4-BE49-F238E27FC236}">
                <a16:creationId xmlns:a16="http://schemas.microsoft.com/office/drawing/2014/main" id="{5EFFD2A2-A757-38DA-3FF8-39EFC07F2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4" t="62427" r="18869" b="4600"/>
          <a:stretch>
            <a:fillRect/>
          </a:stretch>
        </p:blipFill>
        <p:spPr>
          <a:xfrm>
            <a:off x="6235233" y="58147"/>
            <a:ext cx="4645267" cy="17894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73077CA-BA82-515C-64B9-D677430BBF11}"/>
              </a:ext>
            </a:extLst>
          </p:cNvPr>
          <p:cNvSpPr txBox="1"/>
          <p:nvPr/>
        </p:nvSpPr>
        <p:spPr>
          <a:xfrm>
            <a:off x="6096000" y="1813177"/>
            <a:ext cx="4932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Searches through the reporting table for a match to the user input in the textbox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C7109D-C913-F4DB-2CEA-47233F3D5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915" y="2571483"/>
            <a:ext cx="5189670" cy="15469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A2FBB60-B8DC-070E-8D19-33AA5CB5C73F}"/>
              </a:ext>
            </a:extLst>
          </p:cNvPr>
          <p:cNvSpPr txBox="1"/>
          <p:nvPr/>
        </p:nvSpPr>
        <p:spPr>
          <a:xfrm>
            <a:off x="5171768" y="4144482"/>
            <a:ext cx="678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err="1"/>
              <a:t>EventListener</a:t>
            </a:r>
            <a:r>
              <a:rPr lang="en-GB" i="1" dirty="0"/>
              <a:t> for each report – waits on input in the search bar and/or a change in  selection of the dropdown</a:t>
            </a:r>
          </a:p>
        </p:txBody>
      </p:sp>
    </p:spTree>
    <p:extLst>
      <p:ext uri="{BB962C8B-B14F-4D97-AF65-F5344CB8AC3E}">
        <p14:creationId xmlns:p14="http://schemas.microsoft.com/office/powerpoint/2010/main" val="2505488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D8C26-4FB9-C172-F644-BB71D23B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2210E3-ABCE-B701-4E8F-DEE9743A3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2DF77E-D370-416A-1365-C703F4434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E1B5F0-A8F5-35DA-D718-42C773C3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811" y="403509"/>
            <a:ext cx="4087368" cy="6050982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1FB47-98A9-5160-6606-8F65573E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68576"/>
            <a:ext cx="3765200" cy="768612"/>
          </a:xfrm>
        </p:spPr>
        <p:txBody>
          <a:bodyPr>
            <a:no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689FA-8E26-01B0-80CD-A1C07A563E47}"/>
              </a:ext>
            </a:extLst>
          </p:cNvPr>
          <p:cNvSpPr txBox="1"/>
          <p:nvPr/>
        </p:nvSpPr>
        <p:spPr>
          <a:xfrm>
            <a:off x="573409" y="1337188"/>
            <a:ext cx="3765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First report – displaying all members the medical condition “Scoliosis”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Second report – displaying all members who are 70 years old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Third report – displaying all centres in Belfast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CBE38-0C40-EE61-B96A-688E3034312C}"/>
              </a:ext>
            </a:extLst>
          </p:cNvPr>
          <p:cNvSpPr txBox="1"/>
          <p:nvPr/>
        </p:nvSpPr>
        <p:spPr>
          <a:xfrm>
            <a:off x="5648636" y="2029019"/>
            <a:ext cx="569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First report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CF56A-F91B-0213-0983-717C3F869B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368"/>
          <a:stretch>
            <a:fillRect/>
          </a:stretch>
        </p:blipFill>
        <p:spPr>
          <a:xfrm>
            <a:off x="4683790" y="39714"/>
            <a:ext cx="7474152" cy="2029695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9AF11F9-3D58-FB75-35DB-5EF3014E6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660777" y="2399636"/>
            <a:ext cx="7497165" cy="1974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5A411C-01B9-FE15-B3B1-4F3FAD8872A0}"/>
              </a:ext>
            </a:extLst>
          </p:cNvPr>
          <p:cNvSpPr txBox="1"/>
          <p:nvPr/>
        </p:nvSpPr>
        <p:spPr>
          <a:xfrm>
            <a:off x="5594561" y="4324857"/>
            <a:ext cx="569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Second report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668433-E36F-135F-8147-408DC2FAE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472" y="4738991"/>
            <a:ext cx="7438760" cy="16663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65CB2D-7EC6-E76C-4170-C23CA490A0B7}"/>
              </a:ext>
            </a:extLst>
          </p:cNvPr>
          <p:cNvSpPr txBox="1"/>
          <p:nvPr/>
        </p:nvSpPr>
        <p:spPr>
          <a:xfrm>
            <a:off x="5609312" y="6404383"/>
            <a:ext cx="569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Third report</a:t>
            </a:r>
          </a:p>
        </p:txBody>
      </p:sp>
    </p:spTree>
    <p:extLst>
      <p:ext uri="{BB962C8B-B14F-4D97-AF65-F5344CB8AC3E}">
        <p14:creationId xmlns:p14="http://schemas.microsoft.com/office/powerpoint/2010/main" val="3624946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1114</TotalTime>
  <Words>1140</Words>
  <Application>Microsoft Office PowerPoint</Application>
  <PresentationFormat>Widescreen</PresentationFormat>
  <Paragraphs>153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Century Gothic</vt:lpstr>
      <vt:lpstr>Savon</vt:lpstr>
      <vt:lpstr>Reference Guide for Web Elements</vt:lpstr>
      <vt:lpstr>Directory Structure</vt:lpstr>
      <vt:lpstr>Report Reference Index</vt:lpstr>
      <vt:lpstr>PowerPoint Presentation</vt:lpstr>
      <vt:lpstr>PowerPoint Presentation</vt:lpstr>
      <vt:lpstr>PowerPoint Presentation</vt:lpstr>
      <vt:lpstr>PowerPoint Presentation</vt:lpstr>
      <vt:lpstr>View Reference Index</vt:lpstr>
      <vt:lpstr>PowerPoint Presentation</vt:lpstr>
      <vt:lpstr>PowerPoint Presentation</vt:lpstr>
      <vt:lpstr>PowerPoint Presentation</vt:lpstr>
      <vt:lpstr>Parameterised Reporting Reference Index</vt:lpstr>
      <vt:lpstr>Parameterised reports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Devlin</dc:creator>
  <cp:lastModifiedBy>Emma Devlin</cp:lastModifiedBy>
  <cp:revision>15</cp:revision>
  <dcterms:created xsi:type="dcterms:W3CDTF">2026-04-23T15:11:18Z</dcterms:created>
  <dcterms:modified xsi:type="dcterms:W3CDTF">2026-04-24T12:23:53Z</dcterms:modified>
</cp:coreProperties>
</file>