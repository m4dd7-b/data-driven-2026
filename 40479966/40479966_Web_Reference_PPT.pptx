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1" r:id="rId8"/>
    <p:sldId id="266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A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842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75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565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52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1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322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861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39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67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74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66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DA00493-FED1-471C-9A15-A912A7D6587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0CAF35B-F032-428C-A646-2454F3B59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58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A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40CE-6631-E421-353B-D76BEE139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7080" y="1554560"/>
            <a:ext cx="5577840" cy="3748880"/>
          </a:xfrm>
        </p:spPr>
        <p:txBody>
          <a:bodyPr/>
          <a:lstStyle/>
          <a:p>
            <a:r>
              <a:rPr lang="en-GB" dirty="0"/>
              <a:t>Quick reference guide for web 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7CCD1-A324-2021-B5DE-5954C7ED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522976"/>
            <a:ext cx="6801612" cy="1239894"/>
          </a:xfrm>
        </p:spPr>
        <p:txBody>
          <a:bodyPr/>
          <a:lstStyle/>
          <a:p>
            <a:r>
              <a:rPr lang="en-GB" dirty="0"/>
              <a:t>Student No. 40479966</a:t>
            </a:r>
          </a:p>
        </p:txBody>
      </p:sp>
    </p:spTree>
    <p:extLst>
      <p:ext uri="{BB962C8B-B14F-4D97-AF65-F5344CB8AC3E}">
        <p14:creationId xmlns:p14="http://schemas.microsoft.com/office/powerpoint/2010/main" val="273667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22FF-A8C3-D641-A7C9-026056F2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3756"/>
            <a:ext cx="7729728" cy="1188720"/>
          </a:xfrm>
        </p:spPr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82DC4-ADB2-CF94-7D98-CBB8026B9145}"/>
              </a:ext>
            </a:extLst>
          </p:cNvPr>
          <p:cNvSpPr/>
          <p:nvPr/>
        </p:nvSpPr>
        <p:spPr>
          <a:xfrm>
            <a:off x="2231136" y="1810512"/>
            <a:ext cx="7729728" cy="4713732"/>
          </a:xfrm>
          <a:prstGeom prst="rect">
            <a:avLst/>
          </a:prstGeom>
          <a:solidFill>
            <a:srgbClr val="FFFFFF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hlinkClick r:id="rId2" action="ppaction://hlinksldjump"/>
              </a:rPr>
              <a:t>Directory Structure</a:t>
            </a:r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  <a:hlinkClick r:id="rId3" action="ppaction://hlinksldjump"/>
              </a:rPr>
              <a:t>Landing Page</a:t>
            </a:r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  <a:hlinkClick r:id="rId4" action="ppaction://hlinksldjump"/>
              </a:rPr>
              <a:t>CRUD Page</a:t>
            </a:r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  <a:hlinkClick r:id="rId5" action="ppaction://hlinksldjump"/>
              </a:rPr>
              <a:t>Report Page</a:t>
            </a:r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  <a:hlinkClick r:id="rId6" action="ppaction://hlinksldjump"/>
              </a:rPr>
              <a:t>Report 1</a:t>
            </a:r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  <a:hlinkClick r:id="rId7" action="ppaction://hlinksldjump"/>
              </a:rPr>
              <a:t>Report 2</a:t>
            </a:r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  <a:hlinkClick r:id="rId8" action="ppaction://hlinksldjump"/>
              </a:rPr>
              <a:t>Report 3</a:t>
            </a:r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  <a:hlinkClick r:id="rId9" action="ppaction://hlinksldjump"/>
              </a:rPr>
              <a:t>Parameterised Reporting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76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64720F9-85B4-B8AC-30B9-DA0F48369B35}"/>
              </a:ext>
            </a:extLst>
          </p:cNvPr>
          <p:cNvSpPr/>
          <p:nvPr/>
        </p:nvSpPr>
        <p:spPr>
          <a:xfrm>
            <a:off x="4739640" y="144018"/>
            <a:ext cx="7269480" cy="6569964"/>
          </a:xfrm>
          <a:prstGeom prst="rect">
            <a:avLst/>
          </a:prstGeom>
          <a:solidFill>
            <a:srgbClr val="9BAF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80A35-89E5-A6B5-4712-12859290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87452"/>
            <a:ext cx="4398264" cy="1188720"/>
          </a:xfrm>
        </p:spPr>
        <p:txBody>
          <a:bodyPr/>
          <a:lstStyle/>
          <a:p>
            <a:r>
              <a:rPr lang="en-GB" dirty="0"/>
              <a:t>Directory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80330-98AD-84AC-7959-30711D52113C}"/>
              </a:ext>
            </a:extLst>
          </p:cNvPr>
          <p:cNvSpPr txBox="1"/>
          <p:nvPr/>
        </p:nvSpPr>
        <p:spPr>
          <a:xfrm>
            <a:off x="4809744" y="187452"/>
            <a:ext cx="4780026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dirty="0"/>
              <a:t>Group03/</a:t>
            </a:r>
          </a:p>
          <a:p>
            <a:r>
              <a:rPr lang="en-GB" sz="1300" dirty="0"/>
              <a:t>├── Database/</a:t>
            </a:r>
          </a:p>
          <a:p>
            <a:r>
              <a:rPr lang="en-GB" sz="1300" dirty="0"/>
              <a:t>│   ├── </a:t>
            </a:r>
            <a:r>
              <a:rPr lang="en-GB" sz="1300" dirty="0" err="1"/>
              <a:t>create.sql</a:t>
            </a:r>
            <a:endParaRPr lang="en-GB" sz="1300" dirty="0"/>
          </a:p>
          <a:p>
            <a:r>
              <a:rPr lang="en-GB" sz="1300" dirty="0"/>
              <a:t>│   └── </a:t>
            </a:r>
            <a:r>
              <a:rPr lang="en-GB" sz="1300" dirty="0" err="1"/>
              <a:t>insert.sql</a:t>
            </a:r>
            <a:endParaRPr lang="en-GB" sz="1300" dirty="0"/>
          </a:p>
          <a:p>
            <a:r>
              <a:rPr lang="en-GB" sz="1300" dirty="0"/>
              <a:t>├── Web App/</a:t>
            </a:r>
          </a:p>
          <a:p>
            <a:r>
              <a:rPr lang="en-GB" sz="1300" dirty="0"/>
              <a:t>│   ├── HTML</a:t>
            </a:r>
          </a:p>
          <a:p>
            <a:r>
              <a:rPr lang="en-GB" sz="1300" dirty="0"/>
              <a:t>│   ├── CSS</a:t>
            </a:r>
          </a:p>
          <a:p>
            <a:r>
              <a:rPr lang="en-GB" sz="1300" dirty="0"/>
              <a:t>│   └── JavaScript</a:t>
            </a:r>
          </a:p>
          <a:p>
            <a:r>
              <a:rPr lang="en-GB" sz="1300" dirty="0"/>
              <a:t>├── Database_Technical_Documentation.docx</a:t>
            </a:r>
          </a:p>
          <a:p>
            <a:r>
              <a:rPr lang="en-GB" sz="1300" dirty="0"/>
              <a:t>├── Group_System_Video.mp4</a:t>
            </a:r>
          </a:p>
          <a:p>
            <a:r>
              <a:rPr lang="en-GB" sz="1300" dirty="0"/>
              <a:t>│</a:t>
            </a:r>
          </a:p>
          <a:p>
            <a:r>
              <a:rPr lang="en-GB" sz="1300" dirty="0"/>
              <a:t>├── Work_Breakdown_Table.docx</a:t>
            </a:r>
          </a:p>
          <a:p>
            <a:r>
              <a:rPr lang="en-GB" sz="1300" dirty="0"/>
              <a:t>│</a:t>
            </a:r>
          </a:p>
          <a:p>
            <a:r>
              <a:rPr lang="en-GB" sz="1300" dirty="0"/>
              <a:t>├── StudentID_40483010/</a:t>
            </a:r>
          </a:p>
          <a:p>
            <a:r>
              <a:rPr lang="en-GB" sz="1300" dirty="0"/>
              <a:t>│   ├── 40483010 _Design_Spec.docx</a:t>
            </a:r>
          </a:p>
          <a:p>
            <a:r>
              <a:rPr lang="en-GB" sz="1300" dirty="0"/>
              <a:t>│   ├── 40483010 _</a:t>
            </a:r>
            <a:r>
              <a:rPr lang="en-GB" sz="1300" dirty="0" err="1"/>
              <a:t>reports.sql</a:t>
            </a:r>
            <a:endParaRPr lang="en-GB" sz="1300" dirty="0"/>
          </a:p>
          <a:p>
            <a:r>
              <a:rPr lang="en-GB" sz="1300" dirty="0"/>
              <a:t>│   ├── 40483010 _Web_Reference_PPT.pptx</a:t>
            </a:r>
          </a:p>
          <a:p>
            <a:r>
              <a:rPr lang="en-GB" sz="1300" dirty="0"/>
              <a:t>│   ├── 40483010 _Individual_Video.mp4</a:t>
            </a:r>
          </a:p>
          <a:p>
            <a:r>
              <a:rPr lang="en-GB" sz="1300" dirty="0"/>
              <a:t>│   └── 40483010 _GenAi_Log.docx</a:t>
            </a:r>
          </a:p>
          <a:p>
            <a:r>
              <a:rPr lang="en-GB" sz="1300" dirty="0"/>
              <a:t>├── StudentID_40487649/</a:t>
            </a:r>
          </a:p>
          <a:p>
            <a:r>
              <a:rPr lang="en-GB" sz="1300" dirty="0"/>
              <a:t>│   ├── 40487649 _Design_Spec.docx</a:t>
            </a:r>
          </a:p>
          <a:p>
            <a:r>
              <a:rPr lang="en-GB" sz="1300" dirty="0"/>
              <a:t>│   ├── 40487649 _ </a:t>
            </a:r>
            <a:r>
              <a:rPr lang="en-GB" sz="1300" dirty="0" err="1"/>
              <a:t>reports.sql</a:t>
            </a:r>
            <a:endParaRPr lang="en-GB" sz="1300" dirty="0"/>
          </a:p>
          <a:p>
            <a:r>
              <a:rPr lang="en-GB" sz="1300" dirty="0"/>
              <a:t>│   ├── 40487649 _Web_Reference_PPT.pptx</a:t>
            </a:r>
          </a:p>
          <a:p>
            <a:r>
              <a:rPr lang="en-GB" sz="1300" dirty="0"/>
              <a:t>│   ├── 40487649 _Individual_Video.mp4</a:t>
            </a:r>
          </a:p>
          <a:p>
            <a:r>
              <a:rPr lang="en-GB" sz="1300" dirty="0"/>
              <a:t>│   └── 40487649 _GenAi_Log.docx</a:t>
            </a:r>
          </a:p>
          <a:p>
            <a:r>
              <a:rPr lang="en-GB" sz="1300" dirty="0"/>
              <a:t>└── StudentID_40486524/</a:t>
            </a:r>
          </a:p>
          <a:p>
            <a:r>
              <a:rPr lang="en-GB" sz="1300" dirty="0"/>
              <a:t>    ├── 40486524 _Design_Spec.docx</a:t>
            </a:r>
          </a:p>
          <a:p>
            <a:r>
              <a:rPr lang="en-GB" sz="1300" dirty="0"/>
              <a:t>    ├── 40486524 _ </a:t>
            </a:r>
            <a:r>
              <a:rPr lang="en-GB" sz="1300" dirty="0" err="1"/>
              <a:t>reports.sql</a:t>
            </a:r>
            <a:endParaRPr lang="en-GB" sz="1300" dirty="0"/>
          </a:p>
          <a:p>
            <a:r>
              <a:rPr lang="en-GB" sz="1300" dirty="0"/>
              <a:t>    ├── 40486524 _Web_Reference_PPT.pptx</a:t>
            </a:r>
          </a:p>
          <a:p>
            <a:r>
              <a:rPr lang="en-GB" sz="1300" dirty="0"/>
              <a:t>    ├── 40486524 _Individual_Video.mp4</a:t>
            </a:r>
          </a:p>
          <a:p>
            <a:r>
              <a:rPr lang="en-GB" sz="1300" dirty="0"/>
              <a:t>    └── 40486524 _GenAi_Log.docx</a:t>
            </a:r>
          </a:p>
          <a:p>
            <a:endParaRPr lang="en-GB" sz="1300" dirty="0"/>
          </a:p>
          <a:p>
            <a:endParaRPr lang="en-GB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F93FCB-8420-1713-3C5E-13658632A0BE}"/>
              </a:ext>
            </a:extLst>
          </p:cNvPr>
          <p:cNvSpPr txBox="1"/>
          <p:nvPr/>
        </p:nvSpPr>
        <p:spPr>
          <a:xfrm>
            <a:off x="8332470" y="340971"/>
            <a:ext cx="609447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dirty="0"/>
              <a:t>├── StudentID_40479966/</a:t>
            </a:r>
          </a:p>
          <a:p>
            <a:r>
              <a:rPr lang="en-GB" sz="1300" dirty="0"/>
              <a:t>│   ├── 40479966 _Design_Spec.docx</a:t>
            </a:r>
          </a:p>
          <a:p>
            <a:r>
              <a:rPr lang="en-GB" sz="1300" dirty="0"/>
              <a:t>│   ├── 40479966 _ </a:t>
            </a:r>
            <a:r>
              <a:rPr lang="en-GB" sz="1300" dirty="0" err="1"/>
              <a:t>reports.sql</a:t>
            </a:r>
            <a:endParaRPr lang="en-GB" sz="1300" dirty="0"/>
          </a:p>
          <a:p>
            <a:r>
              <a:rPr lang="en-GB" sz="1300" dirty="0"/>
              <a:t>│   ├── 40479966 _Web_Reference_PPT.pptx</a:t>
            </a:r>
          </a:p>
          <a:p>
            <a:r>
              <a:rPr lang="en-GB" sz="1300" dirty="0"/>
              <a:t>│   ├── 40479966 _Individual_Video.mp4</a:t>
            </a:r>
          </a:p>
          <a:p>
            <a:r>
              <a:rPr lang="en-GB" sz="1300" dirty="0"/>
              <a:t>│   └── 40479966 _GenAi_Log.docx</a:t>
            </a:r>
          </a:p>
          <a:p>
            <a:r>
              <a:rPr lang="en-GB" sz="1300" dirty="0"/>
              <a:t>└── StudentID_40479968/</a:t>
            </a:r>
          </a:p>
          <a:p>
            <a:r>
              <a:rPr lang="en-GB" sz="1300" dirty="0"/>
              <a:t>    ├── 40479969 _Design_Spec.docx</a:t>
            </a:r>
          </a:p>
          <a:p>
            <a:r>
              <a:rPr lang="en-GB" sz="1300" dirty="0"/>
              <a:t>    ├── 40479969 _ </a:t>
            </a:r>
            <a:r>
              <a:rPr lang="en-GB" sz="1300" dirty="0" err="1"/>
              <a:t>reports.sql</a:t>
            </a:r>
            <a:endParaRPr lang="en-GB" sz="1300" dirty="0"/>
          </a:p>
          <a:p>
            <a:r>
              <a:rPr lang="en-GB" sz="1300" dirty="0"/>
              <a:t>    ├── 40479969 _Web_Reference_PPT.pptx</a:t>
            </a:r>
          </a:p>
          <a:p>
            <a:r>
              <a:rPr lang="en-GB" sz="1300" dirty="0"/>
              <a:t>    ├── 40479969 _Individual_Video.mp4</a:t>
            </a:r>
          </a:p>
          <a:p>
            <a:r>
              <a:rPr lang="en-GB" sz="1300" dirty="0"/>
              <a:t>    └── 40479969 _GenAi_Log.docx</a:t>
            </a:r>
          </a:p>
        </p:txBody>
      </p:sp>
    </p:spTree>
    <p:extLst>
      <p:ext uri="{BB962C8B-B14F-4D97-AF65-F5344CB8AC3E}">
        <p14:creationId xmlns:p14="http://schemas.microsoft.com/office/powerpoint/2010/main" val="338241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21F0-D3BD-DED8-0A5F-0DBDB1654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196596"/>
            <a:ext cx="7729728" cy="1188720"/>
          </a:xfrm>
        </p:spPr>
        <p:txBody>
          <a:bodyPr/>
          <a:lstStyle/>
          <a:p>
            <a:r>
              <a:rPr lang="en-GB" dirty="0"/>
              <a:t>Landing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25363-6530-0ADF-9970-6B78C028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531620"/>
            <a:ext cx="3931920" cy="2418588"/>
          </a:xfr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r>
              <a:rPr lang="en-GB" dirty="0"/>
              <a:t>“..\Data-Driven-2026\Web App\HTML\index.html“</a:t>
            </a:r>
          </a:p>
          <a:p>
            <a:r>
              <a:rPr lang="en-GB" dirty="0"/>
              <a:t>Landing page that sends user to either report page or crud page</a:t>
            </a:r>
          </a:p>
          <a:p>
            <a:r>
              <a:rPr lang="en-GB" dirty="0"/>
              <a:t>Can use buttons or dashboard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E8EC2-713D-80D1-8BE9-DEBD286A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120" y="1531620"/>
            <a:ext cx="5487097" cy="27540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069562-178B-30D1-7B29-3447C2EC6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996" y="4619317"/>
            <a:ext cx="7459116" cy="168616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96578B-BA95-74B6-4A77-8FC6EAFCF7FC}"/>
              </a:ext>
            </a:extLst>
          </p:cNvPr>
          <p:cNvSpPr txBox="1">
            <a:spLocks/>
          </p:cNvSpPr>
          <p:nvPr/>
        </p:nvSpPr>
        <p:spPr>
          <a:xfrm>
            <a:off x="1777718" y="4615433"/>
            <a:ext cx="2291361" cy="1421893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HTML of button elements that contains </a:t>
            </a:r>
            <a:r>
              <a:rPr lang="en-GB" dirty="0" err="1"/>
              <a:t>href</a:t>
            </a:r>
            <a:r>
              <a:rPr lang="en-GB" dirty="0"/>
              <a:t> links to other pages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E0AF96-C3F9-F4BB-0BC2-B10E622A70E0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4069079" y="5326380"/>
            <a:ext cx="416917" cy="136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490A4AE-2DA7-68DF-8055-203D90CE6312}"/>
              </a:ext>
            </a:extLst>
          </p:cNvPr>
          <p:cNvSpPr txBox="1">
            <a:spLocks/>
          </p:cNvSpPr>
          <p:nvPr/>
        </p:nvSpPr>
        <p:spPr>
          <a:xfrm>
            <a:off x="8945183" y="132588"/>
            <a:ext cx="2045905" cy="986029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Landing page in website (banner cut off)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2A5439-B4A4-1871-DB95-0F3E2496EF5C}"/>
              </a:ext>
            </a:extLst>
          </p:cNvPr>
          <p:cNvCxnSpPr>
            <a:cxnSpLocks/>
            <a:stCxn id="17" idx="2"/>
            <a:endCxn id="5" idx="0"/>
          </p:cNvCxnSpPr>
          <p:nvPr/>
        </p:nvCxnSpPr>
        <p:spPr>
          <a:xfrm flipH="1">
            <a:off x="8136669" y="1118617"/>
            <a:ext cx="1831467" cy="413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12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B19B-460B-8A64-DA3A-F54CB59D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7232-8250-1A3C-ACD4-30A50966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196596"/>
            <a:ext cx="7729728" cy="1188720"/>
          </a:xfrm>
        </p:spPr>
        <p:txBody>
          <a:bodyPr/>
          <a:lstStyle/>
          <a:p>
            <a:r>
              <a:rPr lang="en-GB" dirty="0"/>
              <a:t>Crud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EA8CD-4A34-066A-8998-80C4BB79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531620"/>
            <a:ext cx="3931920" cy="2345436"/>
          </a:xfr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r>
              <a:rPr lang="en-GB" dirty="0"/>
              <a:t>“..\Data-Driven-2026\Web App\HTML\crud.html“</a:t>
            </a:r>
          </a:p>
          <a:p>
            <a:r>
              <a:rPr lang="en-GB" dirty="0"/>
              <a:t>Buttons allowing access to each CRUD using </a:t>
            </a:r>
            <a:r>
              <a:rPr lang="en-GB" dirty="0" err="1"/>
              <a:t>href</a:t>
            </a:r>
            <a:r>
              <a:rPr lang="en-GB" dirty="0"/>
              <a:t> links</a:t>
            </a:r>
          </a:p>
          <a:p>
            <a:r>
              <a:rPr lang="en-GB" dirty="0"/>
              <a:t>Can also use dashboard which updates when moving to this page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45D692-FDDE-ED7B-EC1F-9F0EEA5D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527" y="1891249"/>
            <a:ext cx="6839331" cy="1415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CB70C4-737B-2C22-E436-6C0B2E1D4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346" y="3812681"/>
            <a:ext cx="6763694" cy="252447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044606B-5052-B26A-531E-48B50EE032B5}"/>
              </a:ext>
            </a:extLst>
          </p:cNvPr>
          <p:cNvSpPr txBox="1">
            <a:spLocks/>
          </p:cNvSpPr>
          <p:nvPr/>
        </p:nvSpPr>
        <p:spPr>
          <a:xfrm>
            <a:off x="1777718" y="4615433"/>
            <a:ext cx="2291361" cy="1421893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HTML of button elements that contains </a:t>
            </a:r>
            <a:r>
              <a:rPr lang="en-GB" dirty="0" err="1"/>
              <a:t>href</a:t>
            </a:r>
            <a:r>
              <a:rPr lang="en-GB" dirty="0"/>
              <a:t> links to other pages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1962FD-F660-3A78-7BAD-BFB470F458D5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4069079" y="5074920"/>
            <a:ext cx="562267" cy="2514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2D1241B-48E9-373D-CF94-E725697F5CA2}"/>
              </a:ext>
            </a:extLst>
          </p:cNvPr>
          <p:cNvSpPr txBox="1">
            <a:spLocks/>
          </p:cNvSpPr>
          <p:nvPr/>
        </p:nvSpPr>
        <p:spPr>
          <a:xfrm>
            <a:off x="9365807" y="196596"/>
            <a:ext cx="1716721" cy="986029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Buttons as seen in website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5CA576-FEBF-E931-773F-79F09C95B5EF}"/>
              </a:ext>
            </a:extLst>
          </p:cNvPr>
          <p:cNvCxnSpPr>
            <a:cxnSpLocks/>
            <a:stCxn id="17" idx="2"/>
            <a:endCxn id="9" idx="0"/>
          </p:cNvCxnSpPr>
          <p:nvPr/>
        </p:nvCxnSpPr>
        <p:spPr>
          <a:xfrm flipH="1">
            <a:off x="8013193" y="1182625"/>
            <a:ext cx="2210975" cy="708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872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959E-1978-9646-4547-C083D6BB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5155-3721-6689-AF29-C11453501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196596"/>
            <a:ext cx="7729728" cy="1188720"/>
          </a:xfrm>
        </p:spPr>
        <p:txBody>
          <a:bodyPr/>
          <a:lstStyle/>
          <a:p>
            <a:r>
              <a:rPr lang="en-GB" dirty="0"/>
              <a:t>Report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8F1F8-8EF6-5D29-3B7D-365D24853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531620"/>
            <a:ext cx="3931920" cy="2418588"/>
          </a:xfr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r>
              <a:rPr lang="en-GB" dirty="0"/>
              <a:t>“..\Data-Driven-2026\Web App\HTML\report.html“</a:t>
            </a:r>
          </a:p>
          <a:p>
            <a:r>
              <a:rPr lang="en-GB" dirty="0"/>
              <a:t>Buttons allowing access to each report using </a:t>
            </a:r>
            <a:r>
              <a:rPr lang="en-GB" dirty="0" err="1"/>
              <a:t>href</a:t>
            </a:r>
            <a:r>
              <a:rPr lang="en-GB" dirty="0"/>
              <a:t> links</a:t>
            </a:r>
          </a:p>
          <a:p>
            <a:r>
              <a:rPr lang="en-GB" dirty="0"/>
              <a:t>Can also use dashboard which updates when moving to this page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26F8EA-0ABB-4D1A-E1FA-3550F9189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806" y="1619808"/>
            <a:ext cx="7203946" cy="17177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EB5227-E0EE-1F5C-D628-51E1CFFDF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215" y="3520440"/>
            <a:ext cx="6677957" cy="321037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323D20-D6E9-4326-2329-B91A37167041}"/>
              </a:ext>
            </a:extLst>
          </p:cNvPr>
          <p:cNvSpPr txBox="1">
            <a:spLocks/>
          </p:cNvSpPr>
          <p:nvPr/>
        </p:nvSpPr>
        <p:spPr>
          <a:xfrm>
            <a:off x="9365807" y="196596"/>
            <a:ext cx="1716721" cy="986029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Buttons as seen in website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379BC9-B99A-209B-CFB0-C5F0C89214A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8129779" y="1182625"/>
            <a:ext cx="2094389" cy="437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B42CF02-096C-C4F4-9412-29A04C73F285}"/>
              </a:ext>
            </a:extLst>
          </p:cNvPr>
          <p:cNvSpPr txBox="1">
            <a:spLocks/>
          </p:cNvSpPr>
          <p:nvPr/>
        </p:nvSpPr>
        <p:spPr>
          <a:xfrm>
            <a:off x="1777718" y="4615433"/>
            <a:ext cx="2291361" cy="1421893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HTML of button elements that contains </a:t>
            </a:r>
            <a:r>
              <a:rPr lang="en-GB" dirty="0" err="1"/>
              <a:t>href</a:t>
            </a:r>
            <a:r>
              <a:rPr lang="en-GB" dirty="0"/>
              <a:t> links to other pages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1760FE-9191-33F5-F279-1CF57889393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069079" y="5074920"/>
            <a:ext cx="562267" cy="2514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31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863F-F74A-4AC5-2332-B99B9056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E404-3740-0F2C-948A-772A1C70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33172"/>
            <a:ext cx="7729728" cy="1188720"/>
          </a:xfrm>
        </p:spPr>
        <p:txBody>
          <a:bodyPr/>
          <a:lstStyle/>
          <a:p>
            <a:r>
              <a:rPr lang="en-GB" dirty="0"/>
              <a:t>Report 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4A3C97-3F62-F1EA-9A82-697A9965B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531620"/>
            <a:ext cx="3931920" cy="4000500"/>
          </a:xfr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>
            <a:normAutofit/>
          </a:bodyPr>
          <a:lstStyle/>
          <a:p>
            <a:r>
              <a:rPr lang="en-GB" dirty="0"/>
              <a:t>…\Data-Driven-2026\Web App\</a:t>
            </a:r>
            <a:r>
              <a:rPr lang="en-GB" dirty="0" err="1"/>
              <a:t>DataHTML</a:t>
            </a:r>
            <a:r>
              <a:rPr lang="en-GB" dirty="0"/>
              <a:t>\FaolánData.html“</a:t>
            </a:r>
          </a:p>
          <a:p>
            <a:r>
              <a:rPr lang="en-GB" dirty="0"/>
              <a:t>“..\Data-Driven-2026\Web App\JS\</a:t>
            </a:r>
            <a:r>
              <a:rPr lang="en-GB" dirty="0" err="1"/>
              <a:t>ReportJS</a:t>
            </a:r>
            <a:r>
              <a:rPr lang="en-GB" dirty="0"/>
              <a:t>\faolanReport.js“</a:t>
            </a:r>
          </a:p>
          <a:p>
            <a:r>
              <a:rPr lang="en-GB" dirty="0"/>
              <a:t>Report showing centre details</a:t>
            </a:r>
          </a:p>
          <a:p>
            <a:r>
              <a:rPr lang="en-GB" dirty="0"/>
              <a:t>Can switch between reports using links inside of the boxes</a:t>
            </a:r>
          </a:p>
          <a:p>
            <a:r>
              <a:rPr lang="en-GB" dirty="0"/>
              <a:t>Table generated in the JS file</a:t>
            </a:r>
          </a:p>
          <a:p>
            <a:r>
              <a:rPr lang="en-GB" dirty="0"/>
              <a:t>Table is hidden and revealed by JS event</a:t>
            </a:r>
          </a:p>
          <a:p>
            <a:r>
              <a:rPr lang="en-GB" dirty="0"/>
              <a:t>Consists of report1 function in JS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E10E1A-D9E5-EEC7-351D-BBBE86A7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890" y="315613"/>
            <a:ext cx="3700222" cy="31133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2942DC-B683-4556-BC94-78B039FBC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322" y="4029286"/>
            <a:ext cx="5820587" cy="243874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EB0E5D5-2EF4-A50C-B72B-0E9766885164}"/>
              </a:ext>
            </a:extLst>
          </p:cNvPr>
          <p:cNvSpPr txBox="1">
            <a:spLocks/>
          </p:cNvSpPr>
          <p:nvPr/>
        </p:nvSpPr>
        <p:spPr>
          <a:xfrm>
            <a:off x="5252438" y="1564555"/>
            <a:ext cx="2291361" cy="457623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Table in website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836AA8-1DE0-8EA2-768C-B5A9856E6FA9}"/>
              </a:ext>
            </a:extLst>
          </p:cNvPr>
          <p:cNvCxnSpPr>
            <a:cxnSpLocks/>
            <a:stCxn id="13" idx="3"/>
            <a:endCxn id="6" idx="1"/>
          </p:cNvCxnSpPr>
          <p:nvPr/>
        </p:nvCxnSpPr>
        <p:spPr>
          <a:xfrm>
            <a:off x="7543799" y="1793367"/>
            <a:ext cx="701091" cy="789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706B098-BB7D-9C5F-940A-CD93B9813613}"/>
              </a:ext>
            </a:extLst>
          </p:cNvPr>
          <p:cNvSpPr txBox="1">
            <a:spLocks/>
          </p:cNvSpPr>
          <p:nvPr/>
        </p:nvSpPr>
        <p:spPr>
          <a:xfrm>
            <a:off x="4950319" y="2971800"/>
            <a:ext cx="2291361" cy="686011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report1() in faolanReport.js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5928D6-350F-5D4D-F3E3-933747275833}"/>
              </a:ext>
            </a:extLst>
          </p:cNvPr>
          <p:cNvCxnSpPr>
            <a:cxnSpLocks/>
            <a:stCxn id="18" idx="3"/>
            <a:endCxn id="12" idx="0"/>
          </p:cNvCxnSpPr>
          <p:nvPr/>
        </p:nvCxnSpPr>
        <p:spPr>
          <a:xfrm>
            <a:off x="7241680" y="3314806"/>
            <a:ext cx="734936" cy="714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17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A2432-0D06-6836-A20D-8857EEC8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F3EC-2F06-960E-8D59-950D269C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33172"/>
            <a:ext cx="7729728" cy="1188720"/>
          </a:xfrm>
        </p:spPr>
        <p:txBody>
          <a:bodyPr/>
          <a:lstStyle/>
          <a:p>
            <a:r>
              <a:rPr lang="en-GB" dirty="0"/>
              <a:t>my reports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2E22CE-4E13-A340-EDF5-0E70B63DA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531620"/>
            <a:ext cx="3931920" cy="3241548"/>
          </a:xfr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r>
              <a:rPr lang="en-GB" dirty="0"/>
              <a:t>…\Data-Driven-2026\Web App\</a:t>
            </a:r>
            <a:r>
              <a:rPr lang="en-GB" dirty="0" err="1"/>
              <a:t>DataHTML</a:t>
            </a:r>
            <a:r>
              <a:rPr lang="en-GB" dirty="0"/>
              <a:t>\FaolánData.html“</a:t>
            </a:r>
          </a:p>
          <a:p>
            <a:r>
              <a:rPr lang="en-GB" dirty="0"/>
              <a:t>“..\Data-Driven-2026\Web App\JS\</a:t>
            </a:r>
            <a:r>
              <a:rPr lang="en-GB" dirty="0" err="1"/>
              <a:t>ReportJS</a:t>
            </a:r>
            <a:r>
              <a:rPr lang="en-GB" dirty="0"/>
              <a:t>\faolanReport.js“</a:t>
            </a:r>
          </a:p>
          <a:p>
            <a:r>
              <a:rPr lang="en-GB" dirty="0"/>
              <a:t>Bar chart showing total registered members in each centre</a:t>
            </a:r>
          </a:p>
          <a:p>
            <a:r>
              <a:rPr lang="en-GB" dirty="0"/>
              <a:t>Created in faolanReport.js and attached to pre-existing canvas element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4CD30-35B4-0601-67D5-8F2641892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587" y="1609344"/>
            <a:ext cx="4081951" cy="493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F0196-3336-0D12-2D25-D79E212867FC}"/>
              </a:ext>
            </a:extLst>
          </p:cNvPr>
          <p:cNvSpPr txBox="1">
            <a:spLocks/>
          </p:cNvSpPr>
          <p:nvPr/>
        </p:nvSpPr>
        <p:spPr>
          <a:xfrm>
            <a:off x="1655064" y="5326380"/>
            <a:ext cx="2523744" cy="457623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Bar chart in website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AC638C-C76B-AE33-59F4-6C2E18D14F38}"/>
              </a:ext>
            </a:extLst>
          </p:cNvPr>
          <p:cNvSpPr txBox="1">
            <a:spLocks/>
          </p:cNvSpPr>
          <p:nvPr/>
        </p:nvSpPr>
        <p:spPr>
          <a:xfrm>
            <a:off x="9452317" y="1266338"/>
            <a:ext cx="2291361" cy="686011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report2() in faolanReport.js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3ADBF1-CE83-6BF0-207C-82551F4DA70F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 flipV="1">
            <a:off x="4178808" y="4078224"/>
            <a:ext cx="595779" cy="14769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E492ECB-87D5-EA4D-9268-6563EC814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429" y="3637151"/>
            <a:ext cx="2739683" cy="214685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54F049-9ADF-EB03-CDEA-AA9866908883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10575271" y="1952349"/>
            <a:ext cx="22727" cy="1684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44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4B830-B79C-DCD4-55A7-9282DC2C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D274-00C0-7BF4-DEFB-F12C44D0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33172"/>
            <a:ext cx="7729728" cy="1188720"/>
          </a:xfrm>
        </p:spPr>
        <p:txBody>
          <a:bodyPr/>
          <a:lstStyle/>
          <a:p>
            <a:r>
              <a:rPr lang="en-GB" dirty="0"/>
              <a:t>my reports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7BF12C-7B2F-3CF5-F80E-13E158F9C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531620"/>
            <a:ext cx="3931920" cy="2683764"/>
          </a:xfr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r>
              <a:rPr lang="en-GB" dirty="0"/>
              <a:t>…\Data-Driven-2026\Web App\</a:t>
            </a:r>
            <a:r>
              <a:rPr lang="en-GB" dirty="0" err="1"/>
              <a:t>DataHTML</a:t>
            </a:r>
            <a:r>
              <a:rPr lang="en-GB" dirty="0"/>
              <a:t>\FaolánData.html“</a:t>
            </a:r>
          </a:p>
          <a:p>
            <a:r>
              <a:rPr lang="en-GB" dirty="0"/>
              <a:t>“..\Data-Driven-2026\Web App\JS\</a:t>
            </a:r>
            <a:r>
              <a:rPr lang="en-GB" dirty="0" err="1"/>
              <a:t>ReportJS</a:t>
            </a:r>
            <a:r>
              <a:rPr lang="en-GB" dirty="0"/>
              <a:t>\faolanReport.js“</a:t>
            </a:r>
          </a:p>
          <a:p>
            <a:r>
              <a:rPr lang="en-GB" dirty="0"/>
              <a:t>Line chart created in faolanReport.js and linked to pre-existing HTML canvas element in FaolánData.html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CF0C11-1535-1CDE-7DD9-21051664B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790" y="2278277"/>
            <a:ext cx="5876322" cy="44197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4298C9-B97F-ADFC-61F2-E891A652A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4365120"/>
            <a:ext cx="5056632" cy="233286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25FD7F-99E8-E698-8EEB-A233A55101DE}"/>
              </a:ext>
            </a:extLst>
          </p:cNvPr>
          <p:cNvSpPr txBox="1">
            <a:spLocks/>
          </p:cNvSpPr>
          <p:nvPr/>
        </p:nvSpPr>
        <p:spPr>
          <a:xfrm>
            <a:off x="4275152" y="2642616"/>
            <a:ext cx="1595295" cy="960120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report3() in faolanReport.js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4A30BC-39DF-D45F-83FC-04F547F49E5C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flipH="1">
            <a:off x="2866644" y="3602736"/>
            <a:ext cx="2206156" cy="76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48C95AE-1139-54FC-B28F-9D8D3FFF3B6F}"/>
              </a:ext>
            </a:extLst>
          </p:cNvPr>
          <p:cNvSpPr txBox="1">
            <a:spLocks/>
          </p:cNvSpPr>
          <p:nvPr/>
        </p:nvSpPr>
        <p:spPr>
          <a:xfrm>
            <a:off x="8871536" y="409905"/>
            <a:ext cx="1595295" cy="960120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Line graph in webpage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F11F98-1583-1D6A-17ED-95BA249C871C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 flipH="1">
            <a:off x="9006951" y="1370025"/>
            <a:ext cx="662233" cy="908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68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58A8-26C4-339D-8F4D-0E78AE50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961B-40FE-58AC-DBD5-0C653D37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196596"/>
            <a:ext cx="7729728" cy="118872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Parameterised Reporting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29D03B-F7AF-5FE5-09FD-6D0C58A14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531620"/>
            <a:ext cx="3931920" cy="4297680"/>
          </a:xfr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r>
              <a:rPr lang="en-GB" dirty="0"/>
              <a:t>…\Data-Driven-2026\Web App\</a:t>
            </a:r>
            <a:r>
              <a:rPr lang="en-GB" dirty="0" err="1"/>
              <a:t>DataHTML</a:t>
            </a:r>
            <a:r>
              <a:rPr lang="en-GB" dirty="0"/>
              <a:t>\FaolánData.html“</a:t>
            </a:r>
          </a:p>
          <a:p>
            <a:r>
              <a:rPr lang="en-GB" dirty="0"/>
              <a:t>“..\Data-Driven-2026\Web App\JS\</a:t>
            </a:r>
            <a:r>
              <a:rPr lang="en-GB" dirty="0" err="1"/>
              <a:t>ReportJS</a:t>
            </a:r>
            <a:r>
              <a:rPr lang="en-GB" dirty="0"/>
              <a:t>\faolanReport.js“</a:t>
            </a:r>
          </a:p>
          <a:p>
            <a:r>
              <a:rPr lang="en-GB" dirty="0"/>
              <a:t>“..\Data-Driven-2026\Web App\JS\</a:t>
            </a:r>
            <a:r>
              <a:rPr lang="en-GB" dirty="0" err="1"/>
              <a:t>ReportJS</a:t>
            </a:r>
            <a:r>
              <a:rPr lang="en-GB" dirty="0"/>
              <a:t>\filter.js“</a:t>
            </a:r>
          </a:p>
          <a:p>
            <a:r>
              <a:rPr lang="en-GB" dirty="0"/>
              <a:t>Input element that allows users to dynamically filter records based on input</a:t>
            </a:r>
          </a:p>
          <a:p>
            <a:r>
              <a:rPr lang="en-GB" dirty="0"/>
              <a:t>Enables parameterised reporting</a:t>
            </a:r>
          </a:p>
          <a:p>
            <a:r>
              <a:rPr lang="en-GB" dirty="0"/>
              <a:t>Column to filter is chosen with dropdown box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D7B16-FB7C-B764-2299-48FA4D985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686392"/>
            <a:ext cx="4517136" cy="1783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EA12E5-436F-2D82-0873-3EC61F813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431" y="3858843"/>
            <a:ext cx="4008121" cy="2625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BE65A6-ADA9-2B99-8529-DADE297D3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87" y="2966023"/>
            <a:ext cx="3701797" cy="113048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D000D9-EC71-699F-92F9-5C5FF31B13C0}"/>
              </a:ext>
            </a:extLst>
          </p:cNvPr>
          <p:cNvSpPr txBox="1">
            <a:spLocks/>
          </p:cNvSpPr>
          <p:nvPr/>
        </p:nvSpPr>
        <p:spPr>
          <a:xfrm>
            <a:off x="9620223" y="5486294"/>
            <a:ext cx="2291361" cy="686011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Filtering bar in FaolánData.html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D95854-D8BB-3A4A-5835-7330A3A16E22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flipH="1" flipV="1">
            <a:off x="8988552" y="5171608"/>
            <a:ext cx="631671" cy="657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B19BE27-8A2A-E4A9-5675-96EBE5FF96BC}"/>
              </a:ext>
            </a:extLst>
          </p:cNvPr>
          <p:cNvSpPr txBox="1">
            <a:spLocks/>
          </p:cNvSpPr>
          <p:nvPr/>
        </p:nvSpPr>
        <p:spPr>
          <a:xfrm>
            <a:off x="9836291" y="1686392"/>
            <a:ext cx="2108821" cy="624560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addFilter</a:t>
            </a:r>
            <a:r>
              <a:rPr lang="en-GB" dirty="0"/>
              <a:t>() in filter.js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0A53D8-0BCE-82A7-09BC-1ACF2E706EFA}"/>
              </a:ext>
            </a:extLst>
          </p:cNvPr>
          <p:cNvCxnSpPr>
            <a:cxnSpLocks/>
            <a:stCxn id="17" idx="2"/>
            <a:endCxn id="12" idx="0"/>
          </p:cNvCxnSpPr>
          <p:nvPr/>
        </p:nvCxnSpPr>
        <p:spPr>
          <a:xfrm flipH="1">
            <a:off x="9984486" y="2310952"/>
            <a:ext cx="906216" cy="655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E6C86F6-FA94-9D95-9368-D2AD5789DE2E}"/>
              </a:ext>
            </a:extLst>
          </p:cNvPr>
          <p:cNvSpPr txBox="1">
            <a:spLocks/>
          </p:cNvSpPr>
          <p:nvPr/>
        </p:nvSpPr>
        <p:spPr>
          <a:xfrm>
            <a:off x="8838805" y="500033"/>
            <a:ext cx="2291361" cy="686011"/>
          </a:xfrm>
          <a:prstGeom prst="rect">
            <a:avLst/>
          </a:prstGeom>
          <a:solidFill>
            <a:srgbClr val="9BAFB5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Dropdown HTML in FaolánData.html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59DCBF-7E87-4004-0A31-8B06218C88AF}"/>
              </a:ext>
            </a:extLst>
          </p:cNvPr>
          <p:cNvCxnSpPr>
            <a:cxnSpLocks/>
            <a:stCxn id="22" idx="1"/>
            <a:endCxn id="6" idx="0"/>
          </p:cNvCxnSpPr>
          <p:nvPr/>
        </p:nvCxnSpPr>
        <p:spPr>
          <a:xfrm flipH="1">
            <a:off x="6729984" y="843039"/>
            <a:ext cx="2108821" cy="843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56150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263</TotalTime>
  <Words>752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Quick reference guide for web elements</vt:lpstr>
      <vt:lpstr>Contents</vt:lpstr>
      <vt:lpstr>Directory structure</vt:lpstr>
      <vt:lpstr>Landing page</vt:lpstr>
      <vt:lpstr>Crud page</vt:lpstr>
      <vt:lpstr>Report page</vt:lpstr>
      <vt:lpstr>Report 1</vt:lpstr>
      <vt:lpstr>my reports</vt:lpstr>
      <vt:lpstr>my reports</vt:lpstr>
      <vt:lpstr>Parameterised Reporting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Faolán Campbell</dc:creator>
  <cp:lastModifiedBy>Faolán Campbell</cp:lastModifiedBy>
  <cp:revision>5</cp:revision>
  <dcterms:created xsi:type="dcterms:W3CDTF">2026-04-23T16:34:30Z</dcterms:created>
  <dcterms:modified xsi:type="dcterms:W3CDTF">2026-04-23T20:58:20Z</dcterms:modified>
</cp:coreProperties>
</file>