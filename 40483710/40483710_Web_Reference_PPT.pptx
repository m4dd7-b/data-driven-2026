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4"/>
  </p:sldMasterIdLst>
  <p:notesMasterIdLst>
    <p:notesMasterId r:id="rId21"/>
  </p:notesMasterIdLst>
  <p:handoutMasterIdLst>
    <p:handoutMasterId r:id="rId22"/>
  </p:handoutMasterIdLst>
  <p:sldIdLst>
    <p:sldId id="340" r:id="rId5"/>
    <p:sldId id="341" r:id="rId6"/>
    <p:sldId id="343" r:id="rId7"/>
    <p:sldId id="346" r:id="rId8"/>
    <p:sldId id="356" r:id="rId9"/>
    <p:sldId id="357" r:id="rId10"/>
    <p:sldId id="358" r:id="rId11"/>
    <p:sldId id="348" r:id="rId12"/>
    <p:sldId id="362" r:id="rId13"/>
    <p:sldId id="351" r:id="rId14"/>
    <p:sldId id="359" r:id="rId15"/>
    <p:sldId id="352" r:id="rId16"/>
    <p:sldId id="360" r:id="rId17"/>
    <p:sldId id="361" r:id="rId18"/>
    <p:sldId id="354" r:id="rId19"/>
    <p:sldId id="35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9E0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5C5F4F-9BC8-4E93-BC84-C72AE670A9BD}" v="173" dt="2026-04-23T06:49:31.127"/>
  </p1510:revLst>
</p1510:revInfo>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autoAdjust="0"/>
  </p:normalViewPr>
  <p:slideViewPr>
    <p:cSldViewPr snapToGrid="0">
      <p:cViewPr varScale="1">
        <p:scale>
          <a:sx n="76" d="100"/>
          <a:sy n="76" d="100"/>
        </p:scale>
        <p:origin x="412" y="56"/>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4/23/2026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4/23/2026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771A7-87F5-004B-0D1E-EEB588564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AED84-7711-273F-E5EF-6600E610A40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4E07338-B79C-FF90-062F-16DCAC5795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B75282-4056-3E27-288E-5A61E97F3D90}"/>
              </a:ext>
            </a:extLst>
          </p:cNvPr>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3071424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DD7AF-C16F-44E0-FC64-70F96D5B0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19E23-AE28-A130-441E-928FEE73398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3BE2D29-378D-ACDA-FED8-8F1A30D2AA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9AB88-9B97-3821-8B3D-171B4E5398BA}"/>
              </a:ext>
            </a:extLst>
          </p:cNvPr>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1819181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8C87-9CA7-9874-CBEF-08355FD2B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3C9D8-A6EA-3C12-FD0F-59BF63F311C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559AB01-C930-8139-1748-2990B1358C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C216EB-8E7B-3368-7061-41690A885854}"/>
              </a:ext>
            </a:extLst>
          </p:cNvPr>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248800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8</a:t>
            </a:fld>
            <a:endParaRPr lang="en-US" dirty="0"/>
          </a:p>
        </p:txBody>
      </p:sp>
    </p:spTree>
    <p:extLst>
      <p:ext uri="{BB962C8B-B14F-4D97-AF65-F5344CB8AC3E}">
        <p14:creationId xmlns:p14="http://schemas.microsoft.com/office/powerpoint/2010/main" val="52723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0AF6F-218D-1939-011F-B80CD4FBC8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17A22-C8D5-E6E7-740E-2C563B1D5E0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D59875-036F-9054-690D-C1EE234EC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683B53-A769-005D-C3A1-A9A5B672FA3B}"/>
              </a:ext>
            </a:extLst>
          </p:cNvPr>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4128349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436362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32858-B00F-4922-8BA9-1898DAFCE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6C333-5B4E-BFDD-56E6-7541095E803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FE07C0E-BE5E-A625-AE9C-51065B2211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2EEB85-9697-EA73-CD51-01ED05B68CB6}"/>
              </a:ext>
            </a:extLst>
          </p:cNvPr>
          <p:cNvSpPr>
            <a:spLocks noGrp="1"/>
          </p:cNvSpPr>
          <p:nvPr>
            <p:ph type="sldNum" sz="quarter" idx="5"/>
          </p:nvPr>
        </p:nvSpPr>
        <p:spPr/>
        <p:txBody>
          <a:bodyPr/>
          <a:lstStyle/>
          <a:p>
            <a:fld id="{17732C3C-A191-48C2-A7E8-9C96AF841A7A}" type="slidenum">
              <a:rPr lang="en-US" smtClean="0"/>
              <a:t>11</a:t>
            </a:fld>
            <a:endParaRPr lang="en-US" dirty="0"/>
          </a:p>
        </p:txBody>
      </p:sp>
    </p:spTree>
    <p:extLst>
      <p:ext uri="{BB962C8B-B14F-4D97-AF65-F5344CB8AC3E}">
        <p14:creationId xmlns:p14="http://schemas.microsoft.com/office/powerpoint/2010/main" val="3656727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12</a:t>
            </a:fld>
            <a:endParaRPr lang="en-US" dirty="0"/>
          </a:p>
        </p:txBody>
      </p:sp>
    </p:spTree>
    <p:extLst>
      <p:ext uri="{BB962C8B-B14F-4D97-AF65-F5344CB8AC3E}">
        <p14:creationId xmlns:p14="http://schemas.microsoft.com/office/powerpoint/2010/main" val="973127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88712-C9B9-9DDC-F7AB-3A2832B9C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C6E26-55F0-C9CF-15FA-3435A5B68A9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343E59-D19A-C984-5F0E-3B86DA8743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6F8DD0-E9AC-43EA-7B0E-B0F331BE57DA}"/>
              </a:ext>
            </a:extLst>
          </p:cNvPr>
          <p:cNvSpPr>
            <a:spLocks noGrp="1"/>
          </p:cNvSpPr>
          <p:nvPr>
            <p:ph type="sldNum" sz="quarter" idx="5"/>
          </p:nvPr>
        </p:nvSpPr>
        <p:spPr/>
        <p:txBody>
          <a:bodyPr/>
          <a:lstStyle/>
          <a:p>
            <a:fld id="{17732C3C-A191-48C2-A7E8-9C96AF841A7A}" type="slidenum">
              <a:rPr lang="en-US" smtClean="0"/>
              <a:t>13</a:t>
            </a:fld>
            <a:endParaRPr lang="en-US" dirty="0"/>
          </a:p>
        </p:txBody>
      </p:sp>
    </p:spTree>
    <p:extLst>
      <p:ext uri="{BB962C8B-B14F-4D97-AF65-F5344CB8AC3E}">
        <p14:creationId xmlns:p14="http://schemas.microsoft.com/office/powerpoint/2010/main" val="1895854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03B1-47FF-099F-2D35-C0E71C026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1DFF8-3D87-66AF-786C-95B91557877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BFCAE9A-71BC-ECA4-E939-95236D539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EBBC8C-61BE-72B4-A2E1-EDE6E3F54E31}"/>
              </a:ext>
            </a:extLst>
          </p:cNvPr>
          <p:cNvSpPr>
            <a:spLocks noGrp="1"/>
          </p:cNvSpPr>
          <p:nvPr>
            <p:ph type="sldNum" sz="quarter" idx="5"/>
          </p:nvPr>
        </p:nvSpPr>
        <p:spPr/>
        <p:txBody>
          <a:bodyPr/>
          <a:lstStyle/>
          <a:p>
            <a:fld id="{17732C3C-A191-48C2-A7E8-9C96AF841A7A}" type="slidenum">
              <a:rPr lang="en-US" smtClean="0"/>
              <a:t>14</a:t>
            </a:fld>
            <a:endParaRPr lang="en-US" dirty="0"/>
          </a:p>
        </p:txBody>
      </p:sp>
    </p:spTree>
    <p:extLst>
      <p:ext uri="{BB962C8B-B14F-4D97-AF65-F5344CB8AC3E}">
        <p14:creationId xmlns:p14="http://schemas.microsoft.com/office/powerpoint/2010/main" val="4201911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15</a:t>
            </a:fld>
            <a:endParaRPr lang="en-US" dirty="0"/>
          </a:p>
        </p:txBody>
      </p:sp>
    </p:spTree>
    <p:extLst>
      <p:ext uri="{BB962C8B-B14F-4D97-AF65-F5344CB8AC3E}">
        <p14:creationId xmlns:p14="http://schemas.microsoft.com/office/powerpoint/2010/main" val="744771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16</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6F7BD38-A805-4B2C-9BDF-D56E94387879}" type="datetime1">
              <a:rPr lang="en-US" smtClean="0"/>
              <a:t>4/23/2026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13585275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F7BD38-A805-4B2C-9BDF-D56E94387879}" type="datetime1">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84464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6F7BD38-A805-4B2C-9BDF-D56E94387879}" type="datetime1">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1127420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6F7BD38-A805-4B2C-9BDF-D56E94387879}" type="datetime1">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834101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6F7BD38-A805-4B2C-9BDF-D56E94387879}" type="datetime1">
              <a:rPr lang="en-US" smtClean="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1346976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6F7BD38-A805-4B2C-9BDF-D56E94387879}" type="datetime1">
              <a:rPr lang="en-US" smtClean="0"/>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2706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F7BD38-A805-4B2C-9BDF-D56E94387879}" type="datetime1">
              <a:rPr lang="en-US" smtClean="0"/>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2548473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F7BD38-A805-4B2C-9BDF-D56E94387879}" type="datetime1">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961242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6F7BD38-A805-4B2C-9BDF-D56E94387879}" type="datetime1">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36048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F7BD38-A805-4B2C-9BDF-D56E94387879}" type="datetime1">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665484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6F7BD38-A805-4B2C-9BDF-D56E94387879}" type="datetime1">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456586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9494525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2097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0257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2093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63552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GB"/>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949286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GB"/>
              <a:t>Click icon to add table</a:t>
            </a:r>
            <a:endParaRPr lang="en-US" dirty="0"/>
          </a:p>
        </p:txBody>
      </p:sp>
    </p:spTree>
    <p:extLst>
      <p:ext uri="{BB962C8B-B14F-4D97-AF65-F5344CB8AC3E}">
        <p14:creationId xmlns:p14="http://schemas.microsoft.com/office/powerpoint/2010/main" val="2763404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06636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1765013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GB"/>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6F7BD38-A805-4B2C-9BDF-D56E94387879}" type="datetime1">
              <a:rPr lang="en-US" smtClean="0"/>
              <a:t>4/23/2026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163225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1" r:id="rId16"/>
    <p:sldLayoutId id="2147483713" r:id="rId17"/>
    <p:sldLayoutId id="2147483714" r:id="rId18"/>
    <p:sldLayoutId id="2147483716" r:id="rId19"/>
    <p:sldLayoutId id="2147483717" r:id="rId20"/>
    <p:sldLayoutId id="2147483669" r:id="rId21"/>
    <p:sldLayoutId id="2147483672" r:id="rId22"/>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6F05DDE-5F2C-44F5-BACC-DED4737B1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useBgFill="1">
        <p:nvSpPr>
          <p:cNvPr id="10" name="Rectangle 9">
            <a:extLst>
              <a:ext uri="{FF2B5EF4-FFF2-40B4-BE49-F238E27FC236}">
                <a16:creationId xmlns:a16="http://schemas.microsoft.com/office/drawing/2014/main" id="{1322BCA3-31C1-4329-B0BA-4748F937B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1891293" y="723331"/>
            <a:ext cx="8409414" cy="3875965"/>
          </a:xfrm>
          <a:noFill/>
        </p:spPr>
        <p:txBody>
          <a:bodyPr vert="horz" lIns="91440" tIns="45720" rIns="91440" bIns="45720" rtlCol="0" anchor="ctr">
            <a:normAutofit/>
          </a:bodyPr>
          <a:lstStyle/>
          <a:p>
            <a:pPr lvl="0" algn="l">
              <a:lnSpc>
                <a:spcPct val="85000"/>
              </a:lnSpc>
            </a:pPr>
            <a:r>
              <a:rPr lang="en-US" sz="6000" spc="-50" noProof="0">
                <a:solidFill>
                  <a:schemeClr val="tx2"/>
                </a:solidFill>
              </a:rPr>
              <a:t>Quick Reference Guide for Web Elements</a:t>
            </a:r>
          </a:p>
        </p:txBody>
      </p:sp>
      <p:sp>
        <p:nvSpPr>
          <p:cNvPr id="3" name="TextBox 2">
            <a:extLst>
              <a:ext uri="{FF2B5EF4-FFF2-40B4-BE49-F238E27FC236}">
                <a16:creationId xmlns:a16="http://schemas.microsoft.com/office/drawing/2014/main" id="{F52A396F-77A1-9AA0-1BC9-156846AD5FCE}"/>
              </a:ext>
            </a:extLst>
          </p:cNvPr>
          <p:cNvSpPr txBox="1"/>
          <p:nvPr/>
        </p:nvSpPr>
        <p:spPr>
          <a:xfrm>
            <a:off x="1891291" y="5595582"/>
            <a:ext cx="8409415" cy="896658"/>
          </a:xfrm>
          <a:prstGeom prst="rect">
            <a:avLst/>
          </a:prstGeom>
        </p:spPr>
        <p:txBody>
          <a:bodyPr vert="horz" lIns="91440" tIns="45720" rIns="91440" bIns="45720" rtlCol="0">
            <a:normAutofit/>
          </a:bodyPr>
          <a:lstStyle/>
          <a:p>
            <a:pPr algn="r" defTabSz="914400">
              <a:lnSpc>
                <a:spcPct val="95000"/>
              </a:lnSpc>
              <a:spcBef>
                <a:spcPts val="1400"/>
              </a:spcBef>
              <a:spcAft>
                <a:spcPts val="200"/>
              </a:spcAft>
              <a:buClr>
                <a:schemeClr val="accent1"/>
              </a:buClr>
              <a:buSzPct val="80000"/>
            </a:pPr>
            <a:r>
              <a:rPr lang="en-US" sz="2000" spc="10">
                <a:solidFill>
                  <a:schemeClr val="accent2"/>
                </a:solidFill>
              </a:rPr>
              <a:t>Student No. 40483710</a:t>
            </a:r>
          </a:p>
        </p:txBody>
      </p:sp>
      <p:sp>
        <p:nvSpPr>
          <p:cNvPr id="12" name="Rectangle 11">
            <a:extLst>
              <a:ext uri="{FF2B5EF4-FFF2-40B4-BE49-F238E27FC236}">
                <a16:creationId xmlns:a16="http://schemas.microsoft.com/office/drawing/2014/main" id="{F6C1DD8F-426A-45F7-A524-5569263BE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9916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8D39CD7-AB20-4006-930C-6368406D01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750388" y="5359400"/>
            <a:ext cx="255031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D65D7AA-A0C8-491E-9211-059F0D299A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p:txBody>
          <a:bodyPr/>
          <a:lstStyle/>
          <a:p>
            <a:r>
              <a:rPr lang="en-US" dirty="0">
                <a:solidFill>
                  <a:schemeClr val="bg1"/>
                </a:solidFill>
              </a:rPr>
              <a:t>Contents</a:t>
            </a:r>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77000" y="1982022"/>
            <a:ext cx="4648200" cy="2893955"/>
          </a:xfrm>
        </p:spPr>
        <p:txBody>
          <a:bodyPr/>
          <a:lstStyle/>
          <a:p>
            <a:pPr lvl="0" algn="ctr"/>
            <a:r>
              <a:rPr lang="en-US" noProof="0" dirty="0">
                <a:solidFill>
                  <a:schemeClr val="bg1"/>
                </a:solidFill>
              </a:rPr>
              <a:t>Web Feature Locations</a:t>
            </a:r>
          </a:p>
          <a:p>
            <a:pPr lvl="0" algn="ctr"/>
            <a:r>
              <a:rPr lang="en-US" noProof="0" dirty="0">
                <a:solidFill>
                  <a:schemeClr val="bg1"/>
                </a:solidFill>
              </a:rPr>
              <a:t>CRUD Interactions</a:t>
            </a:r>
          </a:p>
          <a:p>
            <a:pPr lvl="0" algn="ctr"/>
            <a:r>
              <a:rPr lang="en-US" noProof="0" dirty="0">
                <a:solidFill>
                  <a:schemeClr val="bg1"/>
                </a:solidFill>
              </a:rPr>
              <a:t>Parameterised Reports/Charts</a:t>
            </a:r>
          </a:p>
          <a:p>
            <a:pPr lvl="0" algn="ctr"/>
            <a:r>
              <a:rPr lang="en-US" dirty="0">
                <a:solidFill>
                  <a:schemeClr val="bg1"/>
                </a:solidFill>
              </a:rPr>
              <a:t>Dynamic Data Retrieval</a:t>
            </a:r>
          </a:p>
          <a:p>
            <a:pPr lvl="0" algn="ctr"/>
            <a:r>
              <a:rPr lang="en-US" noProof="0" dirty="0">
                <a:solidFill>
                  <a:schemeClr val="bg1"/>
                </a:solidFill>
              </a:rPr>
              <a:t>User Feedback and Confirmations</a:t>
            </a:r>
          </a:p>
          <a:p>
            <a:pPr lvl="0" algn="ctr"/>
            <a:r>
              <a:rPr lang="en-US" dirty="0">
                <a:solidFill>
                  <a:schemeClr val="bg1"/>
                </a:solidFill>
              </a:rPr>
              <a:t>Error Handling</a:t>
            </a:r>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ECDD0-17F6-3312-AE6D-F7EB95E46C02}"/>
              </a:ext>
            </a:extLst>
          </p:cNvPr>
          <p:cNvSpPr>
            <a:spLocks noGrp="1"/>
          </p:cNvSpPr>
          <p:nvPr>
            <p:ph type="title"/>
          </p:nvPr>
        </p:nvSpPr>
        <p:spPr/>
        <p:txBody>
          <a:bodyPr/>
          <a:lstStyle/>
          <a:p>
            <a:r>
              <a:rPr lang="en-US" dirty="0">
                <a:solidFill>
                  <a:schemeClr val="bg1"/>
                </a:solidFill>
              </a:rPr>
              <a:t>Directory Structure</a:t>
            </a:r>
          </a:p>
        </p:txBody>
      </p:sp>
      <p:sp>
        <p:nvSpPr>
          <p:cNvPr id="3" name="Content Placeholder 2">
            <a:extLst>
              <a:ext uri="{FF2B5EF4-FFF2-40B4-BE49-F238E27FC236}">
                <a16:creationId xmlns:a16="http://schemas.microsoft.com/office/drawing/2014/main" id="{EB336AA5-9DDA-DA9A-5469-6885A5A84D1D}"/>
              </a:ext>
            </a:extLst>
          </p:cNvPr>
          <p:cNvSpPr>
            <a:spLocks noGrp="1"/>
          </p:cNvSpPr>
          <p:nvPr>
            <p:ph sz="quarter" idx="10"/>
          </p:nvPr>
        </p:nvSpPr>
        <p:spPr>
          <a:xfrm>
            <a:off x="5243129" y="614772"/>
            <a:ext cx="3125669" cy="5471491"/>
          </a:xfrm>
        </p:spPr>
        <p:txBody>
          <a:bodyPr>
            <a:noAutofit/>
          </a:bodyPr>
          <a:lstStyle/>
          <a:p>
            <a:r>
              <a:rPr lang="en-GB" sz="950" dirty="0"/>
              <a:t>Group03/</a:t>
            </a:r>
          </a:p>
          <a:p>
            <a:r>
              <a:rPr lang="en-GB" sz="950" dirty="0"/>
              <a:t>├── Database/</a:t>
            </a:r>
          </a:p>
          <a:p>
            <a:r>
              <a:rPr lang="en-GB" sz="950" dirty="0"/>
              <a:t>│   ├── create.sql</a:t>
            </a:r>
          </a:p>
          <a:p>
            <a:r>
              <a:rPr lang="en-GB" sz="950" dirty="0"/>
              <a:t>│   └── insert.sql</a:t>
            </a:r>
          </a:p>
          <a:p>
            <a:r>
              <a:rPr lang="en-GB" sz="950" dirty="0"/>
              <a:t>├── Web App/</a:t>
            </a:r>
          </a:p>
          <a:p>
            <a:r>
              <a:rPr lang="en-GB" sz="950" dirty="0"/>
              <a:t>│   ├── HTML</a:t>
            </a:r>
          </a:p>
          <a:p>
            <a:r>
              <a:rPr lang="en-GB" sz="950" dirty="0"/>
              <a:t>│   ├── CSS</a:t>
            </a:r>
          </a:p>
          <a:p>
            <a:r>
              <a:rPr lang="en-GB" sz="950" dirty="0"/>
              <a:t>│   └── JavaScript</a:t>
            </a:r>
          </a:p>
          <a:p>
            <a:r>
              <a:rPr lang="en-GB" sz="950" dirty="0"/>
              <a:t>├── Database_Technical_Documentation.docx</a:t>
            </a:r>
          </a:p>
          <a:p>
            <a:r>
              <a:rPr lang="en-GB" sz="950" dirty="0"/>
              <a:t>├── Group_System_Video.mp4</a:t>
            </a:r>
          </a:p>
          <a:p>
            <a:r>
              <a:rPr lang="en-GB" sz="950" dirty="0"/>
              <a:t>│</a:t>
            </a:r>
          </a:p>
          <a:p>
            <a:r>
              <a:rPr lang="en-GB" sz="950" dirty="0"/>
              <a:t>├── Work_Breakdown_Table.docx</a:t>
            </a:r>
          </a:p>
          <a:p>
            <a:r>
              <a:rPr lang="en-GB" sz="950" dirty="0"/>
              <a:t>│</a:t>
            </a:r>
          </a:p>
          <a:p>
            <a:r>
              <a:rPr lang="en-GB" sz="950" dirty="0"/>
              <a:t>├── StudentID_40483010/</a:t>
            </a:r>
          </a:p>
          <a:p>
            <a:r>
              <a:rPr lang="en-GB" sz="950" dirty="0"/>
              <a:t>│   ├── 40483010 _Design_Spec.docx</a:t>
            </a:r>
          </a:p>
          <a:p>
            <a:r>
              <a:rPr lang="en-GB" sz="950" dirty="0"/>
              <a:t>│   ├── 40483010 _reports.sql</a:t>
            </a:r>
          </a:p>
          <a:p>
            <a:r>
              <a:rPr lang="en-GB" sz="950" dirty="0"/>
              <a:t>│   ├── 40483010 _Web_Reference_PPT.pptx</a:t>
            </a:r>
          </a:p>
          <a:p>
            <a:r>
              <a:rPr lang="en-GB" sz="950" dirty="0"/>
              <a:t>│   ├── 40483010 _Individual_Video.mp4</a:t>
            </a:r>
          </a:p>
          <a:p>
            <a:r>
              <a:rPr lang="en-GB" sz="950" dirty="0"/>
              <a:t>│   └── 40483010 _GenAi_Log.docx</a:t>
            </a:r>
          </a:p>
          <a:p>
            <a:r>
              <a:rPr lang="en-GB" sz="950" dirty="0"/>
              <a:t>├── StudentID_40487649/</a:t>
            </a:r>
          </a:p>
          <a:p>
            <a:r>
              <a:rPr lang="en-GB" sz="950" dirty="0"/>
              <a:t>│   ├── 40487649 _Design_Spec.docx</a:t>
            </a:r>
          </a:p>
          <a:p>
            <a:r>
              <a:rPr lang="en-GB" sz="950" dirty="0"/>
              <a:t>│   ├── 40487649 _ reports.sql</a:t>
            </a:r>
          </a:p>
          <a:p>
            <a:r>
              <a:rPr lang="en-GB" sz="950" dirty="0"/>
              <a:t>│   ├── 40487649 _Web_Reference_PPT.pptx</a:t>
            </a:r>
          </a:p>
          <a:p>
            <a:r>
              <a:rPr lang="en-GB" sz="950" dirty="0"/>
              <a:t>│   ├── 40487649 _Individual_Video.mp4</a:t>
            </a:r>
          </a:p>
          <a:p>
            <a:r>
              <a:rPr lang="en-GB" sz="950" dirty="0"/>
              <a:t>│   └── 40487649 _GenAi_Log.docx</a:t>
            </a:r>
          </a:p>
        </p:txBody>
      </p:sp>
      <p:sp>
        <p:nvSpPr>
          <p:cNvPr id="4" name="Content Placeholder 2">
            <a:extLst>
              <a:ext uri="{FF2B5EF4-FFF2-40B4-BE49-F238E27FC236}">
                <a16:creationId xmlns:a16="http://schemas.microsoft.com/office/drawing/2014/main" id="{35B5FF58-3B39-E306-36A7-D4AC5F3EC69F}"/>
              </a:ext>
            </a:extLst>
          </p:cNvPr>
          <p:cNvSpPr txBox="1">
            <a:spLocks/>
          </p:cNvSpPr>
          <p:nvPr/>
        </p:nvSpPr>
        <p:spPr>
          <a:xfrm>
            <a:off x="8454038" y="924339"/>
            <a:ext cx="2829146" cy="4852359"/>
          </a:xfrm>
          <a:prstGeom prst="rect">
            <a:avLst/>
          </a:prstGeom>
          <a:effectLst/>
        </p:spPr>
        <p:txBody>
          <a:bodyPr vert="horz" lIns="0" tIns="45720" rIns="0" bIns="45720" rtlCol="0" anchor="ctr">
            <a:noAutofit/>
          </a:bodyPr>
          <a:lstStyle>
            <a:lvl1pPr marL="0" indent="0" algn="l" defTabSz="457200" rtl="0" eaLnBrk="1" latinLnBrk="0" hangingPunct="1">
              <a:lnSpc>
                <a:spcPct val="150000"/>
              </a:lnSpc>
              <a:spcBef>
                <a:spcPts val="0"/>
              </a:spcBef>
              <a:spcAft>
                <a:spcPts val="0"/>
              </a:spcAft>
              <a:buClr>
                <a:schemeClr val="accent1">
                  <a:lumMod val="50000"/>
                </a:schemeClr>
              </a:buClr>
              <a:buFont typeface="Arial" panose="020B0604020202020204" pitchFamily="34" charset="0"/>
              <a:buNone/>
              <a:defRPr sz="1800" kern="1200">
                <a:ln>
                  <a:noFill/>
                </a:ln>
                <a:solidFill>
                  <a:schemeClr val="accent1">
                    <a:lumMod val="50000"/>
                  </a:schemeClr>
                </a:solidFill>
                <a:effectLst/>
                <a:latin typeface="+mn-lt"/>
                <a:ea typeface="+mn-ea"/>
                <a:cs typeface="+mn-cs"/>
              </a:defRPr>
            </a:lvl1pPr>
            <a:lvl2pPr marL="457200" indent="0" algn="l" defTabSz="457200" rtl="0" eaLnBrk="1" latinLnBrk="0" hangingPunct="1">
              <a:lnSpc>
                <a:spcPct val="150000"/>
              </a:lnSpc>
              <a:spcBef>
                <a:spcPct val="20000"/>
              </a:spcBef>
              <a:spcAft>
                <a:spcPts val="0"/>
              </a:spcAft>
              <a:buClr>
                <a:schemeClr val="accent1">
                  <a:lumMod val="50000"/>
                </a:schemeClr>
              </a:buClr>
              <a:buFont typeface="Arial" panose="020B0604020202020204" pitchFamily="34" charset="0"/>
              <a:buNone/>
              <a:defRPr sz="1600" kern="1200">
                <a:ln>
                  <a:noFill/>
                </a:ln>
                <a:solidFill>
                  <a:schemeClr val="accent1">
                    <a:lumMod val="50000"/>
                  </a:schemeClr>
                </a:solidFill>
                <a:effectLst/>
                <a:latin typeface="+mn-lt"/>
                <a:ea typeface="+mn-ea"/>
                <a:cs typeface="+mn-cs"/>
              </a:defRPr>
            </a:lvl2pPr>
            <a:lvl3pPr marL="914400" indent="0" algn="l" defTabSz="457200" rtl="0" eaLnBrk="1" latinLnBrk="0" hangingPunct="1">
              <a:lnSpc>
                <a:spcPct val="150000"/>
              </a:lnSpc>
              <a:spcBef>
                <a:spcPct val="20000"/>
              </a:spcBef>
              <a:spcAft>
                <a:spcPts val="0"/>
              </a:spcAft>
              <a:buClr>
                <a:schemeClr val="accent1">
                  <a:lumMod val="50000"/>
                </a:schemeClr>
              </a:buClr>
              <a:buFont typeface="Arial" panose="020B0604020202020204" pitchFamily="34" charset="0"/>
              <a:buNone/>
              <a:defRPr sz="1400" kern="1200">
                <a:ln>
                  <a:noFill/>
                </a:ln>
                <a:solidFill>
                  <a:schemeClr val="accent1">
                    <a:lumMod val="50000"/>
                  </a:schemeClr>
                </a:solidFill>
                <a:effectLst/>
                <a:latin typeface="+mn-lt"/>
                <a:ea typeface="+mn-ea"/>
                <a:cs typeface="+mn-cs"/>
              </a:defRPr>
            </a:lvl3pPr>
            <a:lvl4pPr marL="1371600" indent="0" algn="l" defTabSz="457200" rtl="0" eaLnBrk="1" latinLnBrk="0" hangingPunct="1">
              <a:lnSpc>
                <a:spcPct val="150000"/>
              </a:lnSpc>
              <a:spcBef>
                <a:spcPct val="20000"/>
              </a:spcBef>
              <a:spcAft>
                <a:spcPts val="0"/>
              </a:spcAft>
              <a:buClr>
                <a:schemeClr val="accent1">
                  <a:lumMod val="50000"/>
                </a:schemeClr>
              </a:buClr>
              <a:buFont typeface="Arial" panose="020B0604020202020204" pitchFamily="34" charset="0"/>
              <a:buNone/>
              <a:defRPr sz="1200" kern="1200">
                <a:ln>
                  <a:noFill/>
                </a:ln>
                <a:solidFill>
                  <a:schemeClr val="accent1">
                    <a:lumMod val="50000"/>
                  </a:schemeClr>
                </a:solidFill>
                <a:effectLst/>
                <a:latin typeface="+mn-lt"/>
                <a:ea typeface="+mn-ea"/>
                <a:cs typeface="+mn-cs"/>
              </a:defRPr>
            </a:lvl4pPr>
            <a:lvl5pPr marL="1828800" indent="0" algn="l" defTabSz="457200" rtl="0" eaLnBrk="1" latinLnBrk="0" hangingPunct="1">
              <a:lnSpc>
                <a:spcPct val="150000"/>
              </a:lnSpc>
              <a:spcBef>
                <a:spcPct val="20000"/>
              </a:spcBef>
              <a:spcAft>
                <a:spcPts val="0"/>
              </a:spcAft>
              <a:buClr>
                <a:schemeClr val="accent1">
                  <a:lumMod val="50000"/>
                </a:schemeClr>
              </a:buClr>
              <a:buFont typeface="Arial" panose="020B0604020202020204" pitchFamily="34" charset="0"/>
              <a:buNone/>
              <a:defRPr sz="1200" kern="1200">
                <a:ln>
                  <a:noFill/>
                </a:ln>
                <a:solidFill>
                  <a:schemeClr val="accent1">
                    <a:lumMod val="50000"/>
                  </a:schemeClr>
                </a:solidFill>
                <a:effectLst/>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GB" sz="950" dirty="0"/>
              <a:t>└── StudentID_40486524/</a:t>
            </a:r>
          </a:p>
          <a:p>
            <a:r>
              <a:rPr lang="en-GB" sz="950" dirty="0"/>
              <a:t>    ├── 40486524 _Design_Spec.docx</a:t>
            </a:r>
          </a:p>
          <a:p>
            <a:r>
              <a:rPr lang="en-GB" sz="950" dirty="0"/>
              <a:t>    ├── 40486524 _ reports.sql</a:t>
            </a:r>
          </a:p>
          <a:p>
            <a:r>
              <a:rPr lang="en-GB" sz="950" dirty="0"/>
              <a:t>    ├── 40486524 _Web_Reference_PPT.pptx</a:t>
            </a:r>
          </a:p>
          <a:p>
            <a:r>
              <a:rPr lang="en-GB" sz="950" dirty="0"/>
              <a:t>    ├── 40486524 _Individual_Video.mp4</a:t>
            </a:r>
          </a:p>
          <a:p>
            <a:r>
              <a:rPr lang="en-GB" sz="950" dirty="0"/>
              <a:t>    └── 40486524 _GenAi_Log.docx</a:t>
            </a:r>
          </a:p>
          <a:p>
            <a:r>
              <a:rPr lang="en-GB" sz="950" dirty="0"/>
              <a:t>├── StudentID_40479966/</a:t>
            </a:r>
          </a:p>
          <a:p>
            <a:r>
              <a:rPr lang="en-GB" sz="950" dirty="0"/>
              <a:t>│   ├── 40479966 _Design_Spec.docx</a:t>
            </a:r>
          </a:p>
          <a:p>
            <a:r>
              <a:rPr lang="en-GB" sz="950" dirty="0"/>
              <a:t>│   ├── 40479966 _ reports.sql</a:t>
            </a:r>
          </a:p>
          <a:p>
            <a:r>
              <a:rPr lang="en-GB" sz="950" dirty="0"/>
              <a:t>│   ├── 40479966 _Web_Reference_PPT.pptx</a:t>
            </a:r>
          </a:p>
          <a:p>
            <a:r>
              <a:rPr lang="en-GB" sz="950" dirty="0"/>
              <a:t>│   ├── 40479966 _Individual_Video.mp4</a:t>
            </a:r>
          </a:p>
          <a:p>
            <a:r>
              <a:rPr lang="en-GB" sz="950" dirty="0"/>
              <a:t>│   └── 40479966 _GenAi_Log.docx</a:t>
            </a:r>
          </a:p>
          <a:p>
            <a:r>
              <a:rPr lang="en-GB" sz="950" dirty="0"/>
              <a:t>└── StudentID_40479969/</a:t>
            </a:r>
          </a:p>
          <a:p>
            <a:r>
              <a:rPr lang="en-GB" sz="950" dirty="0"/>
              <a:t>    ├── 40479969 _Design_Spec.docx</a:t>
            </a:r>
          </a:p>
          <a:p>
            <a:r>
              <a:rPr lang="en-GB" sz="950" dirty="0"/>
              <a:t>    ├── 40479969 _ reports.sql</a:t>
            </a:r>
          </a:p>
          <a:p>
            <a:r>
              <a:rPr lang="en-GB" sz="950" dirty="0"/>
              <a:t>    ├── 40479969 _Web_Reference_PPT.pptx</a:t>
            </a:r>
          </a:p>
          <a:p>
            <a:r>
              <a:rPr lang="en-GB" sz="950" dirty="0"/>
              <a:t>    ├── 40479969 _Individual_Video.mp4</a:t>
            </a:r>
          </a:p>
          <a:p>
            <a:r>
              <a:rPr lang="en-GB" sz="950" dirty="0"/>
              <a:t>    └── 40479969 _GenAi_Log.docx</a:t>
            </a:r>
          </a:p>
        </p:txBody>
      </p:sp>
    </p:spTree>
    <p:extLst>
      <p:ext uri="{BB962C8B-B14F-4D97-AF65-F5344CB8AC3E}">
        <p14:creationId xmlns:p14="http://schemas.microsoft.com/office/powerpoint/2010/main" val="95907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646172" y="566825"/>
            <a:ext cx="3794092" cy="1322991"/>
          </a:xfrm>
        </p:spPr>
        <p:txBody>
          <a:bodyPr/>
          <a:lstStyle/>
          <a:p>
            <a:r>
              <a:rPr lang="en-US" dirty="0"/>
              <a:t>Internal Add</a:t>
            </a:r>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805285" y="1756510"/>
            <a:ext cx="3475865" cy="4014842"/>
          </a:xfrm>
        </p:spPr>
        <p:txBody>
          <a:bodyPr/>
          <a:lstStyle/>
          <a:p>
            <a:pPr lvl="0"/>
            <a:r>
              <a:rPr lang="en-US" dirty="0"/>
              <a:t>Created add capabilities: HTML and JavaScript.</a:t>
            </a:r>
          </a:p>
          <a:p>
            <a:pPr lvl="0"/>
            <a:r>
              <a:rPr lang="en-US" noProof="0" dirty="0"/>
              <a:t>Incorporated client-side validation using ‘type of</a:t>
            </a:r>
            <a:r>
              <a:rPr lang="en-US" dirty="0"/>
              <a:t>’</a:t>
            </a:r>
            <a:r>
              <a:rPr lang="en-US" noProof="0" dirty="0"/>
              <a:t> and parameter restraints.</a:t>
            </a:r>
          </a:p>
          <a:p>
            <a:pPr lvl="0"/>
            <a:r>
              <a:rPr lang="en-US" dirty="0"/>
              <a:t>Cleaned and converted values to ensure validation runs smoothly.</a:t>
            </a:r>
            <a:endParaRPr lang="en-US" noProof="0" dirty="0"/>
          </a:p>
        </p:txBody>
      </p:sp>
      <p:sp>
        <p:nvSpPr>
          <p:cNvPr id="3" name="Content Placeholder 2">
            <a:extLst>
              <a:ext uri="{FF2B5EF4-FFF2-40B4-BE49-F238E27FC236}">
                <a16:creationId xmlns:a16="http://schemas.microsoft.com/office/drawing/2014/main" id="{64DF893B-F586-5F4A-D243-03AA42E1C741}"/>
              </a:ext>
            </a:extLst>
          </p:cNvPr>
          <p:cNvSpPr>
            <a:spLocks noGrp="1"/>
          </p:cNvSpPr>
          <p:nvPr>
            <p:ph sz="quarter" idx="10"/>
          </p:nvPr>
        </p:nvSpPr>
        <p:spPr>
          <a:xfrm>
            <a:off x="4973589" y="717192"/>
            <a:ext cx="2635827" cy="564880"/>
          </a:xfrm>
        </p:spPr>
        <p:txBody>
          <a:bodyPr/>
          <a:lstStyle/>
          <a:p>
            <a:pPr marL="0" indent="0" algn="ctr">
              <a:buNone/>
            </a:pPr>
            <a:r>
              <a:rPr lang="en-US" u="sng" dirty="0">
                <a:solidFill>
                  <a:schemeClr val="bg1"/>
                </a:solidFill>
              </a:rPr>
              <a:t>Ex. Adding a coach:</a:t>
            </a:r>
            <a:endParaRPr lang="en-GB" u="sng" dirty="0">
              <a:solidFill>
                <a:schemeClr val="bg1"/>
              </a:solidFill>
            </a:endParaRPr>
          </a:p>
        </p:txBody>
      </p:sp>
      <p:pic>
        <p:nvPicPr>
          <p:cNvPr id="24" name="Picture 23">
            <a:extLst>
              <a:ext uri="{FF2B5EF4-FFF2-40B4-BE49-F238E27FC236}">
                <a16:creationId xmlns:a16="http://schemas.microsoft.com/office/drawing/2014/main" id="{410B3D36-09F6-70D6-303C-F295BF44710A}"/>
              </a:ext>
            </a:extLst>
          </p:cNvPr>
          <p:cNvPicPr>
            <a:picLocks noChangeAspect="1"/>
          </p:cNvPicPr>
          <p:nvPr/>
        </p:nvPicPr>
        <p:blipFill>
          <a:blip r:embed="rId3"/>
          <a:stretch>
            <a:fillRect/>
          </a:stretch>
        </p:blipFill>
        <p:spPr>
          <a:xfrm>
            <a:off x="6455713" y="1796743"/>
            <a:ext cx="3044065" cy="690769"/>
          </a:xfrm>
          <a:prstGeom prst="rect">
            <a:avLst/>
          </a:prstGeom>
          <a:ln>
            <a:solidFill>
              <a:srgbClr val="FFFFFF"/>
            </a:solidFill>
          </a:ln>
        </p:spPr>
      </p:pic>
      <p:pic>
        <p:nvPicPr>
          <p:cNvPr id="26" name="Picture 25">
            <a:extLst>
              <a:ext uri="{FF2B5EF4-FFF2-40B4-BE49-F238E27FC236}">
                <a16:creationId xmlns:a16="http://schemas.microsoft.com/office/drawing/2014/main" id="{3248D8A0-F69A-F28E-776E-CE1A7AB1C2A4}"/>
              </a:ext>
            </a:extLst>
          </p:cNvPr>
          <p:cNvPicPr>
            <a:picLocks noChangeAspect="1"/>
          </p:cNvPicPr>
          <p:nvPr/>
        </p:nvPicPr>
        <p:blipFill>
          <a:blip r:embed="rId4"/>
          <a:stretch>
            <a:fillRect/>
          </a:stretch>
        </p:blipFill>
        <p:spPr>
          <a:xfrm>
            <a:off x="4845280" y="3104195"/>
            <a:ext cx="6616998" cy="194099"/>
          </a:xfrm>
          <a:prstGeom prst="rect">
            <a:avLst/>
          </a:prstGeom>
          <a:ln>
            <a:solidFill>
              <a:srgbClr val="FFFFFF"/>
            </a:solidFill>
          </a:ln>
        </p:spPr>
      </p:pic>
      <p:pic>
        <p:nvPicPr>
          <p:cNvPr id="30" name="Picture 29">
            <a:extLst>
              <a:ext uri="{FF2B5EF4-FFF2-40B4-BE49-F238E27FC236}">
                <a16:creationId xmlns:a16="http://schemas.microsoft.com/office/drawing/2014/main" id="{78866D5C-C65E-F0CC-D878-8690E3B1A4F0}"/>
              </a:ext>
            </a:extLst>
          </p:cNvPr>
          <p:cNvPicPr>
            <a:picLocks noChangeAspect="1"/>
          </p:cNvPicPr>
          <p:nvPr/>
        </p:nvPicPr>
        <p:blipFill>
          <a:blip r:embed="rId5"/>
          <a:stretch>
            <a:fillRect/>
          </a:stretch>
        </p:blipFill>
        <p:spPr>
          <a:xfrm>
            <a:off x="5895942" y="4094298"/>
            <a:ext cx="4745865" cy="571791"/>
          </a:xfrm>
          <a:prstGeom prst="rect">
            <a:avLst/>
          </a:prstGeom>
          <a:ln>
            <a:solidFill>
              <a:srgbClr val="FFFFFF"/>
            </a:solidFill>
          </a:ln>
        </p:spPr>
      </p:pic>
      <p:pic>
        <p:nvPicPr>
          <p:cNvPr id="32" name="Picture 31">
            <a:extLst>
              <a:ext uri="{FF2B5EF4-FFF2-40B4-BE49-F238E27FC236}">
                <a16:creationId xmlns:a16="http://schemas.microsoft.com/office/drawing/2014/main" id="{EE7117B3-28A2-FB60-7306-97BA2ED7E01D}"/>
              </a:ext>
            </a:extLst>
          </p:cNvPr>
          <p:cNvPicPr>
            <a:picLocks noChangeAspect="1"/>
          </p:cNvPicPr>
          <p:nvPr/>
        </p:nvPicPr>
        <p:blipFill>
          <a:blip r:embed="rId6"/>
          <a:stretch>
            <a:fillRect/>
          </a:stretch>
        </p:blipFill>
        <p:spPr>
          <a:xfrm>
            <a:off x="6771066" y="5246157"/>
            <a:ext cx="2637665" cy="539660"/>
          </a:xfrm>
          <a:prstGeom prst="rect">
            <a:avLst/>
          </a:prstGeom>
          <a:ln>
            <a:solidFill>
              <a:srgbClr val="FFFFFF"/>
            </a:solidFill>
          </a:ln>
        </p:spPr>
      </p:pic>
      <p:sp>
        <p:nvSpPr>
          <p:cNvPr id="33" name="Content Placeholder 2">
            <a:extLst>
              <a:ext uri="{FF2B5EF4-FFF2-40B4-BE49-F238E27FC236}">
                <a16:creationId xmlns:a16="http://schemas.microsoft.com/office/drawing/2014/main" id="{2F552A12-A74D-DC00-8628-514255248743}"/>
              </a:ext>
            </a:extLst>
          </p:cNvPr>
          <p:cNvSpPr txBox="1">
            <a:spLocks/>
          </p:cNvSpPr>
          <p:nvPr/>
        </p:nvSpPr>
        <p:spPr>
          <a:xfrm>
            <a:off x="6511342" y="1009163"/>
            <a:ext cx="3157114" cy="82227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1. Ensure the coach is an object.</a:t>
            </a:r>
            <a:endParaRPr lang="en-GB" sz="1400" dirty="0">
              <a:solidFill>
                <a:schemeClr val="bg1"/>
              </a:solidFill>
            </a:endParaRPr>
          </a:p>
        </p:txBody>
      </p:sp>
      <p:sp>
        <p:nvSpPr>
          <p:cNvPr id="34" name="Content Placeholder 2">
            <a:extLst>
              <a:ext uri="{FF2B5EF4-FFF2-40B4-BE49-F238E27FC236}">
                <a16:creationId xmlns:a16="http://schemas.microsoft.com/office/drawing/2014/main" id="{71E4E421-826B-552C-90D6-FC8FE11558A0}"/>
              </a:ext>
            </a:extLst>
          </p:cNvPr>
          <p:cNvSpPr txBox="1">
            <a:spLocks/>
          </p:cNvSpPr>
          <p:nvPr/>
        </p:nvSpPr>
        <p:spPr>
          <a:xfrm>
            <a:off x="4881778" y="2400563"/>
            <a:ext cx="6580500" cy="82227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2. If a coach is a String object, trim the corresponding field of whitespace.</a:t>
            </a:r>
            <a:endParaRPr lang="en-GB" sz="1400" dirty="0">
              <a:solidFill>
                <a:schemeClr val="bg1"/>
              </a:solidFill>
            </a:endParaRPr>
          </a:p>
        </p:txBody>
      </p:sp>
      <p:sp>
        <p:nvSpPr>
          <p:cNvPr id="35" name="Content Placeholder 2">
            <a:extLst>
              <a:ext uri="{FF2B5EF4-FFF2-40B4-BE49-F238E27FC236}">
                <a16:creationId xmlns:a16="http://schemas.microsoft.com/office/drawing/2014/main" id="{0F2AF5DF-8F9E-56F3-6380-5CFB4B455B2F}"/>
              </a:ext>
            </a:extLst>
          </p:cNvPr>
          <p:cNvSpPr txBox="1">
            <a:spLocks/>
          </p:cNvSpPr>
          <p:nvPr/>
        </p:nvSpPr>
        <p:spPr>
          <a:xfrm>
            <a:off x="4898979" y="3411606"/>
            <a:ext cx="6563299" cy="571792"/>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3. Using binary operators, determine if the parameter is valid.</a:t>
            </a:r>
            <a:endParaRPr lang="en-GB" sz="1400" dirty="0">
              <a:solidFill>
                <a:schemeClr val="bg1"/>
              </a:solidFill>
            </a:endParaRPr>
          </a:p>
        </p:txBody>
      </p:sp>
      <p:sp>
        <p:nvSpPr>
          <p:cNvPr id="36" name="Content Placeholder 2">
            <a:extLst>
              <a:ext uri="{FF2B5EF4-FFF2-40B4-BE49-F238E27FC236}">
                <a16:creationId xmlns:a16="http://schemas.microsoft.com/office/drawing/2014/main" id="{A11E51B8-5018-0902-9D60-C63F6243353B}"/>
              </a:ext>
            </a:extLst>
          </p:cNvPr>
          <p:cNvSpPr txBox="1">
            <a:spLocks/>
          </p:cNvSpPr>
          <p:nvPr/>
        </p:nvSpPr>
        <p:spPr>
          <a:xfrm>
            <a:off x="4973589" y="4528922"/>
            <a:ext cx="6638863" cy="82227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4. Handle any punctuation that could cause syntax errors.</a:t>
            </a:r>
            <a:endParaRPr lang="en-GB" sz="1400" dirty="0">
              <a:solidFill>
                <a:schemeClr val="bg1"/>
              </a:solidFill>
            </a:endParaRPr>
          </a:p>
        </p:txBody>
      </p:sp>
      <p:sp>
        <p:nvSpPr>
          <p:cNvPr id="37" name="Rectangle 36">
            <a:extLst>
              <a:ext uri="{FF2B5EF4-FFF2-40B4-BE49-F238E27FC236}">
                <a16:creationId xmlns:a16="http://schemas.microsoft.com/office/drawing/2014/main" id="{94AB5634-A181-C8F9-0777-6DAA93B24AED}"/>
              </a:ext>
            </a:extLst>
          </p:cNvPr>
          <p:cNvSpPr/>
          <p:nvPr/>
        </p:nvSpPr>
        <p:spPr>
          <a:xfrm>
            <a:off x="7500050" y="1976945"/>
            <a:ext cx="437620" cy="158751"/>
          </a:xfrm>
          <a:prstGeom prst="rect">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39" name="Rectangle 38">
            <a:extLst>
              <a:ext uri="{FF2B5EF4-FFF2-40B4-BE49-F238E27FC236}">
                <a16:creationId xmlns:a16="http://schemas.microsoft.com/office/drawing/2014/main" id="{F711E8AA-03B0-A3B4-5118-CC94D9BB82FA}"/>
              </a:ext>
            </a:extLst>
          </p:cNvPr>
          <p:cNvSpPr/>
          <p:nvPr/>
        </p:nvSpPr>
        <p:spPr>
          <a:xfrm>
            <a:off x="6112933" y="4142199"/>
            <a:ext cx="2992967" cy="194099"/>
          </a:xfrm>
          <a:prstGeom prst="rect">
            <a:avLst/>
          </a:pr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Tree>
    <p:extLst>
      <p:ext uri="{BB962C8B-B14F-4D97-AF65-F5344CB8AC3E}">
        <p14:creationId xmlns:p14="http://schemas.microsoft.com/office/powerpoint/2010/main" val="4104434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99329-90ED-67E1-760D-7DE6C4E3074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97BFAD-2A21-554A-384E-2A41EE764112}"/>
              </a:ext>
            </a:extLst>
          </p:cNvPr>
          <p:cNvSpPr>
            <a:spLocks noGrp="1"/>
          </p:cNvSpPr>
          <p:nvPr>
            <p:ph type="title"/>
          </p:nvPr>
        </p:nvSpPr>
        <p:spPr>
          <a:xfrm>
            <a:off x="646172" y="566825"/>
            <a:ext cx="3794092" cy="1322991"/>
          </a:xfrm>
        </p:spPr>
        <p:txBody>
          <a:bodyPr/>
          <a:lstStyle/>
          <a:p>
            <a:r>
              <a:rPr lang="en-US" dirty="0"/>
              <a:t>External Add</a:t>
            </a:r>
          </a:p>
        </p:txBody>
      </p:sp>
      <p:sp>
        <p:nvSpPr>
          <p:cNvPr id="7" name="Content Placeholder 6">
            <a:extLst>
              <a:ext uri="{FF2B5EF4-FFF2-40B4-BE49-F238E27FC236}">
                <a16:creationId xmlns:a16="http://schemas.microsoft.com/office/drawing/2014/main" id="{A3690844-9641-7313-D52E-0CEEDE811DD8}"/>
              </a:ext>
            </a:extLst>
          </p:cNvPr>
          <p:cNvSpPr>
            <a:spLocks noGrp="1"/>
          </p:cNvSpPr>
          <p:nvPr>
            <p:ph sz="quarter" idx="11"/>
          </p:nvPr>
        </p:nvSpPr>
        <p:spPr>
          <a:xfrm>
            <a:off x="805286" y="1861231"/>
            <a:ext cx="3475865" cy="4014842"/>
          </a:xfrm>
        </p:spPr>
        <p:txBody>
          <a:bodyPr/>
          <a:lstStyle/>
          <a:p>
            <a:pPr lvl="0"/>
            <a:r>
              <a:rPr lang="en-US" dirty="0"/>
              <a:t>Formatted using tables and CSS styling.</a:t>
            </a:r>
          </a:p>
          <a:p>
            <a:pPr lvl="0"/>
            <a:r>
              <a:rPr lang="en-US" noProof="0" dirty="0"/>
              <a:t>Visually cued use</a:t>
            </a:r>
            <a:r>
              <a:rPr lang="en-US" dirty="0" err="1"/>
              <a:t>rs</a:t>
            </a:r>
            <a:r>
              <a:rPr lang="en-US" dirty="0"/>
              <a:t> to indicate whether operations were successful.</a:t>
            </a:r>
            <a:endParaRPr lang="en-US" noProof="0" dirty="0"/>
          </a:p>
          <a:p>
            <a:pPr lvl="0"/>
            <a:r>
              <a:rPr lang="en-US" dirty="0"/>
              <a:t>Improved user experience with the layout of elements.</a:t>
            </a:r>
            <a:endParaRPr lang="en-US" noProof="0" dirty="0"/>
          </a:p>
        </p:txBody>
      </p:sp>
      <p:sp>
        <p:nvSpPr>
          <p:cNvPr id="3" name="Content Placeholder 2">
            <a:extLst>
              <a:ext uri="{FF2B5EF4-FFF2-40B4-BE49-F238E27FC236}">
                <a16:creationId xmlns:a16="http://schemas.microsoft.com/office/drawing/2014/main" id="{6854438B-9703-7FA9-50CB-6988A1B6A496}"/>
              </a:ext>
            </a:extLst>
          </p:cNvPr>
          <p:cNvSpPr>
            <a:spLocks noGrp="1"/>
          </p:cNvSpPr>
          <p:nvPr>
            <p:ph sz="quarter" idx="10"/>
          </p:nvPr>
        </p:nvSpPr>
        <p:spPr>
          <a:xfrm>
            <a:off x="5048177" y="719225"/>
            <a:ext cx="2635827" cy="564880"/>
          </a:xfrm>
        </p:spPr>
        <p:txBody>
          <a:bodyPr/>
          <a:lstStyle/>
          <a:p>
            <a:pPr marL="0" indent="0">
              <a:buNone/>
            </a:pPr>
            <a:r>
              <a:rPr lang="en-US" u="sng" dirty="0">
                <a:solidFill>
                  <a:schemeClr val="bg1"/>
                </a:solidFill>
              </a:rPr>
              <a:t>Ex. Adding a coach:</a:t>
            </a:r>
            <a:endParaRPr lang="en-GB" u="sng" dirty="0">
              <a:solidFill>
                <a:schemeClr val="bg1"/>
              </a:solidFill>
            </a:endParaRPr>
          </a:p>
        </p:txBody>
      </p:sp>
      <p:sp>
        <p:nvSpPr>
          <p:cNvPr id="33" name="Content Placeholder 2">
            <a:extLst>
              <a:ext uri="{FF2B5EF4-FFF2-40B4-BE49-F238E27FC236}">
                <a16:creationId xmlns:a16="http://schemas.microsoft.com/office/drawing/2014/main" id="{3B8E4F27-27B9-3E3F-4AD4-338115A9D418}"/>
              </a:ext>
            </a:extLst>
          </p:cNvPr>
          <p:cNvSpPr txBox="1">
            <a:spLocks/>
          </p:cNvSpPr>
          <p:nvPr/>
        </p:nvSpPr>
        <p:spPr>
          <a:xfrm>
            <a:off x="5340276" y="1110945"/>
            <a:ext cx="5755290" cy="119103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Add buttons are available for each entity in the system, besides centres, which we decided to keep internal.</a:t>
            </a:r>
            <a:endParaRPr lang="en-GB" sz="1400" dirty="0">
              <a:solidFill>
                <a:schemeClr val="bg1"/>
              </a:solidFill>
            </a:endParaRPr>
          </a:p>
          <a:p>
            <a:pPr marL="0" indent="0">
              <a:buFont typeface="Arial" panose="020B0604020202020204" pitchFamily="34" charset="0"/>
              <a:buNone/>
            </a:pPr>
            <a:r>
              <a:rPr lang="en-GB" sz="1400" dirty="0">
                <a:solidFill>
                  <a:schemeClr val="bg1"/>
                </a:solidFill>
              </a:rPr>
              <a:t>Press ‘Add New [entity]’ to add a new entity record to the system:</a:t>
            </a:r>
          </a:p>
        </p:txBody>
      </p:sp>
      <p:sp>
        <p:nvSpPr>
          <p:cNvPr id="9" name="Content Placeholder 2">
            <a:extLst>
              <a:ext uri="{FF2B5EF4-FFF2-40B4-BE49-F238E27FC236}">
                <a16:creationId xmlns:a16="http://schemas.microsoft.com/office/drawing/2014/main" id="{A594F0E9-5860-A2AE-D39D-DC9C95C1FEB7}"/>
              </a:ext>
            </a:extLst>
          </p:cNvPr>
          <p:cNvSpPr txBox="1">
            <a:spLocks/>
          </p:cNvSpPr>
          <p:nvPr/>
        </p:nvSpPr>
        <p:spPr>
          <a:xfrm>
            <a:off x="5340276" y="5335919"/>
            <a:ext cx="5897777" cy="82227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i="1" dirty="0">
                <a:solidFill>
                  <a:schemeClr val="bg1"/>
                </a:solidFill>
              </a:rPr>
              <a:t>Add Restraints: Duplicate records may not be added to the database.</a:t>
            </a:r>
          </a:p>
        </p:txBody>
      </p:sp>
      <p:pic>
        <p:nvPicPr>
          <p:cNvPr id="17" name="Picture 16">
            <a:extLst>
              <a:ext uri="{FF2B5EF4-FFF2-40B4-BE49-F238E27FC236}">
                <a16:creationId xmlns:a16="http://schemas.microsoft.com/office/drawing/2014/main" id="{17D4A386-F326-464B-13B7-3AD94F93CD1D}"/>
              </a:ext>
            </a:extLst>
          </p:cNvPr>
          <p:cNvPicPr>
            <a:picLocks noChangeAspect="1"/>
          </p:cNvPicPr>
          <p:nvPr/>
        </p:nvPicPr>
        <p:blipFill>
          <a:blip r:embed="rId3"/>
          <a:stretch>
            <a:fillRect/>
          </a:stretch>
        </p:blipFill>
        <p:spPr>
          <a:xfrm>
            <a:off x="5841999" y="3518961"/>
            <a:ext cx="4588933" cy="1702306"/>
          </a:xfrm>
          <a:prstGeom prst="rect">
            <a:avLst/>
          </a:prstGeom>
        </p:spPr>
      </p:pic>
      <p:pic>
        <p:nvPicPr>
          <p:cNvPr id="21" name="Picture 20">
            <a:extLst>
              <a:ext uri="{FF2B5EF4-FFF2-40B4-BE49-F238E27FC236}">
                <a16:creationId xmlns:a16="http://schemas.microsoft.com/office/drawing/2014/main" id="{ACBF9A39-33E7-DE0D-9ED8-53CB8D6E0E7B}"/>
              </a:ext>
            </a:extLst>
          </p:cNvPr>
          <p:cNvPicPr>
            <a:picLocks noChangeAspect="1"/>
          </p:cNvPicPr>
          <p:nvPr/>
        </p:nvPicPr>
        <p:blipFill>
          <a:blip r:embed="rId4"/>
          <a:stretch>
            <a:fillRect/>
          </a:stretch>
        </p:blipFill>
        <p:spPr>
          <a:xfrm>
            <a:off x="7207649" y="2269955"/>
            <a:ext cx="1857634" cy="571580"/>
          </a:xfrm>
          <a:prstGeom prst="rect">
            <a:avLst/>
          </a:prstGeom>
          <a:ln>
            <a:solidFill>
              <a:schemeClr val="bg1"/>
            </a:solidFill>
          </a:ln>
        </p:spPr>
      </p:pic>
      <p:sp>
        <p:nvSpPr>
          <p:cNvPr id="22" name="Content Placeholder 2">
            <a:extLst>
              <a:ext uri="{FF2B5EF4-FFF2-40B4-BE49-F238E27FC236}">
                <a16:creationId xmlns:a16="http://schemas.microsoft.com/office/drawing/2014/main" id="{6DC8E5EB-1218-F949-38AA-3FBCBE32D5B0}"/>
              </a:ext>
            </a:extLst>
          </p:cNvPr>
          <p:cNvSpPr txBox="1">
            <a:spLocks/>
          </p:cNvSpPr>
          <p:nvPr/>
        </p:nvSpPr>
        <p:spPr>
          <a:xfrm>
            <a:off x="5635886" y="2953448"/>
            <a:ext cx="5306556" cy="453600"/>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GB" sz="1400" dirty="0">
                <a:solidFill>
                  <a:schemeClr val="bg1"/>
                </a:solidFill>
              </a:rPr>
              <a:t>A personalised add menu will appear for each specific entity.</a:t>
            </a:r>
          </a:p>
        </p:txBody>
      </p:sp>
    </p:spTree>
    <p:extLst>
      <p:ext uri="{BB962C8B-B14F-4D97-AF65-F5344CB8AC3E}">
        <p14:creationId xmlns:p14="http://schemas.microsoft.com/office/powerpoint/2010/main" val="1348099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69CE5-3EF6-4AF4-CDC2-A2B8B551A18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10CCDA-6ADA-DADB-C37D-E1D8D0576CFE}"/>
              </a:ext>
            </a:extLst>
          </p:cNvPr>
          <p:cNvSpPr>
            <a:spLocks noGrp="1"/>
          </p:cNvSpPr>
          <p:nvPr>
            <p:ph type="title"/>
          </p:nvPr>
        </p:nvSpPr>
        <p:spPr>
          <a:xfrm>
            <a:off x="646172" y="566825"/>
            <a:ext cx="3794092" cy="1322991"/>
          </a:xfrm>
        </p:spPr>
        <p:txBody>
          <a:bodyPr/>
          <a:lstStyle/>
          <a:p>
            <a:r>
              <a:rPr lang="en-US" dirty="0"/>
              <a:t>Internal Delete</a:t>
            </a:r>
          </a:p>
        </p:txBody>
      </p:sp>
      <p:sp>
        <p:nvSpPr>
          <p:cNvPr id="7" name="Content Placeholder 6">
            <a:extLst>
              <a:ext uri="{FF2B5EF4-FFF2-40B4-BE49-F238E27FC236}">
                <a16:creationId xmlns:a16="http://schemas.microsoft.com/office/drawing/2014/main" id="{72252B1A-FAEE-4636-36C1-FCFD15FF3ACA}"/>
              </a:ext>
            </a:extLst>
          </p:cNvPr>
          <p:cNvSpPr>
            <a:spLocks noGrp="1"/>
          </p:cNvSpPr>
          <p:nvPr>
            <p:ph sz="quarter" idx="11"/>
          </p:nvPr>
        </p:nvSpPr>
        <p:spPr>
          <a:xfrm>
            <a:off x="805285" y="1756510"/>
            <a:ext cx="3475865" cy="4014842"/>
          </a:xfrm>
        </p:spPr>
        <p:txBody>
          <a:bodyPr>
            <a:normAutofit/>
          </a:bodyPr>
          <a:lstStyle/>
          <a:p>
            <a:pPr lvl="0"/>
            <a:r>
              <a:rPr lang="en-US" dirty="0"/>
              <a:t>Created delete capabilities for each entity row in the database: HTML and JavaScript.</a:t>
            </a:r>
          </a:p>
          <a:p>
            <a:pPr lvl="0"/>
            <a:r>
              <a:rPr lang="en-US" noProof="0" dirty="0"/>
              <a:t>Ensured that only objects without foreign key obstructions can be removed.</a:t>
            </a:r>
          </a:p>
          <a:p>
            <a:pPr lvl="0"/>
            <a:endParaRPr lang="en-US" noProof="0" dirty="0"/>
          </a:p>
        </p:txBody>
      </p:sp>
      <p:sp>
        <p:nvSpPr>
          <p:cNvPr id="3" name="Content Placeholder 2">
            <a:extLst>
              <a:ext uri="{FF2B5EF4-FFF2-40B4-BE49-F238E27FC236}">
                <a16:creationId xmlns:a16="http://schemas.microsoft.com/office/drawing/2014/main" id="{77D33DA2-E423-AB64-0118-73E6C226BE0C}"/>
              </a:ext>
            </a:extLst>
          </p:cNvPr>
          <p:cNvSpPr>
            <a:spLocks noGrp="1"/>
          </p:cNvSpPr>
          <p:nvPr>
            <p:ph sz="quarter" idx="10"/>
          </p:nvPr>
        </p:nvSpPr>
        <p:spPr>
          <a:xfrm>
            <a:off x="4881780" y="757253"/>
            <a:ext cx="2635827" cy="564880"/>
          </a:xfrm>
        </p:spPr>
        <p:txBody>
          <a:bodyPr/>
          <a:lstStyle/>
          <a:p>
            <a:pPr marL="0" indent="0">
              <a:buNone/>
            </a:pPr>
            <a:r>
              <a:rPr lang="en-US" u="sng" dirty="0">
                <a:solidFill>
                  <a:schemeClr val="bg1"/>
                </a:solidFill>
              </a:rPr>
              <a:t>Ex. Removing a coach:</a:t>
            </a:r>
            <a:endParaRPr lang="en-GB" u="sng" dirty="0">
              <a:solidFill>
                <a:schemeClr val="bg1"/>
              </a:solidFill>
            </a:endParaRPr>
          </a:p>
        </p:txBody>
      </p:sp>
      <p:sp>
        <p:nvSpPr>
          <p:cNvPr id="33" name="Content Placeholder 2">
            <a:extLst>
              <a:ext uri="{FF2B5EF4-FFF2-40B4-BE49-F238E27FC236}">
                <a16:creationId xmlns:a16="http://schemas.microsoft.com/office/drawing/2014/main" id="{F48A5142-AAEE-CC0D-BD5F-6F4C72CA77AD}"/>
              </a:ext>
            </a:extLst>
          </p:cNvPr>
          <p:cNvSpPr txBox="1">
            <a:spLocks/>
          </p:cNvSpPr>
          <p:nvPr/>
        </p:nvSpPr>
        <p:spPr>
          <a:xfrm>
            <a:off x="5210142" y="1167158"/>
            <a:ext cx="6397658" cy="599030"/>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1. An event listener to ensure the user wants to remove the desired object</a:t>
            </a:r>
            <a:endParaRPr lang="en-GB" sz="1400" dirty="0">
              <a:solidFill>
                <a:schemeClr val="bg1"/>
              </a:solidFill>
            </a:endParaRPr>
          </a:p>
        </p:txBody>
      </p:sp>
      <p:sp>
        <p:nvSpPr>
          <p:cNvPr id="34" name="Content Placeholder 2">
            <a:extLst>
              <a:ext uri="{FF2B5EF4-FFF2-40B4-BE49-F238E27FC236}">
                <a16:creationId xmlns:a16="http://schemas.microsoft.com/office/drawing/2014/main" id="{A7887492-87E0-134D-84B9-3338DEB79457}"/>
              </a:ext>
            </a:extLst>
          </p:cNvPr>
          <p:cNvSpPr txBox="1">
            <a:spLocks/>
          </p:cNvSpPr>
          <p:nvPr/>
        </p:nvSpPr>
        <p:spPr>
          <a:xfrm>
            <a:off x="5211980" y="2742718"/>
            <a:ext cx="6580500" cy="949959"/>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2. Await the result and provide feedback to the user to suggest how the operation went.</a:t>
            </a:r>
            <a:endParaRPr lang="en-GB" sz="1400" dirty="0">
              <a:solidFill>
                <a:schemeClr val="bg1"/>
              </a:solidFill>
            </a:endParaRPr>
          </a:p>
        </p:txBody>
      </p:sp>
      <p:pic>
        <p:nvPicPr>
          <p:cNvPr id="4" name="Picture 3">
            <a:extLst>
              <a:ext uri="{FF2B5EF4-FFF2-40B4-BE49-F238E27FC236}">
                <a16:creationId xmlns:a16="http://schemas.microsoft.com/office/drawing/2014/main" id="{6E5FB791-1295-DB54-8727-C6D499F9B110}"/>
              </a:ext>
            </a:extLst>
          </p:cNvPr>
          <p:cNvPicPr>
            <a:picLocks noChangeAspect="1"/>
          </p:cNvPicPr>
          <p:nvPr/>
        </p:nvPicPr>
        <p:blipFill>
          <a:blip r:embed="rId3"/>
          <a:stretch>
            <a:fillRect/>
          </a:stretch>
        </p:blipFill>
        <p:spPr>
          <a:xfrm>
            <a:off x="5340107" y="1817097"/>
            <a:ext cx="6137725" cy="963132"/>
          </a:xfrm>
          <a:prstGeom prst="rect">
            <a:avLst/>
          </a:prstGeom>
          <a:ln>
            <a:solidFill>
              <a:schemeClr val="bg1"/>
            </a:solidFill>
          </a:ln>
        </p:spPr>
      </p:pic>
      <p:pic>
        <p:nvPicPr>
          <p:cNvPr id="8" name="Picture 7">
            <a:extLst>
              <a:ext uri="{FF2B5EF4-FFF2-40B4-BE49-F238E27FC236}">
                <a16:creationId xmlns:a16="http://schemas.microsoft.com/office/drawing/2014/main" id="{2D1EF704-23FC-3F66-47F6-4BDF1546960D}"/>
              </a:ext>
            </a:extLst>
          </p:cNvPr>
          <p:cNvPicPr>
            <a:picLocks noChangeAspect="1"/>
          </p:cNvPicPr>
          <p:nvPr/>
        </p:nvPicPr>
        <p:blipFill>
          <a:blip r:embed="rId4"/>
          <a:stretch>
            <a:fillRect/>
          </a:stretch>
        </p:blipFill>
        <p:spPr>
          <a:xfrm>
            <a:off x="5490073" y="3692677"/>
            <a:ext cx="5837795" cy="2327139"/>
          </a:xfrm>
          <a:prstGeom prst="rect">
            <a:avLst/>
          </a:prstGeom>
          <a:ln>
            <a:solidFill>
              <a:schemeClr val="bg1"/>
            </a:solidFill>
          </a:ln>
        </p:spPr>
      </p:pic>
    </p:spTree>
    <p:extLst>
      <p:ext uri="{BB962C8B-B14F-4D97-AF65-F5344CB8AC3E}">
        <p14:creationId xmlns:p14="http://schemas.microsoft.com/office/powerpoint/2010/main" val="624858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777F7-8966-6777-E986-CEDB7999EE5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FE49B0A-2759-8CF2-0572-DCD31C632AC3}"/>
              </a:ext>
            </a:extLst>
          </p:cNvPr>
          <p:cNvSpPr>
            <a:spLocks noGrp="1"/>
          </p:cNvSpPr>
          <p:nvPr>
            <p:ph type="title"/>
          </p:nvPr>
        </p:nvSpPr>
        <p:spPr>
          <a:xfrm>
            <a:off x="646172" y="566825"/>
            <a:ext cx="3794092" cy="1322991"/>
          </a:xfrm>
        </p:spPr>
        <p:txBody>
          <a:bodyPr/>
          <a:lstStyle/>
          <a:p>
            <a:r>
              <a:rPr lang="en-US" dirty="0"/>
              <a:t>External Delete</a:t>
            </a:r>
          </a:p>
        </p:txBody>
      </p:sp>
      <p:sp>
        <p:nvSpPr>
          <p:cNvPr id="7" name="Content Placeholder 6">
            <a:extLst>
              <a:ext uri="{FF2B5EF4-FFF2-40B4-BE49-F238E27FC236}">
                <a16:creationId xmlns:a16="http://schemas.microsoft.com/office/drawing/2014/main" id="{0C3EAAF4-96FC-C5C9-8929-B160DA02A961}"/>
              </a:ext>
            </a:extLst>
          </p:cNvPr>
          <p:cNvSpPr>
            <a:spLocks noGrp="1"/>
          </p:cNvSpPr>
          <p:nvPr>
            <p:ph sz="quarter" idx="11"/>
          </p:nvPr>
        </p:nvSpPr>
        <p:spPr>
          <a:xfrm>
            <a:off x="805286" y="1728246"/>
            <a:ext cx="3368781" cy="4429944"/>
          </a:xfrm>
        </p:spPr>
        <p:txBody>
          <a:bodyPr>
            <a:normAutofit lnSpcReduction="10000"/>
          </a:bodyPr>
          <a:lstStyle/>
          <a:p>
            <a:pPr lvl="0"/>
            <a:r>
              <a:rPr lang="en-US" dirty="0"/>
              <a:t>Created a designated row for delete functionalities within each entity’s table.</a:t>
            </a:r>
          </a:p>
          <a:p>
            <a:pPr lvl="0"/>
            <a:r>
              <a:rPr lang="en-US" dirty="0"/>
              <a:t>Confirmation will appear to inform the user that the selected object will be deleted.</a:t>
            </a:r>
          </a:p>
          <a:p>
            <a:pPr lvl="0"/>
            <a:r>
              <a:rPr lang="en-US" noProof="0" dirty="0"/>
              <a:t>Foreign key </a:t>
            </a:r>
            <a:r>
              <a:rPr lang="en-US" dirty="0"/>
              <a:t>constraints will prevent certain rows from being deleted.</a:t>
            </a:r>
            <a:endParaRPr lang="en-US" noProof="0" dirty="0"/>
          </a:p>
        </p:txBody>
      </p:sp>
      <p:sp>
        <p:nvSpPr>
          <p:cNvPr id="3" name="Content Placeholder 2">
            <a:extLst>
              <a:ext uri="{FF2B5EF4-FFF2-40B4-BE49-F238E27FC236}">
                <a16:creationId xmlns:a16="http://schemas.microsoft.com/office/drawing/2014/main" id="{CB982A73-4CFB-88CF-74EF-2D1BEC1151E1}"/>
              </a:ext>
            </a:extLst>
          </p:cNvPr>
          <p:cNvSpPr>
            <a:spLocks noGrp="1"/>
          </p:cNvSpPr>
          <p:nvPr>
            <p:ph sz="quarter" idx="10"/>
          </p:nvPr>
        </p:nvSpPr>
        <p:spPr>
          <a:xfrm>
            <a:off x="5048177" y="719225"/>
            <a:ext cx="2635827" cy="564880"/>
          </a:xfrm>
        </p:spPr>
        <p:txBody>
          <a:bodyPr/>
          <a:lstStyle/>
          <a:p>
            <a:pPr marL="0" indent="0">
              <a:buNone/>
            </a:pPr>
            <a:r>
              <a:rPr lang="en-US" u="sng" dirty="0">
                <a:solidFill>
                  <a:schemeClr val="bg1"/>
                </a:solidFill>
              </a:rPr>
              <a:t>Ex. Removing a coach:</a:t>
            </a:r>
            <a:endParaRPr lang="en-GB" u="sng" dirty="0">
              <a:solidFill>
                <a:schemeClr val="bg1"/>
              </a:solidFill>
            </a:endParaRPr>
          </a:p>
        </p:txBody>
      </p:sp>
      <p:sp>
        <p:nvSpPr>
          <p:cNvPr id="33" name="Content Placeholder 2">
            <a:extLst>
              <a:ext uri="{FF2B5EF4-FFF2-40B4-BE49-F238E27FC236}">
                <a16:creationId xmlns:a16="http://schemas.microsoft.com/office/drawing/2014/main" id="{41D4D063-3B0F-2CAC-D3EF-92133F411761}"/>
              </a:ext>
            </a:extLst>
          </p:cNvPr>
          <p:cNvSpPr txBox="1">
            <a:spLocks/>
          </p:cNvSpPr>
          <p:nvPr/>
        </p:nvSpPr>
        <p:spPr>
          <a:xfrm>
            <a:off x="5340276" y="1110945"/>
            <a:ext cx="5755290" cy="119103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dirty="0">
                <a:solidFill>
                  <a:schemeClr val="bg1"/>
                </a:solidFill>
              </a:rPr>
              <a:t>Delete buttons are available for every row in the system, besides centres, which we decided to keep internal.</a:t>
            </a:r>
            <a:endParaRPr lang="en-GB" sz="1400" dirty="0">
              <a:solidFill>
                <a:schemeClr val="bg1"/>
              </a:solidFill>
            </a:endParaRPr>
          </a:p>
          <a:p>
            <a:pPr marL="0" indent="0">
              <a:buFont typeface="Arial" panose="020B0604020202020204" pitchFamily="34" charset="0"/>
              <a:buNone/>
            </a:pPr>
            <a:r>
              <a:rPr lang="en-GB" sz="1400" dirty="0">
                <a:solidFill>
                  <a:schemeClr val="bg1"/>
                </a:solidFill>
              </a:rPr>
              <a:t>Press ‘Delete’ in the delete column beside the entity’s details to remove an object:</a:t>
            </a:r>
          </a:p>
        </p:txBody>
      </p:sp>
      <p:sp>
        <p:nvSpPr>
          <p:cNvPr id="9" name="Content Placeholder 2">
            <a:extLst>
              <a:ext uri="{FF2B5EF4-FFF2-40B4-BE49-F238E27FC236}">
                <a16:creationId xmlns:a16="http://schemas.microsoft.com/office/drawing/2014/main" id="{FFD3AD7A-4BD1-71D7-A3A6-F5191BBE5CC0}"/>
              </a:ext>
            </a:extLst>
          </p:cNvPr>
          <p:cNvSpPr txBox="1">
            <a:spLocks/>
          </p:cNvSpPr>
          <p:nvPr/>
        </p:nvSpPr>
        <p:spPr>
          <a:xfrm>
            <a:off x="5340276" y="5335919"/>
            <a:ext cx="5897777" cy="822271"/>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lgn="ctr">
              <a:buFont typeface="Arial" panose="020B0604020202020204" pitchFamily="34" charset="0"/>
              <a:buNone/>
            </a:pPr>
            <a:r>
              <a:rPr lang="en-US" sz="1400" i="1" dirty="0">
                <a:solidFill>
                  <a:schemeClr val="bg1"/>
                </a:solidFill>
              </a:rPr>
              <a:t>Delete Restraints: Foreign key restraints apply.</a:t>
            </a:r>
            <a:endParaRPr lang="en-GB" sz="1400" i="1" dirty="0">
              <a:solidFill>
                <a:schemeClr val="bg1"/>
              </a:solidFill>
            </a:endParaRPr>
          </a:p>
        </p:txBody>
      </p:sp>
      <p:sp>
        <p:nvSpPr>
          <p:cNvPr id="22" name="Content Placeholder 2">
            <a:extLst>
              <a:ext uri="{FF2B5EF4-FFF2-40B4-BE49-F238E27FC236}">
                <a16:creationId xmlns:a16="http://schemas.microsoft.com/office/drawing/2014/main" id="{FAEB9F63-3732-57BE-7E78-543A2F7134D4}"/>
              </a:ext>
            </a:extLst>
          </p:cNvPr>
          <p:cNvSpPr txBox="1">
            <a:spLocks/>
          </p:cNvSpPr>
          <p:nvPr/>
        </p:nvSpPr>
        <p:spPr>
          <a:xfrm>
            <a:off x="5635886" y="3045594"/>
            <a:ext cx="5306556" cy="453600"/>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GB" sz="1400" dirty="0">
                <a:solidFill>
                  <a:schemeClr val="bg1"/>
                </a:solidFill>
              </a:rPr>
              <a:t>A personalised confirmation menu will appear for each entity.</a:t>
            </a:r>
          </a:p>
        </p:txBody>
      </p:sp>
      <p:pic>
        <p:nvPicPr>
          <p:cNvPr id="4" name="Picture 3">
            <a:extLst>
              <a:ext uri="{FF2B5EF4-FFF2-40B4-BE49-F238E27FC236}">
                <a16:creationId xmlns:a16="http://schemas.microsoft.com/office/drawing/2014/main" id="{D93419F5-1146-1FFC-3884-53C601398382}"/>
              </a:ext>
            </a:extLst>
          </p:cNvPr>
          <p:cNvPicPr>
            <a:picLocks noChangeAspect="1"/>
          </p:cNvPicPr>
          <p:nvPr/>
        </p:nvPicPr>
        <p:blipFill>
          <a:blip r:embed="rId3"/>
          <a:stretch>
            <a:fillRect/>
          </a:stretch>
        </p:blipFill>
        <p:spPr>
          <a:xfrm>
            <a:off x="5275717" y="2322454"/>
            <a:ext cx="5884408" cy="610516"/>
          </a:xfrm>
          <a:prstGeom prst="rect">
            <a:avLst/>
          </a:prstGeom>
          <a:ln>
            <a:solidFill>
              <a:schemeClr val="bg1"/>
            </a:solidFill>
          </a:ln>
        </p:spPr>
      </p:pic>
      <p:pic>
        <p:nvPicPr>
          <p:cNvPr id="8" name="Picture 7">
            <a:extLst>
              <a:ext uri="{FF2B5EF4-FFF2-40B4-BE49-F238E27FC236}">
                <a16:creationId xmlns:a16="http://schemas.microsoft.com/office/drawing/2014/main" id="{E73A8EE8-3BCB-95F5-D330-1C920B7C03E8}"/>
              </a:ext>
            </a:extLst>
          </p:cNvPr>
          <p:cNvPicPr>
            <a:picLocks noChangeAspect="1"/>
          </p:cNvPicPr>
          <p:nvPr/>
        </p:nvPicPr>
        <p:blipFill>
          <a:blip r:embed="rId4"/>
          <a:stretch>
            <a:fillRect/>
          </a:stretch>
        </p:blipFill>
        <p:spPr>
          <a:xfrm>
            <a:off x="6258890" y="3611819"/>
            <a:ext cx="3918061" cy="1825892"/>
          </a:xfrm>
          <a:prstGeom prst="rect">
            <a:avLst/>
          </a:prstGeom>
          <a:ln>
            <a:solidFill>
              <a:schemeClr val="bg1"/>
            </a:solidFill>
          </a:ln>
        </p:spPr>
      </p:pic>
    </p:spTree>
    <p:extLst>
      <p:ext uri="{BB962C8B-B14F-4D97-AF65-F5344CB8AC3E}">
        <p14:creationId xmlns:p14="http://schemas.microsoft.com/office/powerpoint/2010/main" val="416168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3E25-7402-EAC9-107D-E3C80B9672C6}"/>
              </a:ext>
            </a:extLst>
          </p:cNvPr>
          <p:cNvSpPr>
            <a:spLocks noGrp="1"/>
          </p:cNvSpPr>
          <p:nvPr>
            <p:ph type="title"/>
          </p:nvPr>
        </p:nvSpPr>
        <p:spPr>
          <a:xfrm>
            <a:off x="567684" y="588779"/>
            <a:ext cx="3958175" cy="1986641"/>
          </a:xfrm>
        </p:spPr>
        <p:txBody>
          <a:bodyPr/>
          <a:lstStyle/>
          <a:p>
            <a:pPr lvl="0"/>
            <a:r>
              <a:rPr lang="en-US" noProof="0" dirty="0"/>
              <a:t>Parameterised Reporting and Charts</a:t>
            </a:r>
          </a:p>
        </p:txBody>
      </p:sp>
      <p:sp>
        <p:nvSpPr>
          <p:cNvPr id="3" name="Content Placeholder 2">
            <a:extLst>
              <a:ext uri="{FF2B5EF4-FFF2-40B4-BE49-F238E27FC236}">
                <a16:creationId xmlns:a16="http://schemas.microsoft.com/office/drawing/2014/main" id="{DBBD146A-879C-A0DC-7A0C-2E7729C4D125}"/>
              </a:ext>
            </a:extLst>
          </p:cNvPr>
          <p:cNvSpPr>
            <a:spLocks noGrp="1"/>
          </p:cNvSpPr>
          <p:nvPr>
            <p:ph sz="quarter" idx="10"/>
          </p:nvPr>
        </p:nvSpPr>
        <p:spPr>
          <a:xfrm>
            <a:off x="658535" y="2506914"/>
            <a:ext cx="3766656" cy="3625438"/>
          </a:xfrm>
        </p:spPr>
        <p:txBody>
          <a:bodyPr>
            <a:normAutofit fontScale="92500" lnSpcReduction="10000"/>
          </a:bodyPr>
          <a:lstStyle/>
          <a:p>
            <a:r>
              <a:rPr lang="en-US" noProof="0" dirty="0">
                <a:solidFill>
                  <a:schemeClr val="tx2"/>
                </a:solidFill>
              </a:rPr>
              <a:t>We contributed individual reports that measure member progress in our fitness centres. These reports are generated using a combination of SCALAR and AGGREGATE functions, JOINs, and the Chart.</a:t>
            </a:r>
            <a:r>
              <a:rPr lang="en-US" dirty="0">
                <a:solidFill>
                  <a:schemeClr val="tx2"/>
                </a:solidFill>
              </a:rPr>
              <a:t>js library.</a:t>
            </a:r>
          </a:p>
          <a:p>
            <a:pPr marL="0" lvl="0" indent="0">
              <a:buNone/>
            </a:pPr>
            <a:endParaRPr lang="en-US" noProof="0" dirty="0">
              <a:solidFill>
                <a:schemeClr val="tx2"/>
              </a:solidFill>
            </a:endParaRPr>
          </a:p>
          <a:p>
            <a:r>
              <a:rPr lang="en-US" noProof="0" dirty="0">
                <a:solidFill>
                  <a:schemeClr val="tx2"/>
                </a:solidFill>
              </a:rPr>
              <a:t>For example, this char</a:t>
            </a:r>
            <a:r>
              <a:rPr lang="en-US" dirty="0">
                <a:solidFill>
                  <a:schemeClr val="tx2"/>
                </a:solidFill>
              </a:rPr>
              <a:t>t identifies members with the greatest difference in muscle mass.</a:t>
            </a:r>
            <a:endParaRPr lang="en-US" noProof="0" dirty="0">
              <a:solidFill>
                <a:schemeClr val="tx2"/>
              </a:solidFill>
            </a:endParaRPr>
          </a:p>
        </p:txBody>
      </p:sp>
      <p:sp>
        <p:nvSpPr>
          <p:cNvPr id="7" name="TextBox 6">
            <a:extLst>
              <a:ext uri="{FF2B5EF4-FFF2-40B4-BE49-F238E27FC236}">
                <a16:creationId xmlns:a16="http://schemas.microsoft.com/office/drawing/2014/main" id="{F50E86E9-6AC4-6C72-421E-D05BE108C178}"/>
              </a:ext>
            </a:extLst>
          </p:cNvPr>
          <p:cNvSpPr txBox="1"/>
          <p:nvPr/>
        </p:nvSpPr>
        <p:spPr>
          <a:xfrm>
            <a:off x="5163423" y="906914"/>
            <a:ext cx="6165908" cy="2068515"/>
          </a:xfrm>
          <a:prstGeom prst="rect">
            <a:avLst/>
          </a:prstGeom>
          <a:solidFill>
            <a:schemeClr val="tx2"/>
          </a:solidFill>
          <a:ln>
            <a:solidFill>
              <a:schemeClr val="bg1"/>
            </a:solidFill>
          </a:ln>
        </p:spPr>
        <p:txBody>
          <a:bodyPr wrap="square">
            <a:spAutoFit/>
          </a:bodyPr>
          <a:lstStyle/>
          <a:p>
            <a:pPr>
              <a:lnSpc>
                <a:spcPts val="1425"/>
              </a:lnSpc>
              <a:buNone/>
            </a:pPr>
            <a:r>
              <a:rPr lang="en-US" sz="1300" b="0" dirty="0">
                <a:solidFill>
                  <a:srgbClr val="6A9955"/>
                </a:solidFill>
                <a:effectLst/>
                <a:latin typeface="Consolas" panose="020B0609020204030204" pitchFamily="49" charset="0"/>
              </a:rPr>
              <a:t>-- 1. Query to retrieve the classes with the lowest turnout:</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6A9955"/>
                </a:solidFill>
                <a:effectLst/>
                <a:latin typeface="Consolas" panose="020B0609020204030204" pitchFamily="49" charset="0"/>
              </a:rPr>
              <a:t>/* This query includes the class category and the number of members reserved.</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6A9955"/>
                </a:solidFill>
                <a:effectLst/>
                <a:latin typeface="Consolas" panose="020B0609020204030204" pitchFamily="49" charset="0"/>
              </a:rPr>
              <a:t>*/</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SELECT</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D4D4D4"/>
                </a:solidFill>
                <a:effectLst/>
                <a:latin typeface="Consolas" panose="020B0609020204030204" pitchFamily="49" charset="0"/>
              </a:rPr>
              <a:t>  </a:t>
            </a:r>
            <a:r>
              <a:rPr lang="en-US" sz="1300" b="0" dirty="0" err="1">
                <a:solidFill>
                  <a:srgbClr val="D4D4D4"/>
                </a:solidFill>
                <a:effectLst/>
                <a:latin typeface="Consolas" panose="020B0609020204030204" pitchFamily="49" charset="0"/>
              </a:rPr>
              <a:t>c.className</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D4D4D4"/>
                </a:solidFill>
                <a:effectLst/>
                <a:latin typeface="Consolas" panose="020B0609020204030204" pitchFamily="49" charset="0"/>
              </a:rPr>
              <a:t>  SUM(COALESCE(</a:t>
            </a:r>
            <a:r>
              <a:rPr lang="en-US" sz="1300" b="0" dirty="0" err="1">
                <a:solidFill>
                  <a:srgbClr val="D4D4D4"/>
                </a:solidFill>
                <a:effectLst/>
                <a:latin typeface="Consolas" panose="020B0609020204030204" pitchFamily="49" charset="0"/>
              </a:rPr>
              <a:t>r.memberId</a:t>
            </a:r>
            <a:r>
              <a:rPr lang="en-US" sz="1300" b="0" dirty="0">
                <a:solidFill>
                  <a:srgbClr val="D4D4D4"/>
                </a:solidFill>
                <a:effectLst/>
                <a:latin typeface="Consolas" panose="020B0609020204030204" pitchFamily="49" charset="0"/>
              </a:rPr>
              <a:t> </a:t>
            </a:r>
            <a:r>
              <a:rPr lang="en-US" sz="1300" b="0" dirty="0">
                <a:solidFill>
                  <a:srgbClr val="569CD6"/>
                </a:solidFill>
                <a:effectLst/>
                <a:latin typeface="Consolas" panose="020B0609020204030204" pitchFamily="49" charset="0"/>
              </a:rPr>
              <a:t>IS NOT NULL</a:t>
            </a:r>
            <a:r>
              <a:rPr lang="en-US" sz="1300" b="0" dirty="0">
                <a:solidFill>
                  <a:srgbClr val="D4D4D4"/>
                </a:solidFill>
                <a:effectLst/>
                <a:latin typeface="Consolas" panose="020B0609020204030204" pitchFamily="49" charset="0"/>
              </a:rPr>
              <a:t>,</a:t>
            </a:r>
            <a:r>
              <a:rPr lang="en-US" sz="1300" b="0" dirty="0">
                <a:solidFill>
                  <a:srgbClr val="B5CEA8"/>
                </a:solidFill>
                <a:effectLst/>
                <a:latin typeface="Consolas" panose="020B0609020204030204" pitchFamily="49" charset="0"/>
              </a:rPr>
              <a:t>0</a:t>
            </a:r>
            <a:r>
              <a:rPr lang="en-US" sz="1300" b="0" dirty="0">
                <a:solidFill>
                  <a:srgbClr val="D4D4D4"/>
                </a:solidFill>
                <a:effectLst/>
                <a:latin typeface="Consolas" panose="020B0609020204030204" pitchFamily="49" charset="0"/>
              </a:rPr>
              <a:t>)) </a:t>
            </a:r>
            <a:r>
              <a:rPr lang="en-US" sz="1300" b="0" dirty="0">
                <a:solidFill>
                  <a:srgbClr val="569CD6"/>
                </a:solidFill>
                <a:effectLst/>
                <a:latin typeface="Consolas" panose="020B0609020204030204" pitchFamily="49" charset="0"/>
              </a:rPr>
              <a:t>AS</a:t>
            </a:r>
            <a:r>
              <a:rPr lang="en-US" sz="1300" b="0" dirty="0">
                <a:solidFill>
                  <a:srgbClr val="D4D4D4"/>
                </a:solidFill>
                <a:effectLst/>
                <a:latin typeface="Consolas" panose="020B0609020204030204" pitchFamily="49" charset="0"/>
              </a:rPr>
              <a:t> </a:t>
            </a:r>
            <a:r>
              <a:rPr lang="en-US" sz="1300" b="0" dirty="0" err="1">
                <a:solidFill>
                  <a:srgbClr val="D4D4D4"/>
                </a:solidFill>
                <a:effectLst/>
                <a:latin typeface="Consolas" panose="020B0609020204030204" pitchFamily="49" charset="0"/>
              </a:rPr>
              <a:t>reservedMembers</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FROM</a:t>
            </a:r>
            <a:r>
              <a:rPr lang="en-US" sz="1300" b="0" dirty="0">
                <a:solidFill>
                  <a:srgbClr val="D4D4D4"/>
                </a:solidFill>
                <a:effectLst/>
                <a:latin typeface="Consolas" panose="020B0609020204030204" pitchFamily="49" charset="0"/>
              </a:rPr>
              <a:t> </a:t>
            </a:r>
            <a:r>
              <a:rPr lang="en-US" sz="1300" b="0" dirty="0" err="1">
                <a:solidFill>
                  <a:srgbClr val="D4D4D4"/>
                </a:solidFill>
                <a:effectLst/>
                <a:latin typeface="Consolas" panose="020B0609020204030204" pitchFamily="49" charset="0"/>
              </a:rPr>
              <a:t>tblClass</a:t>
            </a:r>
            <a:r>
              <a:rPr lang="en-US" sz="1300" b="0" dirty="0">
                <a:solidFill>
                  <a:srgbClr val="D4D4D4"/>
                </a:solidFill>
                <a:effectLst/>
                <a:latin typeface="Consolas" panose="020B0609020204030204" pitchFamily="49" charset="0"/>
              </a:rPr>
              <a:t> c</a:t>
            </a:r>
          </a:p>
          <a:p>
            <a:pPr>
              <a:lnSpc>
                <a:spcPts val="1425"/>
              </a:lnSpc>
              <a:buNone/>
            </a:pPr>
            <a:r>
              <a:rPr lang="en-US" sz="1300" b="0" dirty="0">
                <a:solidFill>
                  <a:srgbClr val="569CD6"/>
                </a:solidFill>
                <a:effectLst/>
                <a:highlight>
                  <a:srgbClr val="808000"/>
                </a:highlight>
                <a:latin typeface="Consolas" panose="020B0609020204030204" pitchFamily="49" charset="0"/>
              </a:rPr>
              <a:t>LEFT JOIN</a:t>
            </a:r>
            <a:r>
              <a:rPr lang="en-US" sz="1300" b="0" dirty="0">
                <a:solidFill>
                  <a:srgbClr val="D4D4D4"/>
                </a:solidFill>
                <a:effectLst/>
                <a:highlight>
                  <a:srgbClr val="808000"/>
                </a:highlight>
                <a:latin typeface="Consolas" panose="020B0609020204030204" pitchFamily="49" charset="0"/>
              </a:rPr>
              <a:t> </a:t>
            </a:r>
            <a:r>
              <a:rPr lang="en-US" sz="1300" b="0" dirty="0" err="1">
                <a:solidFill>
                  <a:srgbClr val="D4D4D4"/>
                </a:solidFill>
                <a:effectLst/>
                <a:latin typeface="Consolas" panose="020B0609020204030204" pitchFamily="49" charset="0"/>
              </a:rPr>
              <a:t>tblReservation</a:t>
            </a:r>
            <a:r>
              <a:rPr lang="en-US" sz="1300" b="0" dirty="0">
                <a:solidFill>
                  <a:srgbClr val="D4D4D4"/>
                </a:solidFill>
                <a:effectLst/>
                <a:latin typeface="Consolas" panose="020B0609020204030204" pitchFamily="49" charset="0"/>
              </a:rPr>
              <a:t> r </a:t>
            </a:r>
            <a:r>
              <a:rPr lang="en-US" sz="1300" b="0" dirty="0">
                <a:solidFill>
                  <a:srgbClr val="569CD6"/>
                </a:solidFill>
                <a:effectLst/>
                <a:latin typeface="Consolas" panose="020B0609020204030204" pitchFamily="49" charset="0"/>
              </a:rPr>
              <a:t>ON</a:t>
            </a:r>
            <a:r>
              <a:rPr lang="en-US" sz="1300" b="0" dirty="0">
                <a:solidFill>
                  <a:srgbClr val="D4D4D4"/>
                </a:solidFill>
                <a:effectLst/>
                <a:latin typeface="Consolas" panose="020B0609020204030204" pitchFamily="49" charset="0"/>
              </a:rPr>
              <a:t> </a:t>
            </a:r>
            <a:r>
              <a:rPr lang="en-US" sz="1300" b="0" dirty="0" err="1">
                <a:solidFill>
                  <a:srgbClr val="D4D4D4"/>
                </a:solidFill>
                <a:effectLst/>
                <a:latin typeface="Consolas" panose="020B0609020204030204" pitchFamily="49" charset="0"/>
              </a:rPr>
              <a:t>c.classId</a:t>
            </a:r>
            <a:r>
              <a:rPr lang="en-US" sz="1300" b="0" dirty="0">
                <a:solidFill>
                  <a:srgbClr val="D4D4D4"/>
                </a:solidFill>
                <a:effectLst/>
                <a:latin typeface="Consolas" panose="020B0609020204030204" pitchFamily="49" charset="0"/>
              </a:rPr>
              <a:t> = </a:t>
            </a:r>
            <a:r>
              <a:rPr lang="en-US" sz="1300" b="0" dirty="0" err="1">
                <a:solidFill>
                  <a:srgbClr val="D4D4D4"/>
                </a:solidFill>
                <a:effectLst/>
                <a:latin typeface="Consolas" panose="020B0609020204030204" pitchFamily="49" charset="0"/>
              </a:rPr>
              <a:t>r.classId</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highlight>
                  <a:srgbClr val="808000"/>
                </a:highlight>
                <a:latin typeface="Consolas" panose="020B0609020204030204" pitchFamily="49" charset="0"/>
              </a:rPr>
              <a:t>GROUP BY</a:t>
            </a:r>
            <a:r>
              <a:rPr lang="en-US" sz="1300" b="0" dirty="0">
                <a:solidFill>
                  <a:srgbClr val="D4D4D4"/>
                </a:solidFill>
                <a:effectLst/>
                <a:highlight>
                  <a:srgbClr val="808000"/>
                </a:highlight>
                <a:latin typeface="Consolas" panose="020B0609020204030204" pitchFamily="49" charset="0"/>
              </a:rPr>
              <a:t> </a:t>
            </a:r>
            <a:r>
              <a:rPr lang="en-US" sz="1300" b="0" dirty="0" err="1">
                <a:solidFill>
                  <a:srgbClr val="D4D4D4"/>
                </a:solidFill>
                <a:effectLst/>
                <a:latin typeface="Consolas" panose="020B0609020204030204" pitchFamily="49" charset="0"/>
              </a:rPr>
              <a:t>c.className</a:t>
            </a: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highlight>
                  <a:srgbClr val="808000"/>
                </a:highlight>
                <a:latin typeface="Consolas" panose="020B0609020204030204" pitchFamily="49" charset="0"/>
              </a:rPr>
              <a:t>ORDER BY</a:t>
            </a:r>
            <a:r>
              <a:rPr lang="en-US" sz="1300" b="0" dirty="0">
                <a:solidFill>
                  <a:srgbClr val="D4D4D4"/>
                </a:solidFill>
                <a:effectLst/>
                <a:highlight>
                  <a:srgbClr val="808000"/>
                </a:highlight>
                <a:latin typeface="Consolas" panose="020B0609020204030204" pitchFamily="49" charset="0"/>
              </a:rPr>
              <a:t> </a:t>
            </a:r>
            <a:r>
              <a:rPr lang="en-US" sz="1300" b="0" dirty="0" err="1">
                <a:solidFill>
                  <a:srgbClr val="D4D4D4"/>
                </a:solidFill>
                <a:effectLst/>
                <a:latin typeface="Consolas" panose="020B0609020204030204" pitchFamily="49" charset="0"/>
              </a:rPr>
              <a:t>reservedMembers</a:t>
            </a:r>
            <a:r>
              <a:rPr lang="en-US" sz="1300" b="0" dirty="0">
                <a:solidFill>
                  <a:srgbClr val="D4D4D4"/>
                </a:solidFill>
                <a:effectLst/>
                <a:latin typeface="Consolas" panose="020B0609020204030204" pitchFamily="49" charset="0"/>
              </a:rPr>
              <a:t> </a:t>
            </a:r>
            <a:r>
              <a:rPr lang="en-US" sz="1300" b="0" dirty="0">
                <a:solidFill>
                  <a:srgbClr val="569CD6"/>
                </a:solidFill>
                <a:effectLst/>
                <a:latin typeface="Consolas" panose="020B0609020204030204" pitchFamily="49" charset="0"/>
              </a:rPr>
              <a:t>DESC</a:t>
            </a:r>
            <a:r>
              <a:rPr lang="en-US" sz="1300" b="0" dirty="0">
                <a:solidFill>
                  <a:srgbClr val="D4D4D4"/>
                </a:solidFill>
                <a:effectLst/>
                <a:latin typeface="Consolas" panose="020B0609020204030204" pitchFamily="49" charset="0"/>
              </a:rPr>
              <a:t>;</a:t>
            </a:r>
          </a:p>
        </p:txBody>
      </p:sp>
      <p:pic>
        <p:nvPicPr>
          <p:cNvPr id="10" name="Picture 9">
            <a:extLst>
              <a:ext uri="{FF2B5EF4-FFF2-40B4-BE49-F238E27FC236}">
                <a16:creationId xmlns:a16="http://schemas.microsoft.com/office/drawing/2014/main" id="{11AFD7FC-C5A4-A34A-9603-09F82E558E23}"/>
              </a:ext>
            </a:extLst>
          </p:cNvPr>
          <p:cNvPicPr>
            <a:picLocks noChangeAspect="1"/>
          </p:cNvPicPr>
          <p:nvPr/>
        </p:nvPicPr>
        <p:blipFill>
          <a:blip r:embed="rId3"/>
          <a:stretch>
            <a:fillRect/>
          </a:stretch>
        </p:blipFill>
        <p:spPr>
          <a:xfrm>
            <a:off x="7136501" y="3763383"/>
            <a:ext cx="2211366" cy="2368969"/>
          </a:xfrm>
          <a:prstGeom prst="rect">
            <a:avLst/>
          </a:prstGeom>
          <a:ln>
            <a:solidFill>
              <a:schemeClr val="bg1"/>
            </a:solidFill>
          </a:ln>
        </p:spPr>
      </p:pic>
      <p:sp>
        <p:nvSpPr>
          <p:cNvPr id="11" name="TextBox 10">
            <a:extLst>
              <a:ext uri="{FF2B5EF4-FFF2-40B4-BE49-F238E27FC236}">
                <a16:creationId xmlns:a16="http://schemas.microsoft.com/office/drawing/2014/main" id="{5276D981-6B7C-6F08-5492-E5E4830C2D36}"/>
              </a:ext>
            </a:extLst>
          </p:cNvPr>
          <p:cNvSpPr txBox="1"/>
          <p:nvPr/>
        </p:nvSpPr>
        <p:spPr>
          <a:xfrm>
            <a:off x="5159229" y="4272682"/>
            <a:ext cx="1812021" cy="990015"/>
          </a:xfrm>
          <a:prstGeom prst="rect">
            <a:avLst/>
          </a:prstGeom>
          <a:solidFill>
            <a:schemeClr val="tx2"/>
          </a:solidFill>
          <a:ln>
            <a:solidFill>
              <a:schemeClr val="bg1"/>
            </a:solidFill>
          </a:ln>
        </p:spPr>
        <p:txBody>
          <a:bodyPr wrap="square">
            <a:spAutoFit/>
          </a:bodyPr>
          <a:lstStyle/>
          <a:p>
            <a:pPr>
              <a:lnSpc>
                <a:spcPts val="1425"/>
              </a:lnSpc>
              <a:buNone/>
            </a:pPr>
            <a:r>
              <a:rPr lang="en-US" sz="1300" b="0" dirty="0">
                <a:solidFill>
                  <a:srgbClr val="6A9955"/>
                </a:solidFill>
                <a:effectLst/>
                <a:latin typeface="Consolas" panose="020B0609020204030204" pitchFamily="49" charset="0"/>
              </a:rPr>
              <a:t>-- These charts visualise our business questions and grant us valuable insights.</a:t>
            </a:r>
            <a:endParaRPr lang="en-US" sz="1300" b="0" dirty="0">
              <a:solidFill>
                <a:srgbClr val="D4D4D4"/>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16836FC9-F78D-1575-A1C6-75EFE0D4B469}"/>
              </a:ext>
            </a:extLst>
          </p:cNvPr>
          <p:cNvSpPr txBox="1"/>
          <p:nvPr/>
        </p:nvSpPr>
        <p:spPr>
          <a:xfrm>
            <a:off x="9517311" y="4272682"/>
            <a:ext cx="1812020" cy="1169551"/>
          </a:xfrm>
          <a:prstGeom prst="rect">
            <a:avLst/>
          </a:prstGeom>
          <a:solidFill>
            <a:schemeClr val="tx2"/>
          </a:solidFill>
          <a:ln>
            <a:solidFill>
              <a:schemeClr val="bg1"/>
            </a:solidFill>
          </a:ln>
        </p:spPr>
        <p:txBody>
          <a:bodyPr wrap="square">
            <a:spAutoFit/>
          </a:bodyPr>
          <a:lstStyle/>
          <a:p>
            <a:pPr>
              <a:lnSpc>
                <a:spcPts val="1425"/>
              </a:lnSpc>
              <a:buNone/>
            </a:pPr>
            <a:r>
              <a:rPr lang="en-US" sz="1300" b="0" dirty="0">
                <a:solidFill>
                  <a:srgbClr val="6A9955"/>
                </a:solidFill>
                <a:effectLst/>
                <a:latin typeface="Consolas" panose="020B0609020204030204" pitchFamily="49" charset="0"/>
              </a:rPr>
              <a:t>-- Monitors the wellbeing of our members, allowing stakeholders to make critical decisions.</a:t>
            </a:r>
            <a:endParaRPr lang="en-US" sz="1300" dirty="0">
              <a:solidFill>
                <a:srgbClr val="D4D4D4"/>
              </a:solidFill>
              <a:latin typeface="Consolas" panose="020B0609020204030204" pitchFamily="49" charset="0"/>
            </a:endParaRPr>
          </a:p>
        </p:txBody>
      </p:sp>
    </p:spTree>
    <p:extLst>
      <p:ext uri="{BB962C8B-B14F-4D97-AF65-F5344CB8AC3E}">
        <p14:creationId xmlns:p14="http://schemas.microsoft.com/office/powerpoint/2010/main" val="3117802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48331-FA9E-5441-6ABF-84445187E8CA}"/>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F45BE716-B5F3-2974-4428-C6535AB9B2C8}"/>
              </a:ext>
            </a:extLst>
          </p:cNvPr>
          <p:cNvSpPr>
            <a:spLocks noGrp="1"/>
          </p:cNvSpPr>
          <p:nvPr>
            <p:ph type="title"/>
          </p:nvPr>
        </p:nvSpPr>
        <p:spPr>
          <a:xfrm>
            <a:off x="567684" y="588779"/>
            <a:ext cx="3958175" cy="1986641"/>
          </a:xfrm>
        </p:spPr>
        <p:txBody>
          <a:bodyPr/>
          <a:lstStyle/>
          <a:p>
            <a:pPr lvl="0"/>
            <a:r>
              <a:rPr lang="en-US" noProof="0" dirty="0"/>
              <a:t>Parameterised Reporting and Charts Cont.</a:t>
            </a:r>
          </a:p>
        </p:txBody>
      </p:sp>
      <p:sp>
        <p:nvSpPr>
          <p:cNvPr id="15" name="Content Placeholder 2">
            <a:extLst>
              <a:ext uri="{FF2B5EF4-FFF2-40B4-BE49-F238E27FC236}">
                <a16:creationId xmlns:a16="http://schemas.microsoft.com/office/drawing/2014/main" id="{656336E3-0733-CF82-C94E-683D598546C6}"/>
              </a:ext>
            </a:extLst>
          </p:cNvPr>
          <p:cNvSpPr txBox="1">
            <a:spLocks/>
          </p:cNvSpPr>
          <p:nvPr/>
        </p:nvSpPr>
        <p:spPr>
          <a:xfrm>
            <a:off x="658535" y="2506914"/>
            <a:ext cx="3766656" cy="36254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solidFill>
                  <a:schemeClr val="tx2"/>
                </a:solidFill>
              </a:rPr>
              <a:t>We utilised distinct chart displays to influence the interpretation of statistics.</a:t>
            </a:r>
          </a:p>
          <a:p>
            <a:r>
              <a:rPr lang="en-US" dirty="0">
                <a:solidFill>
                  <a:schemeClr val="tx2"/>
                </a:solidFill>
              </a:rPr>
              <a:t>The pie chart is a visual aid that simplifies management and allows managers to draw comparisons.</a:t>
            </a:r>
          </a:p>
          <a:p>
            <a:r>
              <a:rPr lang="en-US" dirty="0">
                <a:solidFill>
                  <a:schemeClr val="tx2"/>
                </a:solidFill>
              </a:rPr>
              <a:t>Our reports use dynamic interaction, such as clickable items, searching, and dropdowns.</a:t>
            </a:r>
          </a:p>
        </p:txBody>
      </p:sp>
      <p:sp>
        <p:nvSpPr>
          <p:cNvPr id="23" name="Content Placeholder 2">
            <a:extLst>
              <a:ext uri="{FF2B5EF4-FFF2-40B4-BE49-F238E27FC236}">
                <a16:creationId xmlns:a16="http://schemas.microsoft.com/office/drawing/2014/main" id="{C5F1B729-3012-3DFC-FB5F-A48356A0C4C1}"/>
              </a:ext>
            </a:extLst>
          </p:cNvPr>
          <p:cNvSpPr txBox="1">
            <a:spLocks/>
          </p:cNvSpPr>
          <p:nvPr/>
        </p:nvSpPr>
        <p:spPr>
          <a:xfrm>
            <a:off x="5005454" y="588779"/>
            <a:ext cx="6528011" cy="1684638"/>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None/>
            </a:pPr>
            <a:r>
              <a:rPr lang="en-US" dirty="0">
                <a:solidFill>
                  <a:schemeClr val="bg1"/>
                </a:solidFill>
              </a:rPr>
              <a:t>Clicking a section of the pie chart opens a “Member Attendance” modal. It displays all member names assigned to a class category.</a:t>
            </a:r>
          </a:p>
          <a:p>
            <a:pPr marL="0" indent="0">
              <a:buNone/>
            </a:pPr>
            <a:r>
              <a:rPr lang="en-US" dirty="0">
                <a:solidFill>
                  <a:schemeClr val="bg1"/>
                </a:solidFill>
              </a:rPr>
              <a:t>After clicking on the “Boxing” section of the chart:</a:t>
            </a:r>
          </a:p>
        </p:txBody>
      </p:sp>
      <p:pic>
        <p:nvPicPr>
          <p:cNvPr id="3" name="Picture 2">
            <a:extLst>
              <a:ext uri="{FF2B5EF4-FFF2-40B4-BE49-F238E27FC236}">
                <a16:creationId xmlns:a16="http://schemas.microsoft.com/office/drawing/2014/main" id="{D3D25BF9-F963-3AF0-AB4B-47FBE9A984BD}"/>
              </a:ext>
            </a:extLst>
          </p:cNvPr>
          <p:cNvPicPr>
            <a:picLocks noChangeAspect="1"/>
          </p:cNvPicPr>
          <p:nvPr/>
        </p:nvPicPr>
        <p:blipFill>
          <a:blip r:embed="rId3"/>
          <a:stretch>
            <a:fillRect/>
          </a:stretch>
        </p:blipFill>
        <p:spPr>
          <a:xfrm>
            <a:off x="5920699" y="2227160"/>
            <a:ext cx="4949190" cy="4042061"/>
          </a:xfrm>
          <a:prstGeom prst="rect">
            <a:avLst/>
          </a:prstGeom>
          <a:ln>
            <a:solidFill>
              <a:schemeClr val="bg1"/>
            </a:solidFill>
          </a:ln>
        </p:spPr>
      </p:pic>
    </p:spTree>
    <p:extLst>
      <p:ext uri="{BB962C8B-B14F-4D97-AF65-F5344CB8AC3E}">
        <p14:creationId xmlns:p14="http://schemas.microsoft.com/office/powerpoint/2010/main" val="165509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85972AC-EBF0-AEDE-17FB-A51EAA83AA0E}"/>
              </a:ext>
            </a:extLst>
          </p:cNvPr>
          <p:cNvSpPr>
            <a:spLocks noGrp="1"/>
          </p:cNvSpPr>
          <p:nvPr>
            <p:ph type="title"/>
          </p:nvPr>
        </p:nvSpPr>
        <p:spPr>
          <a:xfrm>
            <a:off x="8036953" y="467359"/>
            <a:ext cx="3342248" cy="639872"/>
          </a:xfrm>
        </p:spPr>
        <p:txBody>
          <a:bodyPr/>
          <a:lstStyle/>
          <a:p>
            <a:r>
              <a:rPr lang="en-US" dirty="0"/>
              <a:t>Data Retrieval</a:t>
            </a:r>
          </a:p>
        </p:txBody>
      </p:sp>
      <p:sp>
        <p:nvSpPr>
          <p:cNvPr id="8" name="Content Placeholder 7">
            <a:extLst>
              <a:ext uri="{FF2B5EF4-FFF2-40B4-BE49-F238E27FC236}">
                <a16:creationId xmlns:a16="http://schemas.microsoft.com/office/drawing/2014/main" id="{A900955D-4691-EA42-252F-2D3B626B48CD}"/>
              </a:ext>
            </a:extLst>
          </p:cNvPr>
          <p:cNvSpPr>
            <a:spLocks noGrp="1"/>
          </p:cNvSpPr>
          <p:nvPr>
            <p:ph sz="quarter" idx="10"/>
          </p:nvPr>
        </p:nvSpPr>
        <p:spPr>
          <a:xfrm>
            <a:off x="7793344" y="1383915"/>
            <a:ext cx="4127723" cy="5152352"/>
          </a:xfrm>
        </p:spPr>
        <p:txBody>
          <a:bodyPr/>
          <a:lstStyle/>
          <a:p>
            <a:pPr lvl="0"/>
            <a:r>
              <a:rPr lang="en-US" noProof="0" dirty="0"/>
              <a:t>Used </a:t>
            </a:r>
            <a:r>
              <a:rPr lang="en-US" dirty="0"/>
              <a:t>SELECT </a:t>
            </a:r>
            <a:r>
              <a:rPr lang="en-US" noProof="0" dirty="0"/>
              <a:t>SQL queries to retrieve data from our local database.</a:t>
            </a:r>
          </a:p>
          <a:p>
            <a:pPr lvl="0"/>
            <a:r>
              <a:rPr lang="en-US" dirty="0"/>
              <a:t>Produced tables that visually help users gain insights from information.</a:t>
            </a:r>
          </a:p>
          <a:p>
            <a:pPr lvl="0"/>
            <a:r>
              <a:rPr lang="en-US" noProof="0" dirty="0"/>
              <a:t>Used functions like </a:t>
            </a:r>
            <a:r>
              <a:rPr lang="en-US" dirty="0"/>
              <a:t>CONCAT to simplify searching for specific coaches, coach assignments, members, measurements, and reservations.</a:t>
            </a:r>
            <a:endParaRPr lang="en-US" noProof="0" dirty="0"/>
          </a:p>
        </p:txBody>
      </p:sp>
      <p:sp>
        <p:nvSpPr>
          <p:cNvPr id="6" name="TextBox 5">
            <a:extLst>
              <a:ext uri="{FF2B5EF4-FFF2-40B4-BE49-F238E27FC236}">
                <a16:creationId xmlns:a16="http://schemas.microsoft.com/office/drawing/2014/main" id="{30BF0E04-060B-2442-BFEF-0EA5AD8DBB65}"/>
              </a:ext>
            </a:extLst>
          </p:cNvPr>
          <p:cNvSpPr txBox="1"/>
          <p:nvPr/>
        </p:nvSpPr>
        <p:spPr>
          <a:xfrm>
            <a:off x="692227" y="820849"/>
            <a:ext cx="6128023" cy="1749197"/>
          </a:xfrm>
          <a:prstGeom prst="rect">
            <a:avLst/>
          </a:prstGeom>
          <a:solidFill>
            <a:schemeClr val="tx2"/>
          </a:solidFill>
          <a:ln>
            <a:solidFill>
              <a:schemeClr val="bg1"/>
            </a:solidFill>
          </a:ln>
        </p:spPr>
        <p:txBody>
          <a:bodyPr wrap="square">
            <a:spAutoFit/>
          </a:bodyPr>
          <a:lstStyle/>
          <a:p>
            <a:r>
              <a:rPr lang="en-US" sz="1300" dirty="0">
                <a:solidFill>
                  <a:schemeClr val="bg1"/>
                </a:solidFill>
                <a:latin typeface="Consolas" panose="020B0609020204030204" pitchFamily="49" charset="0"/>
              </a:rPr>
              <a:t>-- An example query from our coach table:</a:t>
            </a:r>
          </a:p>
          <a:p>
            <a:pPr marL="342900" indent="-342900">
              <a:buAutoNum type="arabicPeriod"/>
            </a:pPr>
            <a:endParaRPr lang="en-GB" sz="1300" b="0" dirty="0">
              <a:solidFill>
                <a:schemeClr val="bg1"/>
              </a:solidFill>
              <a:effectLst/>
              <a:latin typeface="Consolas" panose="020B0609020204030204" pitchFamily="49" charset="0"/>
            </a:endParaRPr>
          </a:p>
          <a:p>
            <a:pPr>
              <a:lnSpc>
                <a:spcPts val="1425"/>
              </a:lnSpc>
              <a:buNone/>
            </a:pPr>
            <a:r>
              <a:rPr lang="en-US" sz="1300" b="0" dirty="0">
                <a:solidFill>
                  <a:schemeClr val="bg1"/>
                </a:solidFill>
                <a:effectLst/>
                <a:latin typeface="Consolas" panose="020B0609020204030204" pitchFamily="49" charset="0"/>
              </a:rPr>
              <a:t>SELECT</a:t>
            </a:r>
          </a:p>
          <a:p>
            <a:pPr>
              <a:lnSpc>
                <a:spcPts val="1425"/>
              </a:lnSpc>
              <a:buNone/>
            </a:pPr>
            <a:r>
              <a:rPr lang="en-US" sz="1300" dirty="0">
                <a:solidFill>
                  <a:schemeClr val="bg1"/>
                </a:solidFill>
                <a:latin typeface="Consolas" panose="020B0609020204030204" pitchFamily="49" charset="0"/>
              </a:rPr>
              <a:t>	</a:t>
            </a:r>
            <a:r>
              <a:rPr lang="en-US" sz="1300" b="0" dirty="0" err="1">
                <a:solidFill>
                  <a:schemeClr val="bg1"/>
                </a:solidFill>
                <a:effectLst/>
                <a:latin typeface="Consolas" panose="020B0609020204030204" pitchFamily="49" charset="0"/>
              </a:rPr>
              <a:t>coachId</a:t>
            </a:r>
            <a:r>
              <a:rPr lang="en-US" sz="1300" b="0" dirty="0">
                <a:solidFill>
                  <a:schemeClr val="bg1"/>
                </a:solidFill>
                <a:effectLst/>
                <a:latin typeface="Consolas" panose="020B0609020204030204" pitchFamily="49" charset="0"/>
              </a:rPr>
              <a:t>,</a:t>
            </a:r>
          </a:p>
          <a:p>
            <a:pPr>
              <a:lnSpc>
                <a:spcPts val="1425"/>
              </a:lnSpc>
              <a:buNone/>
            </a:pPr>
            <a:r>
              <a:rPr lang="en-US" sz="1300" dirty="0">
                <a:solidFill>
                  <a:schemeClr val="bg1"/>
                </a:solidFill>
                <a:latin typeface="Consolas" panose="020B0609020204030204" pitchFamily="49" charset="0"/>
              </a:rPr>
              <a:t>	</a:t>
            </a:r>
            <a:r>
              <a:rPr lang="en-US" sz="1300" b="0" dirty="0">
                <a:solidFill>
                  <a:schemeClr val="bg1"/>
                </a:solidFill>
                <a:effectLst/>
                <a:highlight>
                  <a:srgbClr val="808000"/>
                </a:highlight>
                <a:latin typeface="Consolas" panose="020B0609020204030204" pitchFamily="49" charset="0"/>
              </a:rPr>
              <a:t>CONCAT</a:t>
            </a:r>
            <a:r>
              <a:rPr lang="en-US" sz="1300" b="0" dirty="0">
                <a:solidFill>
                  <a:schemeClr val="bg1"/>
                </a:solidFill>
                <a:effectLst/>
                <a:latin typeface="Consolas" panose="020B0609020204030204" pitchFamily="49" charset="0"/>
              </a:rPr>
              <a:t>(</a:t>
            </a:r>
            <a:r>
              <a:rPr lang="en-US" sz="1300" b="0" dirty="0" err="1">
                <a:solidFill>
                  <a:schemeClr val="bg1"/>
                </a:solidFill>
                <a:effectLst/>
                <a:latin typeface="Consolas" panose="020B0609020204030204" pitchFamily="49" charset="0"/>
              </a:rPr>
              <a:t>coachForename</a:t>
            </a:r>
            <a:r>
              <a:rPr lang="en-US" sz="1300" b="0" dirty="0">
                <a:solidFill>
                  <a:schemeClr val="bg1"/>
                </a:solidFill>
                <a:effectLst/>
                <a:latin typeface="Consolas" panose="020B0609020204030204" pitchFamily="49" charset="0"/>
              </a:rPr>
              <a:t>, ' ', </a:t>
            </a:r>
            <a:r>
              <a:rPr lang="en-US" sz="1300" b="0" dirty="0" err="1">
                <a:solidFill>
                  <a:schemeClr val="bg1"/>
                </a:solidFill>
                <a:effectLst/>
                <a:latin typeface="Consolas" panose="020B0609020204030204" pitchFamily="49" charset="0"/>
              </a:rPr>
              <a:t>coachSurname</a:t>
            </a:r>
            <a:r>
              <a:rPr lang="en-US" sz="1300" b="0" dirty="0">
                <a:solidFill>
                  <a:schemeClr val="bg1"/>
                </a:solidFill>
                <a:effectLst/>
                <a:latin typeface="Consolas" panose="020B0609020204030204" pitchFamily="49" charset="0"/>
              </a:rPr>
              <a:t>) AS </a:t>
            </a:r>
            <a:r>
              <a:rPr lang="en-US" sz="1300" b="0" dirty="0" err="1">
                <a:solidFill>
                  <a:schemeClr val="bg1"/>
                </a:solidFill>
                <a:effectLst/>
                <a:latin typeface="Consolas" panose="020B0609020204030204" pitchFamily="49" charset="0"/>
              </a:rPr>
              <a:t>coachName</a:t>
            </a:r>
            <a:r>
              <a:rPr lang="en-US" sz="1300" b="0" dirty="0">
                <a:solidFill>
                  <a:schemeClr val="bg1"/>
                </a:solidFill>
                <a:effectLst/>
                <a:latin typeface="Consolas" panose="020B0609020204030204" pitchFamily="49" charset="0"/>
              </a:rPr>
              <a:t>,</a:t>
            </a:r>
          </a:p>
          <a:p>
            <a:pPr>
              <a:lnSpc>
                <a:spcPts val="1425"/>
              </a:lnSpc>
              <a:buNone/>
            </a:pPr>
            <a:r>
              <a:rPr lang="en-US" sz="1300" dirty="0">
                <a:solidFill>
                  <a:schemeClr val="bg1"/>
                </a:solidFill>
                <a:latin typeface="Consolas" panose="020B0609020204030204" pitchFamily="49" charset="0"/>
              </a:rPr>
              <a:t>	</a:t>
            </a:r>
            <a:r>
              <a:rPr lang="en-US" sz="1300" b="0" dirty="0" err="1">
                <a:solidFill>
                  <a:schemeClr val="bg1"/>
                </a:solidFill>
                <a:effectLst/>
                <a:latin typeface="Consolas" panose="020B0609020204030204" pitchFamily="49" charset="0"/>
              </a:rPr>
              <a:t>coachEmail</a:t>
            </a:r>
            <a:r>
              <a:rPr lang="en-US" sz="1300" b="0" dirty="0">
                <a:solidFill>
                  <a:schemeClr val="bg1"/>
                </a:solidFill>
                <a:effectLst/>
                <a:latin typeface="Consolas" panose="020B0609020204030204" pitchFamily="49" charset="0"/>
              </a:rPr>
              <a:t>, </a:t>
            </a:r>
          </a:p>
          <a:p>
            <a:pPr>
              <a:lnSpc>
                <a:spcPts val="1425"/>
              </a:lnSpc>
              <a:buNone/>
            </a:pPr>
            <a:r>
              <a:rPr lang="en-US" sz="1300" dirty="0">
                <a:solidFill>
                  <a:schemeClr val="bg1"/>
                </a:solidFill>
                <a:latin typeface="Consolas" panose="020B0609020204030204" pitchFamily="49" charset="0"/>
              </a:rPr>
              <a:t>	</a:t>
            </a:r>
            <a:r>
              <a:rPr lang="en-US" sz="1300" b="0" dirty="0" err="1">
                <a:solidFill>
                  <a:schemeClr val="bg1"/>
                </a:solidFill>
                <a:effectLst/>
                <a:latin typeface="Consolas" panose="020B0609020204030204" pitchFamily="49" charset="0"/>
              </a:rPr>
              <a:t>coachPhone</a:t>
            </a:r>
            <a:r>
              <a:rPr lang="en-US" sz="1300" b="0" dirty="0">
                <a:solidFill>
                  <a:schemeClr val="bg1"/>
                </a:solidFill>
                <a:effectLst/>
                <a:latin typeface="Consolas" panose="020B0609020204030204" pitchFamily="49" charset="0"/>
              </a:rPr>
              <a:t>,</a:t>
            </a:r>
          </a:p>
          <a:p>
            <a:pPr>
              <a:lnSpc>
                <a:spcPts val="1425"/>
              </a:lnSpc>
              <a:buNone/>
            </a:pPr>
            <a:r>
              <a:rPr lang="en-US" sz="1300" dirty="0">
                <a:solidFill>
                  <a:schemeClr val="bg1"/>
                </a:solidFill>
                <a:latin typeface="Consolas" panose="020B0609020204030204" pitchFamily="49" charset="0"/>
              </a:rPr>
              <a:t>	</a:t>
            </a:r>
            <a:r>
              <a:rPr lang="en-US" sz="1300" b="0" dirty="0" err="1">
                <a:solidFill>
                  <a:schemeClr val="bg1"/>
                </a:solidFill>
                <a:effectLst/>
                <a:latin typeface="Consolas" panose="020B0609020204030204" pitchFamily="49" charset="0"/>
              </a:rPr>
              <a:t>coachSpecialisation</a:t>
            </a:r>
            <a:endParaRPr lang="en-US" sz="1300" dirty="0">
              <a:solidFill>
                <a:schemeClr val="bg1"/>
              </a:solidFill>
              <a:latin typeface="Consolas" panose="020B0609020204030204" pitchFamily="49" charset="0"/>
            </a:endParaRPr>
          </a:p>
          <a:p>
            <a:pPr>
              <a:lnSpc>
                <a:spcPts val="1425"/>
              </a:lnSpc>
              <a:buNone/>
            </a:pPr>
            <a:r>
              <a:rPr lang="en-US" sz="1300" b="0" dirty="0">
                <a:solidFill>
                  <a:schemeClr val="bg1"/>
                </a:solidFill>
                <a:effectLst/>
                <a:latin typeface="Consolas" panose="020B0609020204030204" pitchFamily="49" charset="0"/>
              </a:rPr>
              <a:t>FROM </a:t>
            </a:r>
            <a:r>
              <a:rPr lang="en-US" sz="1300" b="0" dirty="0" err="1">
                <a:solidFill>
                  <a:schemeClr val="bg1"/>
                </a:solidFill>
                <a:effectLst/>
                <a:latin typeface="Consolas" panose="020B0609020204030204" pitchFamily="49" charset="0"/>
              </a:rPr>
              <a:t>tblCoach</a:t>
            </a:r>
            <a:r>
              <a:rPr lang="en-US" sz="1300" b="0" dirty="0">
                <a:solidFill>
                  <a:schemeClr val="bg1"/>
                </a:solidFill>
                <a:effectLst/>
                <a:latin typeface="Consolas" panose="020B0609020204030204" pitchFamily="49" charset="0"/>
              </a:rPr>
              <a:t>;</a:t>
            </a:r>
          </a:p>
        </p:txBody>
      </p:sp>
      <p:pic>
        <p:nvPicPr>
          <p:cNvPr id="9" name="Picture 8">
            <a:extLst>
              <a:ext uri="{FF2B5EF4-FFF2-40B4-BE49-F238E27FC236}">
                <a16:creationId xmlns:a16="http://schemas.microsoft.com/office/drawing/2014/main" id="{7117B3F2-156C-61FE-F0C0-81D063927961}"/>
              </a:ext>
            </a:extLst>
          </p:cNvPr>
          <p:cNvPicPr>
            <a:picLocks noChangeAspect="1"/>
          </p:cNvPicPr>
          <p:nvPr/>
        </p:nvPicPr>
        <p:blipFill>
          <a:blip r:embed="rId3"/>
          <a:stretch>
            <a:fillRect/>
          </a:stretch>
        </p:blipFill>
        <p:spPr>
          <a:xfrm>
            <a:off x="692227" y="2849422"/>
            <a:ext cx="6128023" cy="3257317"/>
          </a:xfrm>
          <a:prstGeom prst="rect">
            <a:avLst/>
          </a:prstGeom>
          <a:ln>
            <a:solidFill>
              <a:schemeClr val="bg1"/>
            </a:solidFill>
          </a:ln>
        </p:spPr>
      </p:pic>
    </p:spTree>
    <p:extLst>
      <p:ext uri="{BB962C8B-B14F-4D97-AF65-F5344CB8AC3E}">
        <p14:creationId xmlns:p14="http://schemas.microsoft.com/office/powerpoint/2010/main" val="2610945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150BF-E75B-AD73-C4CA-D895F1973A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6F3130-7BD0-1A39-DE06-9324B1B51D27}"/>
              </a:ext>
            </a:extLst>
          </p:cNvPr>
          <p:cNvSpPr txBox="1">
            <a:spLocks/>
          </p:cNvSpPr>
          <p:nvPr/>
        </p:nvSpPr>
        <p:spPr>
          <a:xfrm>
            <a:off x="663021" y="704527"/>
            <a:ext cx="3774746" cy="1263695"/>
          </a:xfrm>
          <a:prstGeom prst="rect">
            <a:avLst/>
          </a:prstGeom>
          <a:noFill/>
          <a:effectLst/>
        </p:spPr>
        <p:txBody>
          <a:bodyPr vert="horz" lIns="91440" tIns="45720" rIns="91440" bIns="45720" rtlCol="0" anchor="ctr">
            <a:noAutofit/>
          </a:bodyPr>
          <a:lstStyle>
            <a:lvl1pPr algn="ctr" defTabSz="914400" rtl="0" eaLnBrk="1" latinLnBrk="0" hangingPunct="1">
              <a:lnSpc>
                <a:spcPct val="90000"/>
              </a:lnSpc>
              <a:spcBef>
                <a:spcPct val="0"/>
              </a:spcBef>
              <a:buNone/>
              <a:defRPr sz="3600" kern="1200" spc="0" baseline="0">
                <a:solidFill>
                  <a:schemeClr val="accent1">
                    <a:lumMod val="50000"/>
                  </a:schemeClr>
                </a:solidFill>
                <a:effectLst/>
                <a:latin typeface="+mj-lt"/>
                <a:ea typeface="+mj-ea"/>
                <a:cs typeface="+mj-cs"/>
              </a:defRPr>
            </a:lvl1pPr>
          </a:lstStyle>
          <a:p>
            <a:r>
              <a:rPr lang="en-US" dirty="0"/>
              <a:t>Data Retrieval Cont.</a:t>
            </a:r>
          </a:p>
        </p:txBody>
      </p:sp>
      <p:sp>
        <p:nvSpPr>
          <p:cNvPr id="8" name="Content Placeholder 7">
            <a:extLst>
              <a:ext uri="{FF2B5EF4-FFF2-40B4-BE49-F238E27FC236}">
                <a16:creationId xmlns:a16="http://schemas.microsoft.com/office/drawing/2014/main" id="{9B21C1E0-8821-A7E2-FF6E-A4EC26D7124C}"/>
              </a:ext>
            </a:extLst>
          </p:cNvPr>
          <p:cNvSpPr txBox="1">
            <a:spLocks/>
          </p:cNvSpPr>
          <p:nvPr/>
        </p:nvSpPr>
        <p:spPr>
          <a:xfrm>
            <a:off x="486533" y="1968222"/>
            <a:ext cx="4119023" cy="4256409"/>
          </a:xfrm>
          <a:prstGeom prst="rect">
            <a:avLst/>
          </a:prstGeom>
          <a:effectLst/>
        </p:spPr>
        <p:txBody>
          <a:bodyPr vert="horz" lIns="91440" tIns="45720" rIns="91440" bIns="45720" rtlCol="0" anchor="t">
            <a:normAutofit/>
          </a:bodyPr>
          <a:lstStyle>
            <a:lvl1pPr marL="283464" indent="-283464" algn="l" defTabSz="914400" rtl="0" eaLnBrk="1" latinLnBrk="0" hangingPunct="1">
              <a:lnSpc>
                <a:spcPct val="120000"/>
              </a:lnSpc>
              <a:spcBef>
                <a:spcPts val="0"/>
              </a:spcBef>
              <a:spcAft>
                <a:spcPts val="0"/>
              </a:spcAft>
              <a:buClr>
                <a:schemeClr val="tx1"/>
              </a:buClr>
              <a:buSzPct val="80000"/>
              <a:buFont typeface="Arial" panose="020B0604020202020204" pitchFamily="34" charset="0"/>
              <a:buChar char="•"/>
              <a:defRPr sz="1800" kern="1200" spc="10" baseline="0">
                <a:solidFill>
                  <a:schemeClr val="tx1"/>
                </a:solidFill>
                <a:latin typeface="+mn-lt"/>
                <a:ea typeface="+mn-ea"/>
                <a:cs typeface="+mn-cs"/>
              </a:defRPr>
            </a:lvl1pPr>
            <a:lvl2pPr marL="742950" indent="-285750" algn="l" defTabSz="914400" rtl="0" eaLnBrk="1" latinLnBrk="0" hangingPunct="1">
              <a:lnSpc>
                <a:spcPct val="120000"/>
              </a:lnSpc>
              <a:spcBef>
                <a:spcPts val="0"/>
              </a:spcBef>
              <a:spcAft>
                <a:spcPts val="0"/>
              </a:spcAft>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120000"/>
              </a:lnSpc>
              <a:spcBef>
                <a:spcPts val="0"/>
              </a:spcBef>
              <a:spcAft>
                <a:spcPts val="0"/>
              </a:spcAft>
              <a:buClr>
                <a:schemeClr val="tx1"/>
              </a:buClr>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120000"/>
              </a:lnSpc>
              <a:spcBef>
                <a:spcPts val="0"/>
              </a:spcBef>
              <a:spcAft>
                <a:spcPts val="0"/>
              </a:spcAft>
              <a:buClr>
                <a:schemeClr val="tx1"/>
              </a:buClr>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120000"/>
              </a:lnSpc>
              <a:spcBef>
                <a:spcPts val="0"/>
              </a:spcBef>
              <a:spcAft>
                <a:spcPts val="0"/>
              </a:spcAft>
              <a:buClr>
                <a:schemeClr val="tx1"/>
              </a:buClr>
              <a:buFont typeface="Arial" panose="020B0604020202020204" pitchFamily="34" charset="0"/>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a:t>We used JOINs to link key information from tables using foreign keys.</a:t>
            </a:r>
          </a:p>
          <a:p>
            <a:r>
              <a:rPr lang="en-US" dirty="0"/>
              <a:t>The IDs that identified key entities allowed us to obtain information from corresponding tables and produce meaningful reports in many of our pages.</a:t>
            </a:r>
          </a:p>
          <a:p>
            <a:r>
              <a:rPr lang="en-US" dirty="0"/>
              <a:t>For instance, we used an INNER JOIN to retrieve the names of centres that coaches were assigned to using centre IDs:</a:t>
            </a:r>
          </a:p>
        </p:txBody>
      </p:sp>
      <p:sp>
        <p:nvSpPr>
          <p:cNvPr id="15" name="TextBox 14">
            <a:extLst>
              <a:ext uri="{FF2B5EF4-FFF2-40B4-BE49-F238E27FC236}">
                <a16:creationId xmlns:a16="http://schemas.microsoft.com/office/drawing/2014/main" id="{EDF0646F-B09C-2504-C02F-37904653ADDE}"/>
              </a:ext>
            </a:extLst>
          </p:cNvPr>
          <p:cNvSpPr txBox="1"/>
          <p:nvPr/>
        </p:nvSpPr>
        <p:spPr>
          <a:xfrm>
            <a:off x="4999839" y="704527"/>
            <a:ext cx="6529140" cy="2487861"/>
          </a:xfrm>
          <a:prstGeom prst="rect">
            <a:avLst/>
          </a:prstGeom>
          <a:solidFill>
            <a:schemeClr val="tx2"/>
          </a:solidFill>
          <a:ln>
            <a:solidFill>
              <a:schemeClr val="bg1"/>
            </a:solidFill>
          </a:ln>
        </p:spPr>
        <p:txBody>
          <a:bodyPr wrap="square">
            <a:spAutoFit/>
          </a:bodyPr>
          <a:lstStyle/>
          <a:p>
            <a:r>
              <a:rPr lang="en-GB" sz="1300" b="0" dirty="0">
                <a:solidFill>
                  <a:schemeClr val="bg1"/>
                </a:solidFill>
                <a:effectLst/>
                <a:latin typeface="Consolas" panose="020B0609020204030204" pitchFamily="49" charset="0"/>
              </a:rPr>
              <a:t>-- An example of how we used an inner join to obtain the names of coaches assigned centres:</a:t>
            </a:r>
            <a:endParaRPr lang="en-GB" sz="1300" dirty="0">
              <a:solidFill>
                <a:schemeClr val="bg1"/>
              </a:solidFill>
              <a:latin typeface="Consolas" panose="020B0609020204030204" pitchFamily="49" charset="0"/>
            </a:endParaRPr>
          </a:p>
          <a:p>
            <a:endParaRPr lang="en-GB" sz="1300" b="0" dirty="0">
              <a:solidFill>
                <a:schemeClr val="bg1"/>
              </a:solidFill>
              <a:effectLst/>
              <a:latin typeface="Consolas" panose="020B0609020204030204" pitchFamily="49" charset="0"/>
            </a:endParaRPr>
          </a:p>
          <a:p>
            <a:pPr>
              <a:lnSpc>
                <a:spcPts val="1425"/>
              </a:lnSpc>
              <a:buNone/>
            </a:pPr>
            <a:r>
              <a:rPr lang="en-GB" sz="1300" b="0" dirty="0">
                <a:solidFill>
                  <a:schemeClr val="bg1"/>
                </a:solidFill>
                <a:effectLst/>
                <a:latin typeface="Consolas" panose="020B0609020204030204" pitchFamily="49" charset="0"/>
              </a:rPr>
              <a:t>SELECT</a:t>
            </a:r>
          </a:p>
          <a:p>
            <a:pPr>
              <a:lnSpc>
                <a:spcPts val="1425"/>
              </a:lnSpc>
              <a:buNone/>
            </a:pPr>
            <a:r>
              <a:rPr lang="en-GB" sz="1300" dirty="0">
                <a:solidFill>
                  <a:schemeClr val="bg1"/>
                </a:solidFill>
                <a:latin typeface="Consolas" panose="020B0609020204030204" pitchFamily="49" charset="0"/>
              </a:rPr>
              <a:t>	</a:t>
            </a:r>
            <a:r>
              <a:rPr lang="en-GB" sz="1300" b="0" dirty="0" err="1">
                <a:solidFill>
                  <a:schemeClr val="bg1"/>
                </a:solidFill>
                <a:effectLst/>
                <a:latin typeface="Consolas" panose="020B0609020204030204" pitchFamily="49" charset="0"/>
              </a:rPr>
              <a:t>c.coachId</a:t>
            </a:r>
            <a:r>
              <a:rPr lang="en-GB" sz="1300" b="0" dirty="0">
                <a:solidFill>
                  <a:schemeClr val="bg1"/>
                </a:solidFill>
                <a:effectLst/>
                <a:latin typeface="Consolas" panose="020B0609020204030204" pitchFamily="49" charset="0"/>
              </a:rPr>
              <a:t>,</a:t>
            </a:r>
          </a:p>
          <a:p>
            <a:pPr>
              <a:lnSpc>
                <a:spcPts val="1425"/>
              </a:lnSpc>
              <a:buNone/>
            </a:pPr>
            <a:r>
              <a:rPr lang="en-GB" sz="1300" dirty="0">
                <a:solidFill>
                  <a:schemeClr val="bg1"/>
                </a:solidFill>
                <a:latin typeface="Consolas" panose="020B0609020204030204" pitchFamily="49" charset="0"/>
              </a:rPr>
              <a:t>	</a:t>
            </a:r>
            <a:r>
              <a:rPr lang="en-GB" sz="1300" b="0" dirty="0" err="1">
                <a:solidFill>
                  <a:schemeClr val="bg1"/>
                </a:solidFill>
                <a:effectLst/>
                <a:latin typeface="Consolas" panose="020B0609020204030204" pitchFamily="49" charset="0"/>
              </a:rPr>
              <a:t>ce.centreId</a:t>
            </a:r>
            <a:r>
              <a:rPr lang="en-GB" sz="1300" b="0" dirty="0">
                <a:solidFill>
                  <a:schemeClr val="bg1"/>
                </a:solidFill>
                <a:effectLst/>
                <a:latin typeface="Consolas" panose="020B0609020204030204" pitchFamily="49" charset="0"/>
              </a:rPr>
              <a:t>,</a:t>
            </a:r>
          </a:p>
          <a:p>
            <a:pPr lvl="1">
              <a:lnSpc>
                <a:spcPts val="1425"/>
              </a:lnSpc>
            </a:pPr>
            <a:r>
              <a:rPr lang="en-GB" sz="1300" b="0" dirty="0">
                <a:solidFill>
                  <a:schemeClr val="bg1"/>
                </a:solidFill>
                <a:effectLst/>
                <a:latin typeface="Consolas" panose="020B0609020204030204" pitchFamily="49" charset="0"/>
              </a:rPr>
              <a:t>CONCAT(</a:t>
            </a:r>
            <a:r>
              <a:rPr lang="en-GB" sz="1300" b="0" dirty="0" err="1">
                <a:solidFill>
                  <a:schemeClr val="bg1"/>
                </a:solidFill>
                <a:effectLst/>
                <a:latin typeface="Consolas" panose="020B0609020204030204" pitchFamily="49" charset="0"/>
              </a:rPr>
              <a:t>c.coachForename</a:t>
            </a:r>
            <a:r>
              <a:rPr lang="en-GB" sz="1300" b="0" dirty="0">
                <a:solidFill>
                  <a:schemeClr val="bg1"/>
                </a:solidFill>
                <a:effectLst/>
                <a:latin typeface="Consolas" panose="020B0609020204030204" pitchFamily="49" charset="0"/>
              </a:rPr>
              <a:t>, ' ', </a:t>
            </a:r>
            <a:r>
              <a:rPr lang="en-GB" sz="1300" b="0" dirty="0" err="1">
                <a:solidFill>
                  <a:schemeClr val="bg1"/>
                </a:solidFill>
                <a:effectLst/>
                <a:latin typeface="Consolas" panose="020B0609020204030204" pitchFamily="49" charset="0"/>
              </a:rPr>
              <a:t>c.coachSurname</a:t>
            </a:r>
            <a:r>
              <a:rPr lang="en-GB" sz="1300" b="0" dirty="0">
                <a:solidFill>
                  <a:schemeClr val="bg1"/>
                </a:solidFill>
                <a:effectLst/>
                <a:latin typeface="Consolas" panose="020B0609020204030204" pitchFamily="49" charset="0"/>
              </a:rPr>
              <a:t>) AS </a:t>
            </a:r>
            <a:r>
              <a:rPr lang="en-GB" sz="1300" b="0" dirty="0" err="1">
                <a:solidFill>
                  <a:schemeClr val="bg1"/>
                </a:solidFill>
                <a:effectLst/>
                <a:latin typeface="Consolas" panose="020B0609020204030204" pitchFamily="49" charset="0"/>
              </a:rPr>
              <a:t>coachName</a:t>
            </a:r>
            <a:r>
              <a:rPr lang="en-GB" sz="1300" b="0" dirty="0">
                <a:solidFill>
                  <a:schemeClr val="bg1"/>
                </a:solidFill>
                <a:effectLst/>
                <a:latin typeface="Consolas" panose="020B0609020204030204" pitchFamily="49" charset="0"/>
              </a:rPr>
              <a:t>, </a:t>
            </a:r>
          </a:p>
          <a:p>
            <a:pPr lvl="1">
              <a:lnSpc>
                <a:spcPts val="1425"/>
              </a:lnSpc>
            </a:pPr>
            <a:r>
              <a:rPr lang="en-GB" sz="1300" b="0" dirty="0" err="1">
                <a:solidFill>
                  <a:schemeClr val="bg1"/>
                </a:solidFill>
                <a:effectLst/>
                <a:latin typeface="Consolas" panose="020B0609020204030204" pitchFamily="49" charset="0"/>
              </a:rPr>
              <a:t>ce.centreName</a:t>
            </a:r>
            <a:r>
              <a:rPr lang="en-GB" sz="1300" b="0" dirty="0">
                <a:solidFill>
                  <a:schemeClr val="bg1"/>
                </a:solidFill>
                <a:effectLst/>
                <a:latin typeface="Consolas" panose="020B0609020204030204" pitchFamily="49" charset="0"/>
              </a:rPr>
              <a:t> </a:t>
            </a:r>
          </a:p>
          <a:p>
            <a:pPr>
              <a:lnSpc>
                <a:spcPts val="1425"/>
              </a:lnSpc>
              <a:buNone/>
            </a:pPr>
            <a:r>
              <a:rPr lang="en-GB" sz="1300" b="0" dirty="0">
                <a:solidFill>
                  <a:schemeClr val="bg1"/>
                </a:solidFill>
                <a:effectLst/>
                <a:latin typeface="Consolas" panose="020B0609020204030204" pitchFamily="49" charset="0"/>
              </a:rPr>
              <a:t>FROM </a:t>
            </a:r>
            <a:r>
              <a:rPr lang="en-GB" sz="1300" b="0" dirty="0" err="1">
                <a:solidFill>
                  <a:schemeClr val="bg1"/>
                </a:solidFill>
                <a:effectLst/>
                <a:latin typeface="Consolas" panose="020B0609020204030204" pitchFamily="49" charset="0"/>
              </a:rPr>
              <a:t>tblcoachcentre</a:t>
            </a:r>
            <a:r>
              <a:rPr lang="en-GB" sz="1300" b="0" dirty="0">
                <a:solidFill>
                  <a:schemeClr val="bg1"/>
                </a:solidFill>
                <a:effectLst/>
                <a:latin typeface="Consolas" panose="020B0609020204030204" pitchFamily="49" charset="0"/>
              </a:rPr>
              <a:t> cc</a:t>
            </a:r>
          </a:p>
          <a:p>
            <a:pPr>
              <a:lnSpc>
                <a:spcPts val="1425"/>
              </a:lnSpc>
              <a:buNone/>
            </a:pPr>
            <a:r>
              <a:rPr lang="en-GB" sz="1300" b="0" dirty="0">
                <a:solidFill>
                  <a:schemeClr val="bg1"/>
                </a:solidFill>
                <a:effectLst/>
                <a:highlight>
                  <a:srgbClr val="808000"/>
                </a:highlight>
                <a:latin typeface="Consolas" panose="020B0609020204030204" pitchFamily="49" charset="0"/>
              </a:rPr>
              <a:t>JOIN</a:t>
            </a:r>
            <a:r>
              <a:rPr lang="en-GB" sz="1300" b="0" dirty="0">
                <a:solidFill>
                  <a:schemeClr val="bg1"/>
                </a:solidFill>
                <a:effectLst/>
                <a:latin typeface="Consolas" panose="020B0609020204030204" pitchFamily="49" charset="0"/>
              </a:rPr>
              <a:t> </a:t>
            </a:r>
            <a:r>
              <a:rPr lang="en-GB" sz="1300" b="0" dirty="0" err="1">
                <a:solidFill>
                  <a:schemeClr val="bg1"/>
                </a:solidFill>
                <a:effectLst/>
                <a:latin typeface="Consolas" panose="020B0609020204030204" pitchFamily="49" charset="0"/>
              </a:rPr>
              <a:t>tblCoach</a:t>
            </a:r>
            <a:r>
              <a:rPr lang="en-GB" sz="1300" b="0" dirty="0">
                <a:solidFill>
                  <a:schemeClr val="bg1"/>
                </a:solidFill>
                <a:effectLst/>
                <a:latin typeface="Consolas" panose="020B0609020204030204" pitchFamily="49" charset="0"/>
              </a:rPr>
              <a:t> c</a:t>
            </a:r>
          </a:p>
          <a:p>
            <a:pPr>
              <a:lnSpc>
                <a:spcPts val="1425"/>
              </a:lnSpc>
              <a:buNone/>
            </a:pPr>
            <a:r>
              <a:rPr lang="en-GB" sz="1300" dirty="0">
                <a:solidFill>
                  <a:schemeClr val="bg1"/>
                </a:solidFill>
                <a:latin typeface="Consolas" panose="020B0609020204030204" pitchFamily="49" charset="0"/>
              </a:rPr>
              <a:t>	</a:t>
            </a:r>
            <a:r>
              <a:rPr lang="en-GB" sz="1300" b="0" dirty="0">
                <a:solidFill>
                  <a:schemeClr val="bg1"/>
                </a:solidFill>
                <a:effectLst/>
                <a:latin typeface="Consolas" panose="020B0609020204030204" pitchFamily="49" charset="0"/>
              </a:rPr>
              <a:t>ON </a:t>
            </a:r>
            <a:r>
              <a:rPr lang="en-GB" sz="1300" b="0" dirty="0" err="1">
                <a:solidFill>
                  <a:schemeClr val="bg1"/>
                </a:solidFill>
                <a:effectLst/>
                <a:latin typeface="Consolas" panose="020B0609020204030204" pitchFamily="49" charset="0"/>
              </a:rPr>
              <a:t>cc.coachId</a:t>
            </a:r>
            <a:r>
              <a:rPr lang="en-GB" sz="1300" b="0" dirty="0">
                <a:solidFill>
                  <a:schemeClr val="bg1"/>
                </a:solidFill>
                <a:effectLst/>
                <a:latin typeface="Consolas" panose="020B0609020204030204" pitchFamily="49" charset="0"/>
              </a:rPr>
              <a:t> = </a:t>
            </a:r>
            <a:r>
              <a:rPr lang="en-GB" sz="1300" b="0" dirty="0" err="1">
                <a:solidFill>
                  <a:schemeClr val="bg1"/>
                </a:solidFill>
                <a:effectLst/>
                <a:latin typeface="Consolas" panose="020B0609020204030204" pitchFamily="49" charset="0"/>
              </a:rPr>
              <a:t>c.coachId</a:t>
            </a:r>
            <a:endParaRPr lang="en-GB" sz="1300" dirty="0">
              <a:solidFill>
                <a:schemeClr val="bg1"/>
              </a:solidFill>
              <a:latin typeface="Consolas" panose="020B0609020204030204" pitchFamily="49" charset="0"/>
            </a:endParaRPr>
          </a:p>
          <a:p>
            <a:pPr>
              <a:lnSpc>
                <a:spcPts val="1425"/>
              </a:lnSpc>
              <a:buNone/>
            </a:pPr>
            <a:r>
              <a:rPr lang="en-GB" sz="1300" b="0" dirty="0">
                <a:solidFill>
                  <a:schemeClr val="bg1"/>
                </a:solidFill>
                <a:effectLst/>
                <a:highlight>
                  <a:srgbClr val="808000"/>
                </a:highlight>
                <a:latin typeface="Consolas" panose="020B0609020204030204" pitchFamily="49" charset="0"/>
              </a:rPr>
              <a:t>JOIN</a:t>
            </a:r>
            <a:r>
              <a:rPr lang="en-GB" sz="1300" b="0" dirty="0">
                <a:solidFill>
                  <a:schemeClr val="bg1"/>
                </a:solidFill>
                <a:effectLst/>
                <a:latin typeface="Consolas" panose="020B0609020204030204" pitchFamily="49" charset="0"/>
              </a:rPr>
              <a:t> </a:t>
            </a:r>
            <a:r>
              <a:rPr lang="en-GB" sz="1300" b="0" dirty="0" err="1">
                <a:solidFill>
                  <a:schemeClr val="bg1"/>
                </a:solidFill>
                <a:effectLst/>
                <a:latin typeface="Consolas" panose="020B0609020204030204" pitchFamily="49" charset="0"/>
              </a:rPr>
              <a:t>tblCentre</a:t>
            </a:r>
            <a:r>
              <a:rPr lang="en-GB" sz="1300" b="0" dirty="0">
                <a:solidFill>
                  <a:schemeClr val="bg1"/>
                </a:solidFill>
                <a:effectLst/>
                <a:latin typeface="Consolas" panose="020B0609020204030204" pitchFamily="49" charset="0"/>
              </a:rPr>
              <a:t> </a:t>
            </a:r>
            <a:r>
              <a:rPr lang="en-GB" sz="1300" b="0" dirty="0" err="1">
                <a:solidFill>
                  <a:schemeClr val="bg1"/>
                </a:solidFill>
                <a:effectLst/>
                <a:latin typeface="Consolas" panose="020B0609020204030204" pitchFamily="49" charset="0"/>
              </a:rPr>
              <a:t>ce</a:t>
            </a:r>
            <a:endParaRPr lang="en-GB" sz="1300" dirty="0">
              <a:solidFill>
                <a:schemeClr val="bg1"/>
              </a:solidFill>
              <a:latin typeface="Consolas" panose="020B0609020204030204" pitchFamily="49" charset="0"/>
            </a:endParaRPr>
          </a:p>
          <a:p>
            <a:pPr>
              <a:lnSpc>
                <a:spcPts val="1425"/>
              </a:lnSpc>
              <a:buNone/>
            </a:pPr>
            <a:r>
              <a:rPr lang="en-GB" sz="1300" b="0" dirty="0">
                <a:solidFill>
                  <a:schemeClr val="bg1"/>
                </a:solidFill>
                <a:effectLst/>
                <a:latin typeface="Consolas" panose="020B0609020204030204" pitchFamily="49" charset="0"/>
              </a:rPr>
              <a:t>	ON </a:t>
            </a:r>
            <a:r>
              <a:rPr lang="en-GB" sz="1300" b="0" dirty="0" err="1">
                <a:solidFill>
                  <a:schemeClr val="bg1"/>
                </a:solidFill>
                <a:effectLst/>
                <a:latin typeface="Consolas" panose="020B0609020204030204" pitchFamily="49" charset="0"/>
              </a:rPr>
              <a:t>cc.centreId</a:t>
            </a:r>
            <a:r>
              <a:rPr lang="en-GB" sz="1300" b="0" dirty="0">
                <a:solidFill>
                  <a:schemeClr val="bg1"/>
                </a:solidFill>
                <a:effectLst/>
                <a:latin typeface="Consolas" panose="020B0609020204030204" pitchFamily="49" charset="0"/>
              </a:rPr>
              <a:t> = </a:t>
            </a:r>
            <a:r>
              <a:rPr lang="en-GB" sz="1300" b="0" dirty="0" err="1">
                <a:solidFill>
                  <a:schemeClr val="bg1"/>
                </a:solidFill>
                <a:effectLst/>
                <a:latin typeface="Consolas" panose="020B0609020204030204" pitchFamily="49" charset="0"/>
              </a:rPr>
              <a:t>ce.centreId</a:t>
            </a:r>
            <a:r>
              <a:rPr lang="en-GB" sz="1300" b="0" dirty="0">
                <a:solidFill>
                  <a:schemeClr val="bg1"/>
                </a:solidFill>
                <a:effectLst/>
                <a:latin typeface="Consolas" panose="020B0609020204030204" pitchFamily="49" charset="0"/>
              </a:rPr>
              <a:t>;</a:t>
            </a:r>
          </a:p>
        </p:txBody>
      </p:sp>
      <p:pic>
        <p:nvPicPr>
          <p:cNvPr id="17" name="Picture 16">
            <a:extLst>
              <a:ext uri="{FF2B5EF4-FFF2-40B4-BE49-F238E27FC236}">
                <a16:creationId xmlns:a16="http://schemas.microsoft.com/office/drawing/2014/main" id="{DD3862A1-8C8F-7763-3595-16939C9BE3EA}"/>
              </a:ext>
            </a:extLst>
          </p:cNvPr>
          <p:cNvPicPr>
            <a:picLocks noChangeAspect="1"/>
          </p:cNvPicPr>
          <p:nvPr/>
        </p:nvPicPr>
        <p:blipFill>
          <a:blip r:embed="rId3"/>
          <a:stretch>
            <a:fillRect/>
          </a:stretch>
        </p:blipFill>
        <p:spPr>
          <a:xfrm>
            <a:off x="5763993" y="3647693"/>
            <a:ext cx="5000832" cy="2576938"/>
          </a:xfrm>
          <a:prstGeom prst="rect">
            <a:avLst/>
          </a:prstGeom>
          <a:ln>
            <a:solidFill>
              <a:schemeClr val="bg1"/>
            </a:solidFill>
          </a:ln>
        </p:spPr>
      </p:pic>
    </p:spTree>
    <p:extLst>
      <p:ext uri="{BB962C8B-B14F-4D97-AF65-F5344CB8AC3E}">
        <p14:creationId xmlns:p14="http://schemas.microsoft.com/office/powerpoint/2010/main" val="154998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06AC8A-162C-5E86-8A29-04B6BCDD3B87}"/>
              </a:ext>
            </a:extLst>
          </p:cNvPr>
          <p:cNvSpPr>
            <a:spLocks noGrp="1"/>
          </p:cNvSpPr>
          <p:nvPr>
            <p:ph type="title"/>
          </p:nvPr>
        </p:nvSpPr>
        <p:spPr>
          <a:xfrm>
            <a:off x="1011221" y="707226"/>
            <a:ext cx="3910492" cy="1163520"/>
          </a:xfrm>
        </p:spPr>
        <p:txBody>
          <a:bodyPr anchor="ctr">
            <a:normAutofit/>
          </a:bodyPr>
          <a:lstStyle/>
          <a:p>
            <a:pPr lvl="0"/>
            <a:r>
              <a:rPr lang="en-US" noProof="0" dirty="0">
                <a:solidFill>
                  <a:schemeClr val="bg1"/>
                </a:solidFill>
              </a:rPr>
              <a:t>User Feedback: Validation</a:t>
            </a:r>
          </a:p>
        </p:txBody>
      </p:sp>
      <p:sp>
        <p:nvSpPr>
          <p:cNvPr id="5" name="Table Placeholder 4">
            <a:extLst>
              <a:ext uri="{FF2B5EF4-FFF2-40B4-BE49-F238E27FC236}">
                <a16:creationId xmlns:a16="http://schemas.microsoft.com/office/drawing/2014/main" id="{8FEA56C3-E85D-3763-A14C-17B578951FD1}"/>
              </a:ext>
            </a:extLst>
          </p:cNvPr>
          <p:cNvSpPr>
            <a:spLocks noGrp="1"/>
          </p:cNvSpPr>
          <p:nvPr>
            <p:ph type="tbl" sz="quarter" idx="10"/>
          </p:nvPr>
        </p:nvSpPr>
        <p:spPr>
          <a:xfrm>
            <a:off x="1011221" y="1961976"/>
            <a:ext cx="4193095" cy="765496"/>
          </a:xfrm>
        </p:spPr>
        <p:txBody>
          <a:bodyPr/>
          <a:lstStyle/>
          <a:p>
            <a:pPr marL="285750" indent="-285750" algn="l">
              <a:buFont typeface="Arial" panose="020B0604020202020204" pitchFamily="34" charset="0"/>
              <a:buChar char="•"/>
            </a:pPr>
            <a:r>
              <a:rPr lang="en-US" dirty="0">
                <a:solidFill>
                  <a:schemeClr val="bg1"/>
                </a:solidFill>
              </a:rPr>
              <a:t>Messages appear after critical operations are performed.</a:t>
            </a:r>
          </a:p>
        </p:txBody>
      </p:sp>
      <p:sp>
        <p:nvSpPr>
          <p:cNvPr id="7" name="TextBox 6">
            <a:extLst>
              <a:ext uri="{FF2B5EF4-FFF2-40B4-BE49-F238E27FC236}">
                <a16:creationId xmlns:a16="http://schemas.microsoft.com/office/drawing/2014/main" id="{5F79C8A6-0D66-CA6A-B619-EDC42674894B}"/>
              </a:ext>
            </a:extLst>
          </p:cNvPr>
          <p:cNvSpPr txBox="1"/>
          <p:nvPr/>
        </p:nvSpPr>
        <p:spPr>
          <a:xfrm>
            <a:off x="1011221" y="2818702"/>
            <a:ext cx="4193095" cy="3145733"/>
          </a:xfrm>
          <a:prstGeom prst="rect">
            <a:avLst/>
          </a:prstGeom>
          <a:solidFill>
            <a:schemeClr val="tx2"/>
          </a:solidFill>
          <a:ln>
            <a:solidFill>
              <a:schemeClr val="bg1"/>
            </a:solidFill>
          </a:ln>
        </p:spPr>
        <p:txBody>
          <a:bodyPr wrap="square">
            <a:spAutoFit/>
          </a:bodyPr>
          <a:lstStyle/>
          <a:p>
            <a:pPr>
              <a:lnSpc>
                <a:spcPts val="1425"/>
              </a:lnSpc>
              <a:buNone/>
            </a:pP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result = </a:t>
            </a:r>
            <a:r>
              <a:rPr lang="en-GB" sz="1300" b="0" dirty="0">
                <a:solidFill>
                  <a:srgbClr val="569CD6"/>
                </a:solidFill>
                <a:effectLst/>
                <a:latin typeface="Consolas" panose="020B0609020204030204" pitchFamily="49" charset="0"/>
              </a:rPr>
              <a:t>await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runQuery</a:t>
            </a:r>
            <a:r>
              <a:rPr lang="en-GB" sz="1300" b="0" dirty="0">
                <a:solidFill>
                  <a:srgbClr val="D4D4D4"/>
                </a:solidFill>
                <a:effectLst/>
                <a:latin typeface="Consolas" panose="020B0609020204030204" pitchFamily="49" charset="0"/>
              </a:rPr>
              <a:t>(</a:t>
            </a:r>
            <a:r>
              <a:rPr lang="en-GB" sz="1300" b="0" dirty="0" err="1">
                <a:solidFill>
                  <a:srgbClr val="D4D4D4"/>
                </a:solidFill>
                <a:effectLst/>
                <a:latin typeface="Consolas" panose="020B0609020204030204" pitchFamily="49" charset="0"/>
              </a:rPr>
              <a:t>sql</a:t>
            </a:r>
            <a:r>
              <a:rPr lang="en-GB" sz="1300" b="0" dirty="0">
                <a:solidFill>
                  <a:srgbClr val="D4D4D4"/>
                </a:solidFill>
                <a:effectLst/>
                <a:latin typeface="Consolas" panose="020B0609020204030204" pitchFamily="49" charset="0"/>
              </a:rPr>
              <a:t>);</a:t>
            </a:r>
          </a:p>
          <a:p>
            <a:pPr>
              <a:lnSpc>
                <a:spcPts val="1425"/>
              </a:lnSpc>
              <a:buNone/>
            </a:pPr>
            <a:br>
              <a:rPr lang="en-GB" sz="1300" b="0" dirty="0">
                <a:solidFill>
                  <a:srgbClr val="D4D4D4"/>
                </a:solidFill>
                <a:effectLst/>
                <a:latin typeface="Consolas" panose="020B0609020204030204" pitchFamily="49" charset="0"/>
              </a:rPr>
            </a:br>
            <a:r>
              <a:rPr lang="en-GB" sz="1300" b="0" dirty="0">
                <a:solidFill>
                  <a:srgbClr val="569CD6"/>
                </a:solidFill>
                <a:effectLst/>
                <a:latin typeface="Consolas" panose="020B0609020204030204" pitchFamily="49" charset="0"/>
              </a:rPr>
              <a:t>if</a:t>
            </a:r>
            <a:r>
              <a:rPr lang="en-GB" sz="1300" b="0" dirty="0">
                <a:solidFill>
                  <a:srgbClr val="D4D4D4"/>
                </a:solidFill>
                <a:effectLst/>
                <a:latin typeface="Consolas" panose="020B0609020204030204" pitchFamily="49" charset="0"/>
              </a:rPr>
              <a:t> (result &amp;&amp; </a:t>
            </a:r>
            <a:r>
              <a:rPr lang="en-GB" sz="1300" b="0" dirty="0" err="1">
                <a:solidFill>
                  <a:srgbClr val="D4D4D4"/>
                </a:solidFill>
                <a:effectLst/>
                <a:latin typeface="Consolas" panose="020B0609020204030204" pitchFamily="49" charset="0"/>
              </a:rPr>
              <a:t>result.success</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D4D4D4"/>
                </a:solidFill>
                <a:effectLst/>
                <a:highlight>
                  <a:srgbClr val="808000"/>
                </a:highlight>
                <a:latin typeface="Consolas" panose="020B0609020204030204" pitchFamily="49" charset="0"/>
              </a:rPr>
              <a:t>showMessage</a:t>
            </a:r>
            <a:r>
              <a:rPr lang="en-GB" sz="1300" b="0" dirty="0">
                <a:solidFill>
                  <a:srgbClr val="D4D4D4"/>
                </a:solidFill>
                <a:effectLst/>
                <a:highlight>
                  <a:srgbClr val="808000"/>
                </a:highlight>
                <a:latin typeface="Consolas" panose="020B0609020204030204" pitchFamily="49" charset="0"/>
              </a:rPr>
              <a:t>(</a:t>
            </a:r>
            <a:r>
              <a:rPr lang="en-GB" sz="1300" b="0" dirty="0">
                <a:solidFill>
                  <a:srgbClr val="CE9178"/>
                </a:solidFill>
                <a:effectLst/>
                <a:highlight>
                  <a:srgbClr val="808000"/>
                </a:highlight>
                <a:latin typeface="Consolas" panose="020B0609020204030204" pitchFamily="49" charset="0"/>
              </a:rPr>
              <a:t>"Coach added successfully!"</a:t>
            </a:r>
            <a:r>
              <a:rPr lang="en-GB" sz="1300" b="0" dirty="0">
                <a:solidFill>
                  <a:srgbClr val="D4D4D4"/>
                </a:solidFill>
                <a:effectLst/>
                <a:highlight>
                  <a:srgbClr val="808000"/>
                </a:highlight>
                <a:latin typeface="Consolas" panose="020B0609020204030204" pitchFamily="49" charset="0"/>
              </a:rPr>
              <a:t>, </a:t>
            </a:r>
            <a:r>
              <a:rPr lang="en-GB" sz="1300" b="0" dirty="0">
                <a:solidFill>
                  <a:srgbClr val="CE9178"/>
                </a:solidFill>
                <a:effectLst/>
                <a:highlight>
                  <a:srgbClr val="808000"/>
                </a:highlight>
                <a:latin typeface="Consolas" panose="020B0609020204030204" pitchFamily="49" charset="0"/>
              </a:rPr>
              <a:t>"success"</a:t>
            </a:r>
            <a:r>
              <a:rPr lang="en-GB" sz="1300" b="0" dirty="0">
                <a:solidFill>
                  <a:srgbClr val="D4D4D4"/>
                </a:solidFill>
                <a:effectLst/>
                <a:highlight>
                  <a:srgbClr val="808000"/>
                </a:highlight>
                <a:latin typeface="Consolas" panose="020B0609020204030204" pitchFamily="49" charset="0"/>
              </a:rPr>
              <a:t>);</a:t>
            </a:r>
          </a:p>
          <a:p>
            <a:pPr>
              <a:lnSpc>
                <a:spcPts val="1425"/>
              </a:lnSpc>
              <a:buNone/>
            </a:pPr>
            <a:r>
              <a:rPr lang="en-GB" sz="1300" dirty="0">
                <a:solidFill>
                  <a:srgbClr val="D4D4D4"/>
                </a:solidFill>
                <a:latin typeface="Consolas" panose="020B0609020204030204" pitchFamily="49" charset="0"/>
              </a:rPr>
              <a:t>	</a:t>
            </a:r>
            <a:r>
              <a:rPr lang="en-GB" sz="1300" b="0" dirty="0" err="1">
                <a:solidFill>
                  <a:srgbClr val="D4D4D4"/>
                </a:solidFill>
                <a:effectLst/>
                <a:latin typeface="Consolas" panose="020B0609020204030204" pitchFamily="49" charset="0"/>
              </a:rPr>
              <a:t>form.reset</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569CD6"/>
                </a:solidFill>
                <a:effectLst/>
                <a:latin typeface="Consolas" panose="020B0609020204030204" pitchFamily="49" charset="0"/>
              </a:rPr>
              <a:t>	return</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a:t>
            </a:r>
          </a:p>
          <a:p>
            <a:pPr>
              <a:lnSpc>
                <a:spcPts val="1425"/>
              </a:lnSpc>
              <a:buNone/>
            </a:pPr>
            <a:br>
              <a:rPr lang="en-GB" sz="1300" b="0" dirty="0">
                <a:solidFill>
                  <a:srgbClr val="D4D4D4"/>
                </a:solidFill>
                <a:effectLst/>
                <a:latin typeface="Consolas" panose="020B0609020204030204" pitchFamily="49" charset="0"/>
              </a:rPr>
            </a:b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569CD6"/>
                </a:solidFill>
                <a:effectLst/>
                <a:latin typeface="Consolas" panose="020B0609020204030204" pitchFamily="49" charset="0"/>
              </a:rPr>
              <a:t>if</a:t>
            </a:r>
            <a:r>
              <a:rPr lang="en-GB" sz="1300" b="0" dirty="0">
                <a:solidFill>
                  <a:srgbClr val="D4D4D4"/>
                </a:solidFill>
                <a:effectLst/>
                <a:latin typeface="Consolas" panose="020B0609020204030204" pitchFamily="49" charset="0"/>
              </a:rPr>
              <a:t> (result &amp;&amp; </a:t>
            </a:r>
            <a:r>
              <a:rPr lang="en-GB" sz="1300" b="0" dirty="0" err="1">
                <a:solidFill>
                  <a:srgbClr val="D4D4D4"/>
                </a:solidFill>
                <a:effectLst/>
                <a:latin typeface="Consolas" panose="020B0609020204030204" pitchFamily="49" charset="0"/>
              </a:rPr>
              <a:t>result.error</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D4D4D4"/>
                </a:solidFill>
                <a:effectLst/>
                <a:highlight>
                  <a:srgbClr val="808000"/>
                </a:highlight>
                <a:latin typeface="Consolas" panose="020B0609020204030204" pitchFamily="49" charset="0"/>
              </a:rPr>
              <a:t>showMessage</a:t>
            </a:r>
            <a:r>
              <a:rPr lang="en-GB" sz="1300" b="0" dirty="0">
                <a:solidFill>
                  <a:srgbClr val="D4D4D4"/>
                </a:solidFill>
                <a:effectLst/>
                <a:highlight>
                  <a:srgbClr val="808000"/>
                </a:highlight>
                <a:latin typeface="Consolas" panose="020B0609020204030204" pitchFamily="49" charset="0"/>
              </a:rPr>
              <a:t>(</a:t>
            </a:r>
            <a:r>
              <a:rPr lang="en-GB" sz="1300" b="0" dirty="0">
                <a:solidFill>
                  <a:srgbClr val="CE9178"/>
                </a:solidFill>
                <a:effectLst/>
                <a:highlight>
                  <a:srgbClr val="808000"/>
                </a:highlight>
                <a:latin typeface="Consolas" panose="020B0609020204030204" pitchFamily="49" charset="0"/>
              </a:rPr>
              <a:t>`Error: </a:t>
            </a:r>
            <a:r>
              <a:rPr lang="en-GB" sz="1300" b="0" dirty="0">
                <a:solidFill>
                  <a:srgbClr val="569CD6"/>
                </a:solidFill>
                <a:effectLst/>
                <a:highlight>
                  <a:srgbClr val="808000"/>
                </a:highlight>
                <a:latin typeface="Consolas" panose="020B0609020204030204" pitchFamily="49" charset="0"/>
              </a:rPr>
              <a:t>${</a:t>
            </a:r>
            <a:r>
              <a:rPr lang="en-GB" sz="1300" b="0" dirty="0" err="1">
                <a:solidFill>
                  <a:srgbClr val="D4D4D4"/>
                </a:solidFill>
                <a:effectLst/>
                <a:highlight>
                  <a:srgbClr val="808000"/>
                </a:highlight>
                <a:latin typeface="Consolas" panose="020B0609020204030204" pitchFamily="49" charset="0"/>
              </a:rPr>
              <a:t>result.error</a:t>
            </a:r>
            <a:r>
              <a:rPr lang="en-GB" sz="1300" b="0" dirty="0">
                <a:solidFill>
                  <a:srgbClr val="569CD6"/>
                </a:solidFill>
                <a:effectLst/>
                <a:highlight>
                  <a:srgbClr val="808000"/>
                </a:highlight>
                <a:latin typeface="Consolas" panose="020B0609020204030204" pitchFamily="49" charset="0"/>
              </a:rPr>
              <a:t>}</a:t>
            </a:r>
            <a:r>
              <a:rPr lang="en-GB" sz="1300" b="0" dirty="0">
                <a:solidFill>
                  <a:srgbClr val="CE9178"/>
                </a:solidFill>
                <a:effectLst/>
                <a:highlight>
                  <a:srgbClr val="808000"/>
                </a:highlight>
                <a:latin typeface="Consolas" panose="020B0609020204030204" pitchFamily="49" charset="0"/>
              </a:rPr>
              <a:t>`</a:t>
            </a:r>
            <a:r>
              <a:rPr lang="en-GB" sz="1300" b="0" dirty="0">
                <a:solidFill>
                  <a:srgbClr val="D4D4D4"/>
                </a:solidFill>
                <a:effectLst/>
                <a:highlight>
                  <a:srgbClr val="808000"/>
                </a:highlight>
                <a:latin typeface="Consolas" panose="020B0609020204030204" pitchFamily="49" charset="0"/>
              </a:rPr>
              <a:t>, </a:t>
            </a:r>
            <a:r>
              <a:rPr lang="en-GB" sz="1300" b="0" dirty="0">
                <a:solidFill>
                  <a:srgbClr val="CE9178"/>
                </a:solidFill>
                <a:effectLst/>
                <a:highlight>
                  <a:srgbClr val="808000"/>
                </a:highlight>
                <a:latin typeface="Consolas" panose="020B0609020204030204" pitchFamily="49" charset="0"/>
              </a:rPr>
              <a:t>"error"</a:t>
            </a:r>
            <a:r>
              <a:rPr lang="en-GB" sz="1300" b="0" dirty="0">
                <a:solidFill>
                  <a:srgbClr val="D4D4D4"/>
                </a:solidFill>
                <a:effectLst/>
                <a:highlight>
                  <a:srgbClr val="808000"/>
                </a:highligh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else</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D4D4D4"/>
                </a:solidFill>
                <a:effectLst/>
                <a:highlight>
                  <a:srgbClr val="808000"/>
                </a:highlight>
                <a:latin typeface="Consolas" panose="020B0609020204030204" pitchFamily="49" charset="0"/>
              </a:rPr>
              <a:t>showMessage</a:t>
            </a:r>
            <a:r>
              <a:rPr lang="en-GB" sz="1300" b="0" dirty="0">
                <a:solidFill>
                  <a:srgbClr val="D4D4D4"/>
                </a:solidFill>
                <a:effectLst/>
                <a:highlight>
                  <a:srgbClr val="808000"/>
                </a:highlight>
                <a:latin typeface="Consolas" panose="020B0609020204030204" pitchFamily="49" charset="0"/>
              </a:rPr>
              <a:t>(</a:t>
            </a:r>
            <a:r>
              <a:rPr lang="en-GB" sz="1300" b="0" dirty="0">
                <a:solidFill>
                  <a:srgbClr val="CE9178"/>
                </a:solidFill>
                <a:effectLst/>
                <a:highlight>
                  <a:srgbClr val="808000"/>
                </a:highlight>
                <a:latin typeface="Consolas" panose="020B0609020204030204" pitchFamily="49" charset="0"/>
              </a:rPr>
              <a:t>"Unable to add the record"</a:t>
            </a:r>
            <a:r>
              <a:rPr lang="en-GB" sz="1300" b="0" dirty="0">
                <a:solidFill>
                  <a:srgbClr val="D4D4D4"/>
                </a:solidFill>
                <a:effectLst/>
                <a:highlight>
                  <a:srgbClr val="808000"/>
                </a:highlight>
                <a:latin typeface="Consolas" panose="020B0609020204030204" pitchFamily="49" charset="0"/>
              </a:rPr>
              <a:t>, </a:t>
            </a:r>
            <a:r>
              <a:rPr lang="en-GB" sz="1300" b="0" dirty="0">
                <a:solidFill>
                  <a:srgbClr val="CE9178"/>
                </a:solidFill>
                <a:effectLst/>
                <a:highlight>
                  <a:srgbClr val="808000"/>
                </a:highlight>
                <a:latin typeface="Consolas" panose="020B0609020204030204" pitchFamily="49" charset="0"/>
              </a:rPr>
              <a:t>"error"</a:t>
            </a:r>
            <a:r>
              <a:rPr lang="en-GB" sz="1300" b="0" dirty="0">
                <a:solidFill>
                  <a:srgbClr val="D4D4D4"/>
                </a:solidFill>
                <a:effectLst/>
                <a:highlight>
                  <a:srgbClr val="808000"/>
                </a:highligh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a:t>
            </a:r>
          </a:p>
        </p:txBody>
      </p:sp>
      <p:sp>
        <p:nvSpPr>
          <p:cNvPr id="14" name="TextBox 13">
            <a:extLst>
              <a:ext uri="{FF2B5EF4-FFF2-40B4-BE49-F238E27FC236}">
                <a16:creationId xmlns:a16="http://schemas.microsoft.com/office/drawing/2014/main" id="{BBD7118D-B2E1-8AFA-2766-371606DCE9E1}"/>
              </a:ext>
            </a:extLst>
          </p:cNvPr>
          <p:cNvSpPr txBox="1"/>
          <p:nvPr/>
        </p:nvSpPr>
        <p:spPr>
          <a:xfrm>
            <a:off x="5410900" y="707226"/>
            <a:ext cx="6065238" cy="3684342"/>
          </a:xfrm>
          <a:prstGeom prst="rect">
            <a:avLst/>
          </a:prstGeom>
          <a:solidFill>
            <a:schemeClr val="tx2"/>
          </a:solidFill>
          <a:ln>
            <a:solidFill>
              <a:schemeClr val="bg1"/>
            </a:solidFill>
          </a:ln>
        </p:spPr>
        <p:txBody>
          <a:bodyPr wrap="square">
            <a:spAutoFit/>
          </a:bodyPr>
          <a:lstStyle/>
          <a:p>
            <a:pPr>
              <a:lnSpc>
                <a:spcPts val="1425"/>
              </a:lnSpc>
            </a:pPr>
            <a:r>
              <a:rPr lang="en-US" sz="1400" dirty="0">
                <a:solidFill>
                  <a:srgbClr val="6A9955"/>
                </a:solidFill>
                <a:latin typeface="Consolas" panose="020B0609020204030204" pitchFamily="49" charset="0"/>
              </a:rPr>
              <a:t>-- </a:t>
            </a:r>
            <a:r>
              <a:rPr lang="en-GB" sz="1400" dirty="0">
                <a:solidFill>
                  <a:srgbClr val="6A9955"/>
                </a:solidFill>
                <a:latin typeface="Consolas" panose="020B0609020204030204" pitchFamily="49" charset="0"/>
              </a:rPr>
              <a:t>First, we validate the type of data submitted by the user.</a:t>
            </a:r>
            <a:endParaRPr lang="en-GB" sz="1400" b="0" dirty="0">
              <a:solidFill>
                <a:srgbClr val="569CD6"/>
              </a:solidFill>
              <a:effectLst/>
              <a:latin typeface="Consolas" panose="020B0609020204030204" pitchFamily="49" charset="0"/>
            </a:endParaRP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validateMeasurement</a:t>
            </a:r>
            <a:r>
              <a:rPr lang="en-GB" sz="1400" b="0" dirty="0">
                <a:solidFill>
                  <a:srgbClr val="D4D4D4"/>
                </a:solidFill>
                <a:effectLst/>
                <a:latin typeface="Consolas" panose="020B0609020204030204" pitchFamily="49" charset="0"/>
              </a:rPr>
              <a:t> = (measurement) </a:t>
            </a:r>
            <a:r>
              <a:rPr lang="en-GB" sz="1400" b="0" dirty="0">
                <a:solidFill>
                  <a:srgbClr val="569CD6"/>
                </a:solidFill>
                <a:effectLst/>
                <a:latin typeface="Consolas" panose="020B0609020204030204" pitchFamily="49" charset="0"/>
              </a:rPr>
              <a:t>=&gt;</a:t>
            </a:r>
            <a:r>
              <a:rPr lang="en-GB" sz="1400" b="0" dirty="0">
                <a:solidFill>
                  <a:srgbClr val="D4D4D4"/>
                </a:solidFill>
                <a:effectLst/>
                <a:latin typeface="Consolas" panose="020B0609020204030204" pitchFamily="49" charset="0"/>
              </a:rPr>
              <a:t> {</a:t>
            </a:r>
          </a:p>
          <a:p>
            <a:pPr>
              <a:lnSpc>
                <a:spcPts val="1425"/>
              </a:lnSpc>
              <a:buNone/>
            </a:pPr>
            <a:r>
              <a:rPr lang="en-GB" sz="1400" b="0" dirty="0">
                <a:solidFill>
                  <a:srgbClr val="569CD6"/>
                </a:solidFill>
                <a:effectLst/>
                <a:latin typeface="Consolas" panose="020B0609020204030204" pitchFamily="49" charset="0"/>
              </a:rPr>
              <a:t>	if</a:t>
            </a:r>
            <a:r>
              <a:rPr lang="en-GB" sz="1400" b="0" dirty="0">
                <a:solidFill>
                  <a:srgbClr val="D4D4D4"/>
                </a:solidFill>
                <a:effectLst/>
                <a:latin typeface="Consolas" panose="020B0609020204030204" pitchFamily="49" charset="0"/>
              </a:rPr>
              <a:t> (!measurement || </a:t>
            </a:r>
            <a:r>
              <a:rPr lang="en-GB" sz="1400" b="0" dirty="0" err="1">
                <a:solidFill>
                  <a:srgbClr val="569CD6"/>
                </a:solidFill>
                <a:effectLst/>
                <a:latin typeface="Consolas" panose="020B0609020204030204" pitchFamily="49" charset="0"/>
              </a:rPr>
              <a:t>typeof</a:t>
            </a:r>
            <a:r>
              <a:rPr lang="en-GB" sz="1400" b="0" dirty="0">
                <a:solidFill>
                  <a:srgbClr val="D4D4D4"/>
                </a:solidFill>
                <a:effectLst/>
                <a:latin typeface="Consolas" panose="020B0609020204030204" pitchFamily="49" charset="0"/>
              </a:rPr>
              <a:t> measurement !== </a:t>
            </a:r>
            <a:r>
              <a:rPr lang="en-GB" sz="1400" b="0" dirty="0">
                <a:solidFill>
                  <a:srgbClr val="CE9178"/>
                </a:solidFill>
                <a:effectLst/>
                <a:latin typeface="Consolas" panose="020B0609020204030204" pitchFamily="49" charset="0"/>
              </a:rPr>
              <a:t>"object"</a:t>
            </a:r>
            <a:r>
              <a:rPr lang="en-GB" sz="1400" b="0" dirty="0">
                <a:solidFill>
                  <a:srgbClr val="D4D4D4"/>
                </a:solidFill>
                <a:effectLst/>
                <a:latin typeface="Consolas" panose="020B0609020204030204" pitchFamily="49" charset="0"/>
              </a:rPr>
              <a:t>) {</a:t>
            </a:r>
          </a:p>
          <a:p>
            <a:pPr>
              <a:lnSpc>
                <a:spcPts val="1425"/>
              </a:lnSpc>
              <a:buNone/>
            </a:pPr>
            <a:r>
              <a:rPr lang="en-GB" sz="1400" b="0" dirty="0">
                <a:solidFill>
                  <a:srgbClr val="569CD6"/>
                </a:solidFill>
                <a:effectLst/>
                <a:latin typeface="Consolas" panose="020B0609020204030204" pitchFamily="49" charset="0"/>
              </a:rPr>
              <a:t>	return</a:t>
            </a:r>
            <a:r>
              <a:rPr lang="en-GB" sz="1400" b="0" dirty="0">
                <a:solidFill>
                  <a:srgbClr val="D4D4D4"/>
                </a:solidFill>
                <a:effectLst/>
                <a:latin typeface="Consolas" panose="020B0609020204030204" pitchFamily="49" charset="0"/>
              </a:rPr>
              <a:t> </a:t>
            </a:r>
            <a:r>
              <a:rPr lang="en-GB" sz="1400" b="0" dirty="0">
                <a:solidFill>
                  <a:srgbClr val="CE9178"/>
                </a:solidFill>
                <a:effectLst/>
                <a:latin typeface="Consolas" panose="020B0609020204030204" pitchFamily="49" charset="0"/>
              </a:rPr>
              <a:t>"Measurement details are required."</a:t>
            </a:r>
            <a:r>
              <a:rPr lang="en-GB" sz="1400" b="0" dirty="0">
                <a:solidFill>
                  <a:srgbClr val="D4D4D4"/>
                </a:solidFill>
                <a:effectLs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a:t>
            </a:r>
          </a:p>
          <a:p>
            <a:pPr>
              <a:lnSpc>
                <a:spcPts val="1425"/>
              </a:lnSpc>
              <a:buNone/>
            </a:pPr>
            <a:endParaRPr lang="en-GB" sz="1400" b="0" dirty="0">
              <a:solidFill>
                <a:srgbClr val="D4D4D4"/>
              </a:solidFill>
              <a:effectLst/>
              <a:latin typeface="Consolas" panose="020B0609020204030204" pitchFamily="49" charset="0"/>
            </a:endParaRPr>
          </a:p>
          <a:p>
            <a:pPr>
              <a:lnSpc>
                <a:spcPts val="1425"/>
              </a:lnSpc>
              <a:buNone/>
            </a:pPr>
            <a:r>
              <a:rPr lang="en-GB" sz="1400" b="0" dirty="0">
                <a:solidFill>
                  <a:srgbClr val="6A9955"/>
                </a:solidFill>
                <a:effectLst/>
                <a:latin typeface="Consolas" panose="020B0609020204030204" pitchFamily="49" charset="0"/>
              </a:rPr>
              <a:t>// Clean up and convert values first so the checks below are easier to write.</a:t>
            </a:r>
            <a:endParaRPr lang="en-GB" sz="1400" b="0" dirty="0">
              <a:solidFill>
                <a:srgbClr val="D4D4D4"/>
              </a:solidFill>
              <a:effectLst/>
              <a:latin typeface="Consolas" panose="020B0609020204030204" pitchFamily="49" charset="0"/>
            </a:endParaRP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memberId</a:t>
            </a:r>
            <a:r>
              <a:rPr lang="en-GB" sz="1400" b="0" dirty="0">
                <a:solidFill>
                  <a:srgbClr val="D4D4D4"/>
                </a:solidFill>
                <a:effectLst/>
                <a:latin typeface="Consolas" panose="020B0609020204030204" pitchFamily="49" charset="0"/>
              </a:rPr>
              <a:t> = Number(</a:t>
            </a:r>
            <a:r>
              <a:rPr lang="en-GB" sz="1400" b="0" dirty="0" err="1">
                <a:solidFill>
                  <a:srgbClr val="D4D4D4"/>
                </a:solidFill>
                <a:effectLst/>
                <a:latin typeface="Consolas" panose="020B0609020204030204" pitchFamily="49" charset="0"/>
              </a:rPr>
              <a:t>measurement.memberId</a:t>
            </a:r>
            <a:r>
              <a:rPr lang="en-GB" sz="1400" b="0" dirty="0">
                <a:solidFill>
                  <a:srgbClr val="D4D4D4"/>
                </a:solidFill>
                <a:effectLst/>
                <a:latin typeface="Consolas" panose="020B0609020204030204" pitchFamily="49" charset="0"/>
              </a:rPr>
              <a:t>);</a:t>
            </a: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memberStartWeight</a:t>
            </a:r>
            <a:r>
              <a:rPr lang="en-GB" sz="1400" b="0" dirty="0">
                <a:solidFill>
                  <a:srgbClr val="D4D4D4"/>
                </a:solidFill>
                <a:effectLst/>
                <a:latin typeface="Consolas" panose="020B0609020204030204" pitchFamily="49" charset="0"/>
              </a:rPr>
              <a:t> = Number(</a:t>
            </a:r>
            <a:r>
              <a:rPr lang="en-GB" sz="1400" b="0" dirty="0" err="1">
                <a:solidFill>
                  <a:srgbClr val="D4D4D4"/>
                </a:solidFill>
                <a:effectLst/>
                <a:latin typeface="Consolas" panose="020B0609020204030204" pitchFamily="49" charset="0"/>
              </a:rPr>
              <a:t>measurement.memberStartWeight</a:t>
            </a:r>
            <a:r>
              <a:rPr lang="en-GB" sz="1400" b="0" dirty="0">
                <a:solidFill>
                  <a:srgbClr val="D4D4D4"/>
                </a:solidFill>
                <a:effectLst/>
                <a:latin typeface="Consolas" panose="020B0609020204030204" pitchFamily="49" charset="0"/>
              </a:rPr>
              <a:t>);</a:t>
            </a: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memberCurrentWeight</a:t>
            </a:r>
            <a:r>
              <a:rPr lang="en-GB" sz="1400" b="0" dirty="0">
                <a:solidFill>
                  <a:srgbClr val="D4D4D4"/>
                </a:solidFill>
                <a:effectLst/>
                <a:latin typeface="Consolas" panose="020B0609020204030204" pitchFamily="49" charset="0"/>
              </a:rPr>
              <a:t> = Number(</a:t>
            </a:r>
            <a:r>
              <a:rPr lang="en-GB" sz="1400" b="0" dirty="0" err="1">
                <a:solidFill>
                  <a:srgbClr val="D4D4D4"/>
                </a:solidFill>
                <a:effectLst/>
                <a:latin typeface="Consolas" panose="020B0609020204030204" pitchFamily="49" charset="0"/>
              </a:rPr>
              <a:t>measurement.memberCurrentWeight</a:t>
            </a:r>
            <a:r>
              <a:rPr lang="en-GB" sz="1400" b="0" dirty="0">
                <a:solidFill>
                  <a:srgbClr val="D4D4D4"/>
                </a:solidFill>
                <a:effectLst/>
                <a:latin typeface="Consolas" panose="020B0609020204030204" pitchFamily="49" charset="0"/>
              </a:rPr>
              <a:t>);</a:t>
            </a: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memberStartMuscleMass</a:t>
            </a:r>
            <a:r>
              <a:rPr lang="en-GB" sz="1400" b="0" dirty="0">
                <a:solidFill>
                  <a:srgbClr val="D4D4D4"/>
                </a:solidFill>
                <a:effectLst/>
                <a:latin typeface="Consolas" panose="020B0609020204030204" pitchFamily="49" charset="0"/>
              </a:rPr>
              <a:t> = Number(</a:t>
            </a:r>
            <a:r>
              <a:rPr lang="en-GB" sz="1400" b="0" dirty="0" err="1">
                <a:solidFill>
                  <a:srgbClr val="D4D4D4"/>
                </a:solidFill>
                <a:effectLst/>
                <a:latin typeface="Consolas" panose="020B0609020204030204" pitchFamily="49" charset="0"/>
              </a:rPr>
              <a:t>measurement.memberStartMuscleMass</a:t>
            </a:r>
            <a:r>
              <a:rPr lang="en-GB" sz="1400" b="0" dirty="0">
                <a:solidFill>
                  <a:srgbClr val="D4D4D4"/>
                </a:solidFill>
                <a:effectLst/>
                <a:latin typeface="Consolas" panose="020B0609020204030204" pitchFamily="49" charset="0"/>
              </a:rPr>
              <a:t>);</a:t>
            </a: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memberCurrentMuscleMass</a:t>
            </a:r>
            <a:r>
              <a:rPr lang="en-GB" sz="1400" b="0" dirty="0">
                <a:solidFill>
                  <a:srgbClr val="D4D4D4"/>
                </a:solidFill>
                <a:effectLst/>
                <a:latin typeface="Consolas" panose="020B0609020204030204" pitchFamily="49" charset="0"/>
              </a:rPr>
              <a:t> = Number(</a:t>
            </a:r>
            <a:r>
              <a:rPr lang="en-GB" sz="1400" b="0" dirty="0" err="1">
                <a:solidFill>
                  <a:srgbClr val="D4D4D4"/>
                </a:solidFill>
                <a:effectLst/>
                <a:latin typeface="Consolas" panose="020B0609020204030204" pitchFamily="49" charset="0"/>
              </a:rPr>
              <a:t>measurement.memberCurrentMuscleMass</a:t>
            </a:r>
            <a:r>
              <a:rPr lang="en-GB" sz="1400" b="0" dirty="0">
                <a:solidFill>
                  <a:srgbClr val="D4D4D4"/>
                </a:solidFill>
                <a:effectLst/>
                <a:latin typeface="Consolas" panose="020B0609020204030204" pitchFamily="49" charset="0"/>
              </a:rPr>
              <a:t>);</a:t>
            </a:r>
          </a:p>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memberCondition</a:t>
            </a:r>
            <a:r>
              <a:rPr lang="en-GB" sz="1400" b="0" dirty="0">
                <a:solidFill>
                  <a:srgbClr val="D4D4D4"/>
                </a:solidFill>
                <a:effectLst/>
                <a:latin typeface="Consolas" panose="020B0609020204030204" pitchFamily="49" charset="0"/>
              </a:rPr>
              <a:t> = </a:t>
            </a:r>
            <a:r>
              <a:rPr lang="en-GB" sz="1400" b="0" dirty="0" err="1">
                <a:solidFill>
                  <a:srgbClr val="569CD6"/>
                </a:solidFill>
                <a:effectLst/>
                <a:latin typeface="Consolas" panose="020B0609020204030204" pitchFamily="49" charset="0"/>
              </a:rPr>
              <a:t>typeof</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measurement.memberCondition</a:t>
            </a:r>
            <a:r>
              <a:rPr lang="en-GB" sz="1400" b="0" dirty="0">
                <a:solidFill>
                  <a:srgbClr val="D4D4D4"/>
                </a:solidFill>
                <a:effectLst/>
                <a:latin typeface="Consolas" panose="020B0609020204030204" pitchFamily="49" charset="0"/>
              </a:rPr>
              <a:t> === </a:t>
            </a:r>
            <a:r>
              <a:rPr lang="en-GB" sz="1400" b="0" dirty="0">
                <a:solidFill>
                  <a:srgbClr val="CE9178"/>
                </a:solidFill>
                <a:effectLst/>
                <a:latin typeface="Consolas" panose="020B0609020204030204" pitchFamily="49" charset="0"/>
              </a:rPr>
              <a:t>"string"</a:t>
            </a:r>
            <a:r>
              <a:rPr lang="en-GB" sz="1400" b="0" dirty="0">
                <a:solidFill>
                  <a:srgbClr val="D4D4D4"/>
                </a:solidFill>
                <a:effectLst/>
                <a:latin typeface="Consolas" panose="020B0609020204030204" pitchFamily="49" charset="0"/>
              </a:rPr>
              <a:t> ? </a:t>
            </a:r>
            <a:r>
              <a:rPr lang="en-GB" sz="1400" b="0" dirty="0" err="1">
                <a:solidFill>
                  <a:srgbClr val="D4D4D4"/>
                </a:solidFill>
                <a:effectLst/>
                <a:latin typeface="Consolas" panose="020B0609020204030204" pitchFamily="49" charset="0"/>
              </a:rPr>
              <a:t>measurement.memberCondition.trim</a:t>
            </a:r>
            <a:r>
              <a:rPr lang="en-GB" sz="1400" b="0" dirty="0">
                <a:solidFill>
                  <a:srgbClr val="D4D4D4"/>
                </a:solidFill>
                <a:effectLst/>
                <a:latin typeface="Consolas" panose="020B0609020204030204" pitchFamily="49" charset="0"/>
              </a:rPr>
              <a:t>() : </a:t>
            </a:r>
            <a:r>
              <a:rPr lang="en-GB" sz="1400" b="0" dirty="0">
                <a:solidFill>
                  <a:srgbClr val="CE9178"/>
                </a:solidFill>
                <a:effectLst/>
                <a:latin typeface="Consolas" panose="020B0609020204030204" pitchFamily="49" charset="0"/>
              </a:rPr>
              <a:t>""</a:t>
            </a:r>
            <a:r>
              <a:rPr lang="en-GB" sz="1400" b="0" dirty="0">
                <a:solidFill>
                  <a:srgbClr val="D4D4D4"/>
                </a:solidFill>
                <a:effectLst/>
                <a:latin typeface="Consolas" panose="020B0609020204030204" pitchFamily="49" charset="0"/>
              </a:rPr>
              <a:t>;</a:t>
            </a:r>
          </a:p>
        </p:txBody>
      </p:sp>
      <p:sp>
        <p:nvSpPr>
          <p:cNvPr id="18" name="TextBox 17">
            <a:extLst>
              <a:ext uri="{FF2B5EF4-FFF2-40B4-BE49-F238E27FC236}">
                <a16:creationId xmlns:a16="http://schemas.microsoft.com/office/drawing/2014/main" id="{6C4781C5-4FCF-8C28-02D9-760AD37E8F32}"/>
              </a:ext>
            </a:extLst>
          </p:cNvPr>
          <p:cNvSpPr txBox="1"/>
          <p:nvPr/>
        </p:nvSpPr>
        <p:spPr>
          <a:xfrm>
            <a:off x="5410901" y="4614065"/>
            <a:ext cx="6065238" cy="1350370"/>
          </a:xfrm>
          <a:prstGeom prst="rect">
            <a:avLst/>
          </a:prstGeom>
          <a:solidFill>
            <a:schemeClr val="tx2"/>
          </a:solidFill>
          <a:ln>
            <a:solidFill>
              <a:schemeClr val="bg1"/>
            </a:solidFill>
          </a:ln>
        </p:spPr>
        <p:txBody>
          <a:bodyPr wrap="square">
            <a:spAutoFit/>
          </a:bodyPr>
          <a:lstStyle/>
          <a:p>
            <a:pPr>
              <a:lnSpc>
                <a:spcPts val="1425"/>
              </a:lnSpc>
              <a:buNone/>
            </a:pPr>
            <a:r>
              <a:rPr lang="en-US" sz="1400" b="0" dirty="0">
                <a:solidFill>
                  <a:srgbClr val="6A9955"/>
                </a:solidFill>
                <a:effectLst/>
                <a:latin typeface="Consolas" panose="020B0609020204030204" pitchFamily="49" charset="0"/>
              </a:rPr>
              <a:t>// Replace single quotes with two single quotes so they are safer inside SQL strings.</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6A9955"/>
                </a:solidFill>
                <a:effectLst/>
                <a:latin typeface="Consolas" panose="020B0609020204030204" pitchFamily="49" charset="0"/>
              </a:rPr>
              <a:t>// /'/g means "find every single quote in the text" (g = global, so not just the first one).</a:t>
            </a:r>
            <a:endParaRPr lang="en-US" sz="1400" b="0" dirty="0">
              <a:solidFill>
                <a:srgbClr val="D4D4D4"/>
              </a:solidFill>
              <a:effectLst/>
              <a:latin typeface="Consolas" panose="020B0609020204030204" pitchFamily="49" charset="0"/>
            </a:endParaRPr>
          </a:p>
          <a:p>
            <a:pPr>
              <a:lnSpc>
                <a:spcPts val="1425"/>
              </a:lnSpc>
              <a:buNone/>
            </a:pPr>
            <a:r>
              <a:rPr lang="en-US" sz="1400" b="0" dirty="0">
                <a:solidFill>
                  <a:srgbClr val="569CD6"/>
                </a:solidFill>
                <a:effectLst/>
                <a:latin typeface="Consolas" panose="020B0609020204030204" pitchFamily="49" charset="0"/>
              </a:rPr>
              <a:t>const</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escapeSql</a:t>
            </a:r>
            <a:r>
              <a:rPr lang="en-US" sz="1400" b="0" dirty="0">
                <a:solidFill>
                  <a:srgbClr val="D4D4D4"/>
                </a:solidFill>
                <a:effectLst/>
                <a:latin typeface="Consolas" panose="020B0609020204030204" pitchFamily="49" charset="0"/>
              </a:rPr>
              <a:t> = (value) </a:t>
            </a:r>
            <a:r>
              <a:rPr lang="en-US" sz="1400" b="0" dirty="0">
                <a:solidFill>
                  <a:srgbClr val="569CD6"/>
                </a:solidFill>
                <a:effectLst/>
                <a:latin typeface="Consolas" panose="020B0609020204030204" pitchFamily="49" charset="0"/>
              </a:rPr>
              <a:t>=&gt;</a:t>
            </a:r>
            <a:r>
              <a:rPr lang="en-US" sz="1400" b="0" dirty="0">
                <a:solidFill>
                  <a:srgbClr val="D4D4D4"/>
                </a:solidFill>
                <a:effectLst/>
                <a:latin typeface="Consolas" panose="020B0609020204030204" pitchFamily="49" charset="0"/>
              </a:rPr>
              <a:t> {</a:t>
            </a:r>
          </a:p>
          <a:p>
            <a:pPr>
              <a:lnSpc>
                <a:spcPts val="1425"/>
              </a:lnSpc>
              <a:buNone/>
            </a:pPr>
            <a:r>
              <a:rPr lang="en-US" sz="1400" b="0" dirty="0">
                <a:solidFill>
                  <a:srgbClr val="569CD6"/>
                </a:solidFill>
                <a:effectLst/>
                <a:latin typeface="Consolas" panose="020B0609020204030204" pitchFamily="49" charset="0"/>
              </a:rPr>
              <a:t>	return</a:t>
            </a:r>
            <a:r>
              <a:rPr lang="en-US" sz="1400" b="0" dirty="0">
                <a:solidFill>
                  <a:srgbClr val="D4D4D4"/>
                </a:solidFill>
                <a:effectLst/>
                <a:latin typeface="Consolas" panose="020B0609020204030204" pitchFamily="49" charset="0"/>
              </a:rPr>
              <a:t> </a:t>
            </a:r>
            <a:r>
              <a:rPr lang="en-US" sz="1400" b="0" dirty="0" err="1">
                <a:solidFill>
                  <a:srgbClr val="D4D4D4"/>
                </a:solidFill>
                <a:effectLst/>
                <a:latin typeface="Consolas" panose="020B0609020204030204" pitchFamily="49" charset="0"/>
              </a:rPr>
              <a:t>value.replace</a:t>
            </a:r>
            <a:r>
              <a:rPr lang="en-US" sz="1400" b="0" dirty="0">
                <a:solidFill>
                  <a:srgbClr val="D4D4D4"/>
                </a:solidFill>
                <a:effectLst/>
                <a:latin typeface="Consolas" panose="020B0609020204030204" pitchFamily="49" charset="0"/>
              </a:rPr>
              <a:t>(</a:t>
            </a:r>
            <a:r>
              <a:rPr lang="en-US" sz="1400" b="0" dirty="0">
                <a:solidFill>
                  <a:srgbClr val="D16969"/>
                </a:solidFill>
                <a:effectLst/>
                <a:latin typeface="Consolas" panose="020B0609020204030204" pitchFamily="49" charset="0"/>
              </a:rPr>
              <a:t>/'/</a:t>
            </a:r>
            <a:r>
              <a:rPr lang="en-US" sz="1400" b="0" dirty="0">
                <a:solidFill>
                  <a:srgbClr val="569CD6"/>
                </a:solidFill>
                <a:effectLst/>
                <a:latin typeface="Consolas" panose="020B0609020204030204" pitchFamily="49" charset="0"/>
              </a:rPr>
              <a:t>g</a:t>
            </a:r>
            <a:r>
              <a:rPr lang="en-US" sz="1400" b="0" dirty="0">
                <a:solidFill>
                  <a:srgbClr val="D4D4D4"/>
                </a:solidFill>
                <a:effectLst/>
                <a:latin typeface="Consolas" panose="020B0609020204030204" pitchFamily="49" charset="0"/>
              </a:rPr>
              <a:t>, </a:t>
            </a:r>
            <a:r>
              <a:rPr lang="en-US" sz="1400" b="0" dirty="0">
                <a:solidFill>
                  <a:srgbClr val="CE9178"/>
                </a:solidFill>
                <a:effectLst/>
                <a:latin typeface="Consolas" panose="020B0609020204030204" pitchFamily="49" charset="0"/>
              </a:rPr>
              <a:t>"''"</a:t>
            </a:r>
            <a:r>
              <a:rPr lang="en-US" sz="1400" b="0" dirty="0">
                <a:solidFill>
                  <a:srgbClr val="D4D4D4"/>
                </a:solidFill>
                <a:effectLst/>
                <a:latin typeface="Consolas" panose="020B0609020204030204" pitchFamily="49" charset="0"/>
              </a:rPr>
              <a:t>);</a:t>
            </a:r>
          </a:p>
          <a:p>
            <a:pPr>
              <a:lnSpc>
                <a:spcPts val="1425"/>
              </a:lnSpc>
              <a:buNone/>
            </a:pPr>
            <a:r>
              <a:rPr lang="en-US" sz="1400" b="0" dirty="0">
                <a:solidFill>
                  <a:srgbClr val="D4D4D4"/>
                </a:solidFill>
                <a:effectLst/>
                <a:latin typeface="Consolas" panose="020B0609020204030204" pitchFamily="49" charset="0"/>
              </a:rPr>
              <a:t>}</a:t>
            </a:r>
          </a:p>
        </p:txBody>
      </p:sp>
    </p:spTree>
    <p:extLst>
      <p:ext uri="{BB962C8B-B14F-4D97-AF65-F5344CB8AC3E}">
        <p14:creationId xmlns:p14="http://schemas.microsoft.com/office/powerpoint/2010/main" val="3000970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D810-7F0E-7BD1-3FA2-E71C936560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F8BAD8-6F15-9BF9-F360-A9765C9F6B06}"/>
              </a:ext>
            </a:extLst>
          </p:cNvPr>
          <p:cNvSpPr>
            <a:spLocks noGrp="1"/>
          </p:cNvSpPr>
          <p:nvPr>
            <p:ph type="title"/>
          </p:nvPr>
        </p:nvSpPr>
        <p:spPr>
          <a:xfrm>
            <a:off x="799065" y="929078"/>
            <a:ext cx="4553112" cy="1427175"/>
          </a:xfrm>
        </p:spPr>
        <p:txBody>
          <a:bodyPr anchor="ctr">
            <a:normAutofit/>
          </a:bodyPr>
          <a:lstStyle/>
          <a:p>
            <a:pPr lvl="0" algn="l"/>
            <a:r>
              <a:rPr lang="en-US" noProof="0" dirty="0">
                <a:solidFill>
                  <a:schemeClr val="bg1"/>
                </a:solidFill>
              </a:rPr>
              <a:t>User Feedback: Add</a:t>
            </a:r>
          </a:p>
        </p:txBody>
      </p:sp>
      <p:sp>
        <p:nvSpPr>
          <p:cNvPr id="5" name="Table Placeholder 4">
            <a:extLst>
              <a:ext uri="{FF2B5EF4-FFF2-40B4-BE49-F238E27FC236}">
                <a16:creationId xmlns:a16="http://schemas.microsoft.com/office/drawing/2014/main" id="{6FB42AC1-76E2-46D1-7BF9-0CF9D171CC22}"/>
              </a:ext>
            </a:extLst>
          </p:cNvPr>
          <p:cNvSpPr>
            <a:spLocks noGrp="1"/>
          </p:cNvSpPr>
          <p:nvPr>
            <p:ph type="tbl" sz="quarter" idx="10"/>
          </p:nvPr>
        </p:nvSpPr>
        <p:spPr>
          <a:xfrm>
            <a:off x="799064" y="2322700"/>
            <a:ext cx="4553113" cy="3486439"/>
          </a:xfrm>
        </p:spPr>
        <p:txBody>
          <a:bodyPr>
            <a:normAutofit/>
          </a:bodyPr>
          <a:lstStyle/>
          <a:p>
            <a:pPr marL="285750" indent="-285750" algn="l">
              <a:buFont typeface="Arial" panose="020B0604020202020204" pitchFamily="34" charset="0"/>
              <a:buChar char="•"/>
            </a:pPr>
            <a:r>
              <a:rPr lang="en-US" dirty="0">
                <a:solidFill>
                  <a:schemeClr val="bg1"/>
                </a:solidFill>
              </a:rPr>
              <a:t>Performing an ADD operation causes the system validation checks against each field.</a:t>
            </a:r>
          </a:p>
          <a:p>
            <a:pPr marL="285750" indent="-285750" algn="l">
              <a:buFont typeface="Arial" panose="020B0604020202020204" pitchFamily="34" charset="0"/>
              <a:buChar char="•"/>
            </a:pPr>
            <a:r>
              <a:rPr lang="en-US" dirty="0">
                <a:solidFill>
                  <a:schemeClr val="bg1"/>
                </a:solidFill>
              </a:rPr>
              <a:t>Our validation determines whether the success or error messages will appear. For example, if a parameter were too long, an error message would appear. To proceed, the user would have to fix the field.</a:t>
            </a:r>
          </a:p>
          <a:p>
            <a:pPr marL="285750" indent="-285750" algn="l">
              <a:buFont typeface="Arial" panose="020B0604020202020204" pitchFamily="34" charset="0"/>
              <a:buChar char="•"/>
            </a:pPr>
            <a:r>
              <a:rPr lang="en-US" dirty="0">
                <a:solidFill>
                  <a:schemeClr val="bg1"/>
                </a:solidFill>
              </a:rPr>
              <a:t>Checks include length, type, null, and number ranges.</a:t>
            </a:r>
          </a:p>
        </p:txBody>
      </p:sp>
      <p:sp>
        <p:nvSpPr>
          <p:cNvPr id="2" name="TextBox 1">
            <a:extLst>
              <a:ext uri="{FF2B5EF4-FFF2-40B4-BE49-F238E27FC236}">
                <a16:creationId xmlns:a16="http://schemas.microsoft.com/office/drawing/2014/main" id="{027A49D7-8E34-364D-C5A0-0CE7BA7C9469}"/>
              </a:ext>
            </a:extLst>
          </p:cNvPr>
          <p:cNvSpPr txBox="1"/>
          <p:nvPr/>
        </p:nvSpPr>
        <p:spPr>
          <a:xfrm>
            <a:off x="5643663" y="1048861"/>
            <a:ext cx="5902385" cy="4760278"/>
          </a:xfrm>
          <a:prstGeom prst="rect">
            <a:avLst/>
          </a:prstGeom>
          <a:solidFill>
            <a:schemeClr val="tx2"/>
          </a:solidFill>
          <a:ln>
            <a:solidFill>
              <a:schemeClr val="bg1"/>
            </a:solidFill>
          </a:ln>
        </p:spPr>
        <p:txBody>
          <a:bodyPr wrap="square">
            <a:spAutoFit/>
          </a:bodyPr>
          <a:lstStyle/>
          <a:p>
            <a:pPr>
              <a:lnSpc>
                <a:spcPts val="1425"/>
              </a:lnSpc>
              <a:buNone/>
            </a:pPr>
            <a:r>
              <a:rPr lang="en-US" sz="1300" b="0" dirty="0">
                <a:solidFill>
                  <a:srgbClr val="569CD6"/>
                </a:solidFill>
                <a:effectLst/>
                <a:latin typeface="Consolas" panose="020B0609020204030204" pitchFamily="49" charset="0"/>
              </a:rPr>
              <a:t>if</a:t>
            </a:r>
            <a:r>
              <a:rPr lang="en-US" sz="1300" b="0" dirty="0">
                <a:solidFill>
                  <a:srgbClr val="D4D4D4"/>
                </a:solidFill>
                <a:effectLst/>
                <a:latin typeface="Consolas" panose="020B0609020204030204" pitchFamily="49" charset="0"/>
              </a:rPr>
              <a:t> </a:t>
            </a:r>
            <a:r>
              <a:rPr lang="en-US" sz="1300" b="0" dirty="0">
                <a:solidFill>
                  <a:srgbClr val="D4D4D4"/>
                </a:solidFill>
                <a:effectLst/>
                <a:highlight>
                  <a:srgbClr val="808000"/>
                </a:highlight>
                <a:latin typeface="Consolas" panose="020B0609020204030204" pitchFamily="49" charset="0"/>
              </a:rPr>
              <a:t>(!</a:t>
            </a:r>
            <a:r>
              <a:rPr lang="en-US" sz="1300" b="0" dirty="0" err="1">
                <a:solidFill>
                  <a:srgbClr val="D4D4D4"/>
                </a:solidFill>
                <a:effectLst/>
                <a:highlight>
                  <a:srgbClr val="808000"/>
                </a:highlight>
                <a:latin typeface="Consolas" panose="020B0609020204030204" pitchFamily="49" charset="0"/>
              </a:rPr>
              <a:t>coachForename</a:t>
            </a:r>
            <a:r>
              <a:rPr lang="en-US" sz="1300" b="0" dirty="0">
                <a:solidFill>
                  <a:srgbClr val="D4D4D4"/>
                </a:solidFill>
                <a:effectLst/>
                <a:highlight>
                  <a:srgbClr val="808000"/>
                </a:highlight>
                <a:latin typeface="Consolas" panose="020B0609020204030204" pitchFamily="49" charset="0"/>
              </a:rPr>
              <a:t> || </a:t>
            </a:r>
            <a:r>
              <a:rPr lang="en-US" sz="1300" b="0" dirty="0" err="1">
                <a:solidFill>
                  <a:srgbClr val="D4D4D4"/>
                </a:solidFill>
                <a:effectLst/>
                <a:highlight>
                  <a:srgbClr val="808000"/>
                </a:highlight>
                <a:latin typeface="Consolas" panose="020B0609020204030204" pitchFamily="49" charset="0"/>
              </a:rPr>
              <a:t>coachForename.length</a:t>
            </a:r>
            <a:r>
              <a:rPr lang="en-US" sz="1300" b="0" dirty="0">
                <a:solidFill>
                  <a:srgbClr val="D4D4D4"/>
                </a:solidFill>
                <a:effectLst/>
                <a:highlight>
                  <a:srgbClr val="808000"/>
                </a:highlight>
                <a:latin typeface="Consolas" panose="020B0609020204030204" pitchFamily="49" charset="0"/>
              </a:rPr>
              <a:t> &gt; </a:t>
            </a:r>
            <a:r>
              <a:rPr lang="en-US" sz="1300" b="0" dirty="0">
                <a:solidFill>
                  <a:srgbClr val="B5CEA8"/>
                </a:solidFill>
                <a:effectLst/>
                <a:highlight>
                  <a:srgbClr val="808000"/>
                </a:highlight>
                <a:latin typeface="Consolas" panose="020B0609020204030204" pitchFamily="49" charset="0"/>
              </a:rPr>
              <a:t>50</a:t>
            </a:r>
            <a:r>
              <a:rPr lang="en-US" sz="1300" b="0" dirty="0">
                <a:solidFill>
                  <a:srgbClr val="D4D4D4"/>
                </a:solidFill>
                <a:effectLst/>
                <a:highlight>
                  <a:srgbClr val="808000"/>
                </a:highlight>
                <a:latin typeface="Consolas" panose="020B0609020204030204" pitchFamily="49" charset="0"/>
              </a:rPr>
              <a:t>) </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	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"Coach Forename is required and cannot exceed 50 characters."</a:t>
            </a:r>
            <a:r>
              <a:rPr lang="en-US" sz="1300" b="0" dirty="0">
                <a:solidFill>
                  <a:srgbClr val="D4D4D4"/>
                </a:solidFill>
                <a:effectLst/>
                <a:latin typeface="Consolas" panose="020B0609020204030204" pitchFamily="49" charset="0"/>
              </a:rPr>
              <a:t>;</a:t>
            </a:r>
          </a:p>
          <a:p>
            <a:pPr>
              <a:lnSpc>
                <a:spcPts val="1425"/>
              </a:lnSpc>
              <a:buNone/>
            </a:pP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if</a:t>
            </a:r>
            <a:r>
              <a:rPr lang="en-US" sz="1300" b="0" dirty="0">
                <a:solidFill>
                  <a:srgbClr val="D4D4D4"/>
                </a:solidFill>
                <a:effectLst/>
                <a:latin typeface="Consolas" panose="020B0609020204030204" pitchFamily="49" charset="0"/>
              </a:rPr>
              <a:t> </a:t>
            </a:r>
            <a:r>
              <a:rPr lang="en-US" sz="1300" b="0" dirty="0">
                <a:solidFill>
                  <a:srgbClr val="D4D4D4"/>
                </a:solidFill>
                <a:effectLst/>
                <a:highlight>
                  <a:srgbClr val="808000"/>
                </a:highlight>
                <a:latin typeface="Consolas" panose="020B0609020204030204" pitchFamily="49" charset="0"/>
              </a:rPr>
              <a:t>(!</a:t>
            </a:r>
            <a:r>
              <a:rPr lang="en-US" sz="1300" b="0" dirty="0" err="1">
                <a:solidFill>
                  <a:srgbClr val="D4D4D4"/>
                </a:solidFill>
                <a:effectLst/>
                <a:highlight>
                  <a:srgbClr val="808000"/>
                </a:highlight>
                <a:latin typeface="Consolas" panose="020B0609020204030204" pitchFamily="49" charset="0"/>
              </a:rPr>
              <a:t>coachSurname</a:t>
            </a:r>
            <a:r>
              <a:rPr lang="en-US" sz="1300" b="0" dirty="0">
                <a:solidFill>
                  <a:srgbClr val="D4D4D4"/>
                </a:solidFill>
                <a:effectLst/>
                <a:highlight>
                  <a:srgbClr val="808000"/>
                </a:highlight>
                <a:latin typeface="Consolas" panose="020B0609020204030204" pitchFamily="49" charset="0"/>
              </a:rPr>
              <a:t> || </a:t>
            </a:r>
            <a:r>
              <a:rPr lang="en-US" sz="1300" b="0" dirty="0" err="1">
                <a:solidFill>
                  <a:srgbClr val="D4D4D4"/>
                </a:solidFill>
                <a:effectLst/>
                <a:highlight>
                  <a:srgbClr val="808000"/>
                </a:highlight>
                <a:latin typeface="Consolas" panose="020B0609020204030204" pitchFamily="49" charset="0"/>
              </a:rPr>
              <a:t>coachSurname.length</a:t>
            </a:r>
            <a:r>
              <a:rPr lang="en-US" sz="1300" b="0" dirty="0">
                <a:solidFill>
                  <a:srgbClr val="D4D4D4"/>
                </a:solidFill>
                <a:effectLst/>
                <a:highlight>
                  <a:srgbClr val="808000"/>
                </a:highlight>
                <a:latin typeface="Consolas" panose="020B0609020204030204" pitchFamily="49" charset="0"/>
              </a:rPr>
              <a:t> &gt; </a:t>
            </a:r>
            <a:r>
              <a:rPr lang="en-US" sz="1300" b="0" dirty="0">
                <a:solidFill>
                  <a:srgbClr val="B5CEA8"/>
                </a:solidFill>
                <a:effectLst/>
                <a:highlight>
                  <a:srgbClr val="808000"/>
                </a:highlight>
                <a:latin typeface="Consolas" panose="020B0609020204030204" pitchFamily="49" charset="0"/>
              </a:rPr>
              <a:t>50</a:t>
            </a:r>
            <a:r>
              <a:rPr lang="en-US" sz="1300" b="0" dirty="0">
                <a:solidFill>
                  <a:srgbClr val="D4D4D4"/>
                </a:solidFill>
                <a:effectLst/>
                <a:highlight>
                  <a:srgbClr val="808000"/>
                </a:highlight>
                <a:latin typeface="Consolas" panose="020B0609020204030204" pitchFamily="49" charset="0"/>
              </a:rPr>
              <a:t>) </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	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"Coach Surname is required and cannot exceed 50 characters."</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D4D4D4"/>
                </a:solidFill>
                <a:effectLst/>
                <a:latin typeface="Consolas" panose="020B0609020204030204" pitchFamily="49" charset="0"/>
              </a:rPr>
              <a:t>}</a:t>
            </a:r>
          </a:p>
          <a:p>
            <a:pPr>
              <a:lnSpc>
                <a:spcPts val="1425"/>
              </a:lnSpc>
              <a:buNone/>
            </a:pP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if</a:t>
            </a:r>
            <a:r>
              <a:rPr lang="en-US" sz="1300" b="0" dirty="0">
                <a:solidFill>
                  <a:srgbClr val="D4D4D4"/>
                </a:solidFill>
                <a:effectLst/>
                <a:latin typeface="Consolas" panose="020B0609020204030204" pitchFamily="49" charset="0"/>
              </a:rPr>
              <a:t> </a:t>
            </a:r>
            <a:r>
              <a:rPr lang="en-US" sz="1300" b="0" dirty="0">
                <a:solidFill>
                  <a:srgbClr val="D4D4D4"/>
                </a:solidFill>
                <a:effectLst/>
                <a:highlight>
                  <a:srgbClr val="808000"/>
                </a:highlight>
                <a:latin typeface="Consolas" panose="020B0609020204030204" pitchFamily="49" charset="0"/>
              </a:rPr>
              <a:t>(!</a:t>
            </a:r>
            <a:r>
              <a:rPr lang="en-US" sz="1300" b="0" dirty="0" err="1">
                <a:solidFill>
                  <a:srgbClr val="D4D4D4"/>
                </a:solidFill>
                <a:effectLst/>
                <a:highlight>
                  <a:srgbClr val="808000"/>
                </a:highlight>
                <a:latin typeface="Consolas" panose="020B0609020204030204" pitchFamily="49" charset="0"/>
              </a:rPr>
              <a:t>coachEmail</a:t>
            </a:r>
            <a:r>
              <a:rPr lang="en-US" sz="1300" b="0" dirty="0">
                <a:solidFill>
                  <a:srgbClr val="D4D4D4"/>
                </a:solidFill>
                <a:effectLst/>
                <a:highlight>
                  <a:srgbClr val="808000"/>
                </a:highlight>
                <a:latin typeface="Consolas" panose="020B0609020204030204" pitchFamily="49" charset="0"/>
              </a:rPr>
              <a:t> || </a:t>
            </a:r>
            <a:r>
              <a:rPr lang="en-US" sz="1300" b="0" dirty="0" err="1">
                <a:solidFill>
                  <a:srgbClr val="D4D4D4"/>
                </a:solidFill>
                <a:effectLst/>
                <a:highlight>
                  <a:srgbClr val="808000"/>
                </a:highlight>
                <a:latin typeface="Consolas" panose="020B0609020204030204" pitchFamily="49" charset="0"/>
              </a:rPr>
              <a:t>coachEmail.length</a:t>
            </a:r>
            <a:r>
              <a:rPr lang="en-US" sz="1300" b="0" dirty="0">
                <a:solidFill>
                  <a:srgbClr val="D4D4D4"/>
                </a:solidFill>
                <a:effectLst/>
                <a:highlight>
                  <a:srgbClr val="808000"/>
                </a:highlight>
                <a:latin typeface="Consolas" panose="020B0609020204030204" pitchFamily="49" charset="0"/>
              </a:rPr>
              <a:t> &gt; </a:t>
            </a:r>
            <a:r>
              <a:rPr lang="en-US" sz="1300" b="0" dirty="0">
                <a:solidFill>
                  <a:srgbClr val="B5CEA8"/>
                </a:solidFill>
                <a:effectLst/>
                <a:highlight>
                  <a:srgbClr val="808000"/>
                </a:highlight>
                <a:latin typeface="Consolas" panose="020B0609020204030204" pitchFamily="49" charset="0"/>
              </a:rPr>
              <a:t>100</a:t>
            </a:r>
            <a:r>
              <a:rPr lang="en-US" sz="1300" b="0" dirty="0">
                <a:solidFill>
                  <a:srgbClr val="D4D4D4"/>
                </a:solidFill>
                <a:effectLst/>
                <a:highlight>
                  <a:srgbClr val="808000"/>
                </a:highlight>
                <a:latin typeface="Consolas" panose="020B0609020204030204" pitchFamily="49" charset="0"/>
              </a:rPr>
              <a:t>) </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	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"Coach Email is required and cannot exceed 100 characters."</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D4D4D4"/>
                </a:solidFill>
                <a:effectLst/>
                <a:latin typeface="Consolas" panose="020B0609020204030204" pitchFamily="49" charset="0"/>
              </a:rPr>
              <a:t>}</a:t>
            </a:r>
            <a:br>
              <a:rPr lang="en-US" sz="1300" b="0" dirty="0">
                <a:solidFill>
                  <a:srgbClr val="D4D4D4"/>
                </a:solidFill>
                <a:effectLst/>
                <a:latin typeface="Consolas" panose="020B0609020204030204" pitchFamily="49" charset="0"/>
              </a:rPr>
            </a:b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if</a:t>
            </a:r>
            <a:r>
              <a:rPr lang="en-US" sz="1300" b="0" dirty="0">
                <a:solidFill>
                  <a:srgbClr val="D4D4D4"/>
                </a:solidFill>
                <a:effectLst/>
                <a:latin typeface="Consolas" panose="020B0609020204030204" pitchFamily="49" charset="0"/>
              </a:rPr>
              <a:t> </a:t>
            </a:r>
            <a:r>
              <a:rPr lang="en-US" sz="1300" b="0" dirty="0">
                <a:solidFill>
                  <a:srgbClr val="D4D4D4"/>
                </a:solidFill>
                <a:effectLst/>
                <a:highlight>
                  <a:srgbClr val="808000"/>
                </a:highlight>
                <a:latin typeface="Consolas" panose="020B0609020204030204" pitchFamily="49" charset="0"/>
              </a:rPr>
              <a:t>(!</a:t>
            </a:r>
            <a:r>
              <a:rPr lang="en-US" sz="1300" b="0" dirty="0" err="1">
                <a:solidFill>
                  <a:srgbClr val="D4D4D4"/>
                </a:solidFill>
                <a:effectLst/>
                <a:highlight>
                  <a:srgbClr val="808000"/>
                </a:highlight>
                <a:latin typeface="Consolas" panose="020B0609020204030204" pitchFamily="49" charset="0"/>
              </a:rPr>
              <a:t>coachPhone</a:t>
            </a:r>
            <a:r>
              <a:rPr lang="en-US" sz="1300" b="0" dirty="0">
                <a:solidFill>
                  <a:srgbClr val="D4D4D4"/>
                </a:solidFill>
                <a:effectLst/>
                <a:highlight>
                  <a:srgbClr val="808000"/>
                </a:highlight>
                <a:latin typeface="Consolas" panose="020B0609020204030204" pitchFamily="49" charset="0"/>
              </a:rPr>
              <a:t> || </a:t>
            </a:r>
            <a:r>
              <a:rPr lang="en-US" sz="1300" b="0" dirty="0" err="1">
                <a:solidFill>
                  <a:srgbClr val="D4D4D4"/>
                </a:solidFill>
                <a:effectLst/>
                <a:highlight>
                  <a:srgbClr val="808000"/>
                </a:highlight>
                <a:latin typeface="Consolas" panose="020B0609020204030204" pitchFamily="49" charset="0"/>
              </a:rPr>
              <a:t>coachPhone.length</a:t>
            </a:r>
            <a:r>
              <a:rPr lang="en-US" sz="1300" b="0" dirty="0">
                <a:solidFill>
                  <a:srgbClr val="D4D4D4"/>
                </a:solidFill>
                <a:effectLst/>
                <a:highlight>
                  <a:srgbClr val="808000"/>
                </a:highlight>
                <a:latin typeface="Consolas" panose="020B0609020204030204" pitchFamily="49" charset="0"/>
              </a:rPr>
              <a:t> &gt; </a:t>
            </a:r>
            <a:r>
              <a:rPr lang="en-US" sz="1300" b="0" dirty="0">
                <a:solidFill>
                  <a:srgbClr val="B5CEA8"/>
                </a:solidFill>
                <a:effectLst/>
                <a:highlight>
                  <a:srgbClr val="808000"/>
                </a:highlight>
                <a:latin typeface="Consolas" panose="020B0609020204030204" pitchFamily="49" charset="0"/>
              </a:rPr>
              <a:t>20</a:t>
            </a:r>
            <a:r>
              <a:rPr lang="en-US" sz="1300" b="0" dirty="0">
                <a:solidFill>
                  <a:srgbClr val="D4D4D4"/>
                </a:solidFill>
                <a:effectLst/>
                <a:highlight>
                  <a:srgbClr val="808000"/>
                </a:highlight>
                <a:latin typeface="Consolas" panose="020B0609020204030204" pitchFamily="49" charset="0"/>
              </a:rPr>
              <a:t>) </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	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"Coach Phone is required and cannot exceed 20 characters."</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D4D4D4"/>
                </a:solidFill>
                <a:effectLst/>
                <a:latin typeface="Consolas" panose="020B0609020204030204" pitchFamily="49" charset="0"/>
              </a:rPr>
              <a:t>}</a:t>
            </a:r>
          </a:p>
          <a:p>
            <a:pPr>
              <a:lnSpc>
                <a:spcPts val="1425"/>
              </a:lnSpc>
              <a:buNone/>
            </a:pP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if</a:t>
            </a:r>
            <a:r>
              <a:rPr lang="en-US" sz="1300" b="0" dirty="0">
                <a:solidFill>
                  <a:srgbClr val="D4D4D4"/>
                </a:solidFill>
                <a:effectLst/>
                <a:latin typeface="Consolas" panose="020B0609020204030204" pitchFamily="49" charset="0"/>
              </a:rPr>
              <a:t> </a:t>
            </a:r>
            <a:r>
              <a:rPr lang="en-US" sz="1300" b="0" dirty="0">
                <a:solidFill>
                  <a:srgbClr val="D4D4D4"/>
                </a:solidFill>
                <a:effectLst/>
                <a:highlight>
                  <a:srgbClr val="808000"/>
                </a:highlight>
                <a:latin typeface="Consolas" panose="020B0609020204030204" pitchFamily="49" charset="0"/>
              </a:rPr>
              <a:t>(!</a:t>
            </a:r>
            <a:r>
              <a:rPr lang="en-US" sz="1300" b="0" dirty="0" err="1">
                <a:solidFill>
                  <a:srgbClr val="D4D4D4"/>
                </a:solidFill>
                <a:effectLst/>
                <a:highlight>
                  <a:srgbClr val="808000"/>
                </a:highlight>
                <a:latin typeface="Consolas" panose="020B0609020204030204" pitchFamily="49" charset="0"/>
              </a:rPr>
              <a:t>coachSpecialisation</a:t>
            </a:r>
            <a:r>
              <a:rPr lang="en-US" sz="1300" b="0" dirty="0">
                <a:solidFill>
                  <a:srgbClr val="D4D4D4"/>
                </a:solidFill>
                <a:effectLst/>
                <a:highlight>
                  <a:srgbClr val="808000"/>
                </a:highlight>
                <a:latin typeface="Consolas" panose="020B0609020204030204" pitchFamily="49" charset="0"/>
              </a:rPr>
              <a:t> || </a:t>
            </a:r>
            <a:r>
              <a:rPr lang="en-US" sz="1300" b="0" dirty="0" err="1">
                <a:solidFill>
                  <a:srgbClr val="D4D4D4"/>
                </a:solidFill>
                <a:effectLst/>
                <a:highlight>
                  <a:srgbClr val="808000"/>
                </a:highlight>
                <a:latin typeface="Consolas" panose="020B0609020204030204" pitchFamily="49" charset="0"/>
              </a:rPr>
              <a:t>coachSpecialisation.length</a:t>
            </a:r>
            <a:r>
              <a:rPr lang="en-US" sz="1300" b="0" dirty="0">
                <a:solidFill>
                  <a:srgbClr val="D4D4D4"/>
                </a:solidFill>
                <a:effectLst/>
                <a:highlight>
                  <a:srgbClr val="808000"/>
                </a:highlight>
                <a:latin typeface="Consolas" panose="020B0609020204030204" pitchFamily="49" charset="0"/>
              </a:rPr>
              <a:t> &gt; </a:t>
            </a:r>
            <a:r>
              <a:rPr lang="en-US" sz="1300" b="0" dirty="0">
                <a:solidFill>
                  <a:srgbClr val="B5CEA8"/>
                </a:solidFill>
                <a:effectLst/>
                <a:highlight>
                  <a:srgbClr val="808000"/>
                </a:highlight>
                <a:latin typeface="Consolas" panose="020B0609020204030204" pitchFamily="49" charset="0"/>
              </a:rPr>
              <a:t>100</a:t>
            </a:r>
            <a:r>
              <a:rPr lang="en-US" sz="1300" b="0" dirty="0">
                <a:solidFill>
                  <a:srgbClr val="D4D4D4"/>
                </a:solidFill>
                <a:effectLst/>
                <a:highlight>
                  <a:srgbClr val="808000"/>
                </a:highlight>
                <a:latin typeface="Consolas" panose="020B0609020204030204" pitchFamily="49" charset="0"/>
              </a:rPr>
              <a:t>) </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569CD6"/>
                </a:solidFill>
                <a:effectLst/>
                <a:latin typeface="Consolas" panose="020B0609020204030204" pitchFamily="49" charset="0"/>
              </a:rPr>
              <a:t>	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"Coach </a:t>
            </a:r>
            <a:r>
              <a:rPr lang="en-US" sz="1300" b="0" dirty="0" err="1">
                <a:solidFill>
                  <a:srgbClr val="CE9178"/>
                </a:solidFill>
                <a:effectLst/>
                <a:latin typeface="Consolas" panose="020B0609020204030204" pitchFamily="49" charset="0"/>
              </a:rPr>
              <a:t>Specialisation</a:t>
            </a:r>
            <a:r>
              <a:rPr lang="en-US" sz="1300" b="0" dirty="0">
                <a:solidFill>
                  <a:srgbClr val="CE9178"/>
                </a:solidFill>
                <a:effectLst/>
                <a:latin typeface="Consolas" panose="020B0609020204030204" pitchFamily="49" charset="0"/>
              </a:rPr>
              <a:t> is required and cannot exceed 100 characters."</a:t>
            </a:r>
            <a:r>
              <a:rPr lang="en-US" sz="1300" b="0" dirty="0">
                <a:solidFill>
                  <a:srgbClr val="D4D4D4"/>
                </a:solidFill>
                <a:effectLst/>
                <a:latin typeface="Consolas" panose="020B0609020204030204" pitchFamily="49" charset="0"/>
              </a:rPr>
              <a:t>;</a:t>
            </a:r>
          </a:p>
          <a:p>
            <a:pPr>
              <a:lnSpc>
                <a:spcPts val="1425"/>
              </a:lnSpc>
              <a:buNone/>
            </a:pPr>
            <a:r>
              <a:rPr lang="en-US" sz="1300" b="0" dirty="0">
                <a:solidFill>
                  <a:srgbClr val="D4D4D4"/>
                </a:solidFill>
                <a:effectLst/>
                <a:latin typeface="Consolas" panose="020B0609020204030204" pitchFamily="49" charset="0"/>
              </a:rPr>
              <a:t>}</a:t>
            </a:r>
          </a:p>
          <a:p>
            <a:pPr>
              <a:lnSpc>
                <a:spcPts val="1425"/>
              </a:lnSpc>
              <a:buNone/>
            </a:pPr>
            <a:endParaRPr lang="en-US" sz="1300" b="0" dirty="0">
              <a:solidFill>
                <a:srgbClr val="D4D4D4"/>
              </a:solidFill>
              <a:effectLst/>
              <a:latin typeface="Consolas" panose="020B0609020204030204" pitchFamily="49" charset="0"/>
            </a:endParaRPr>
          </a:p>
          <a:p>
            <a:pPr>
              <a:lnSpc>
                <a:spcPts val="1425"/>
              </a:lnSpc>
              <a:buNone/>
            </a:pPr>
            <a:r>
              <a:rPr lang="en-US" sz="1300" b="0" dirty="0">
                <a:solidFill>
                  <a:srgbClr val="569CD6"/>
                </a:solidFill>
                <a:effectLst/>
                <a:latin typeface="Consolas" panose="020B0609020204030204" pitchFamily="49" charset="0"/>
              </a:rPr>
              <a:t>return</a:t>
            </a:r>
            <a:r>
              <a:rPr lang="en-US" sz="1300" b="0" dirty="0">
                <a:solidFill>
                  <a:srgbClr val="D4D4D4"/>
                </a:solidFill>
                <a:effectLst/>
                <a:latin typeface="Consolas" panose="020B0609020204030204" pitchFamily="49" charset="0"/>
              </a:rPr>
              <a:t> </a:t>
            </a:r>
            <a:r>
              <a:rPr lang="en-US" sz="1300" b="0" dirty="0">
                <a:solidFill>
                  <a:srgbClr val="CE9178"/>
                </a:solidFill>
                <a:effectLst/>
                <a:latin typeface="Consolas" panose="020B0609020204030204" pitchFamily="49" charset="0"/>
              </a:rPr>
              <a:t>""</a:t>
            </a:r>
            <a:r>
              <a:rPr lang="en-US" sz="1300" b="0" dirty="0">
                <a:solidFill>
                  <a:srgbClr val="D4D4D4"/>
                </a:solidFill>
                <a:effectLst/>
                <a:latin typeface="Consolas" panose="020B0609020204030204" pitchFamily="49" charset="0"/>
              </a:rPr>
              <a:t>; </a:t>
            </a:r>
            <a:r>
              <a:rPr lang="en-US" sz="1300" b="0" dirty="0">
                <a:solidFill>
                  <a:srgbClr val="6A9955"/>
                </a:solidFill>
                <a:effectLst/>
                <a:latin typeface="Consolas" panose="020B0609020204030204" pitchFamily="49" charset="0"/>
              </a:rPr>
              <a:t>// No problems found.</a:t>
            </a:r>
            <a:endParaRPr lang="en-US" sz="13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489024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9A991-A969-16A2-3281-E2F88A7D6A0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ACFAD0-40C7-A461-14DD-14F57ED76F34}"/>
              </a:ext>
            </a:extLst>
          </p:cNvPr>
          <p:cNvSpPr>
            <a:spLocks noGrp="1"/>
          </p:cNvSpPr>
          <p:nvPr>
            <p:ph type="title"/>
          </p:nvPr>
        </p:nvSpPr>
        <p:spPr>
          <a:xfrm>
            <a:off x="799065" y="660634"/>
            <a:ext cx="4553112" cy="1427175"/>
          </a:xfrm>
        </p:spPr>
        <p:txBody>
          <a:bodyPr anchor="ctr">
            <a:normAutofit/>
          </a:bodyPr>
          <a:lstStyle/>
          <a:p>
            <a:pPr lvl="0"/>
            <a:r>
              <a:rPr lang="en-US" noProof="0" dirty="0">
                <a:solidFill>
                  <a:schemeClr val="bg1"/>
                </a:solidFill>
              </a:rPr>
              <a:t>User Feedback: Delete</a:t>
            </a:r>
          </a:p>
        </p:txBody>
      </p:sp>
      <p:sp>
        <p:nvSpPr>
          <p:cNvPr id="5" name="Table Placeholder 4">
            <a:extLst>
              <a:ext uri="{FF2B5EF4-FFF2-40B4-BE49-F238E27FC236}">
                <a16:creationId xmlns:a16="http://schemas.microsoft.com/office/drawing/2014/main" id="{7E174BB9-4416-831D-0F9C-485A5E76454E}"/>
              </a:ext>
            </a:extLst>
          </p:cNvPr>
          <p:cNvSpPr>
            <a:spLocks noGrp="1"/>
          </p:cNvSpPr>
          <p:nvPr>
            <p:ph type="tbl" sz="quarter" idx="10"/>
          </p:nvPr>
        </p:nvSpPr>
        <p:spPr>
          <a:xfrm>
            <a:off x="799064" y="2087809"/>
            <a:ext cx="4704113" cy="949006"/>
          </a:xfrm>
        </p:spPr>
        <p:txBody>
          <a:bodyPr>
            <a:normAutofit/>
          </a:bodyPr>
          <a:lstStyle/>
          <a:p>
            <a:pPr marL="285750" indent="-285750" algn="l">
              <a:buFont typeface="Arial" panose="020B0604020202020204" pitchFamily="34" charset="0"/>
              <a:buChar char="•"/>
            </a:pPr>
            <a:r>
              <a:rPr lang="en-US" dirty="0">
                <a:solidFill>
                  <a:schemeClr val="bg1"/>
                </a:solidFill>
              </a:rPr>
              <a:t>Performing a DELETE operation causes the system to find and remove the object.</a:t>
            </a:r>
          </a:p>
        </p:txBody>
      </p:sp>
      <p:sp>
        <p:nvSpPr>
          <p:cNvPr id="4" name="TextBox 3">
            <a:extLst>
              <a:ext uri="{FF2B5EF4-FFF2-40B4-BE49-F238E27FC236}">
                <a16:creationId xmlns:a16="http://schemas.microsoft.com/office/drawing/2014/main" id="{73A29614-A15C-0563-0624-702C41FBD4B0}"/>
              </a:ext>
            </a:extLst>
          </p:cNvPr>
          <p:cNvSpPr txBox="1"/>
          <p:nvPr/>
        </p:nvSpPr>
        <p:spPr>
          <a:xfrm>
            <a:off x="799065" y="3119959"/>
            <a:ext cx="4704113" cy="2964914"/>
          </a:xfrm>
          <a:prstGeom prst="rect">
            <a:avLst/>
          </a:prstGeom>
          <a:solidFill>
            <a:schemeClr val="tx2"/>
          </a:solidFill>
          <a:ln>
            <a:solidFill>
              <a:schemeClr val="bg1"/>
            </a:solidFill>
          </a:ln>
        </p:spPr>
        <p:txBody>
          <a:bodyPr wrap="square">
            <a:spAutoFit/>
          </a:bodyPr>
          <a:lstStyle/>
          <a:p>
            <a:pPr>
              <a:lnSpc>
                <a:spcPts val="1425"/>
              </a:lnSpc>
              <a:buNone/>
            </a:pPr>
            <a:r>
              <a:rPr lang="en-GB" sz="1300" b="0" dirty="0">
                <a:solidFill>
                  <a:srgbClr val="569CD6"/>
                </a:solidFill>
                <a:effectLst/>
                <a:latin typeface="Consolas" panose="020B0609020204030204" pitchFamily="49" charset="0"/>
              </a:rPr>
              <a:t>if</a:t>
            </a:r>
            <a:r>
              <a:rPr lang="en-GB" sz="1300" b="0" dirty="0">
                <a:solidFill>
                  <a:srgbClr val="D4D4D4"/>
                </a:solidFill>
                <a:effectLst/>
                <a:latin typeface="Consolas" panose="020B0609020204030204" pitchFamily="49" charset="0"/>
              </a:rPr>
              <a:t> (!confirm(</a:t>
            </a:r>
            <a:r>
              <a:rPr lang="en-GB" sz="1300" b="0" dirty="0">
                <a:solidFill>
                  <a:srgbClr val="CE9178"/>
                </a:solidFill>
                <a:effectLst/>
                <a:latin typeface="Consolas" panose="020B0609020204030204" pitchFamily="49" charset="0"/>
              </a:rPr>
              <a:t>"Are you sure you want to delete this coach?"</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569CD6"/>
                </a:solidFill>
                <a:effectLst/>
                <a:latin typeface="Consolas" panose="020B0609020204030204" pitchFamily="49" charset="0"/>
              </a:rPr>
              <a:t>	return</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br>
              <a:rPr lang="en-GB" sz="1300" b="0" dirty="0">
                <a:solidFill>
                  <a:srgbClr val="D4D4D4"/>
                </a:solidFill>
                <a:effectLst/>
                <a:latin typeface="Consolas" panose="020B0609020204030204" pitchFamily="49" charset="0"/>
              </a:rPr>
            </a:b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deleteSql</a:t>
            </a:r>
            <a:r>
              <a:rPr lang="en-GB" sz="1300" b="0" dirty="0">
                <a:solidFill>
                  <a:srgbClr val="D4D4D4"/>
                </a:solidFill>
                <a:effectLst/>
                <a:latin typeface="Consolas" panose="020B0609020204030204" pitchFamily="49" charset="0"/>
              </a:rPr>
              <a:t> = </a:t>
            </a:r>
            <a:r>
              <a:rPr lang="en-GB" sz="1300" b="0" dirty="0">
                <a:solidFill>
                  <a:srgbClr val="CE9178"/>
                </a:solidFill>
                <a:effectLst/>
                <a:latin typeface="Consolas" panose="020B0609020204030204" pitchFamily="49" charset="0"/>
              </a:rPr>
              <a:t>`DELETE FROM </a:t>
            </a:r>
            <a:r>
              <a:rPr lang="en-GB" sz="1300" b="0" dirty="0" err="1">
                <a:solidFill>
                  <a:srgbClr val="CE9178"/>
                </a:solidFill>
                <a:effectLst/>
                <a:latin typeface="Consolas" panose="020B0609020204030204" pitchFamily="49" charset="0"/>
              </a:rPr>
              <a:t>tblCoach</a:t>
            </a:r>
            <a:r>
              <a:rPr lang="en-GB" sz="1300" b="0" dirty="0">
                <a:solidFill>
                  <a:srgbClr val="CE9178"/>
                </a:solidFill>
                <a:effectLst/>
                <a:latin typeface="Consolas" panose="020B0609020204030204" pitchFamily="49" charset="0"/>
              </a:rPr>
              <a:t> WHERE </a:t>
            </a:r>
            <a:r>
              <a:rPr lang="en-GB" sz="1300" b="0" dirty="0" err="1">
                <a:solidFill>
                  <a:srgbClr val="CE9178"/>
                </a:solidFill>
                <a:effectLst/>
                <a:latin typeface="Consolas" panose="020B0609020204030204" pitchFamily="49" charset="0"/>
              </a:rPr>
              <a:t>coachId</a:t>
            </a:r>
            <a:r>
              <a:rPr lang="en-GB" sz="1300" b="0" dirty="0">
                <a:solidFill>
                  <a:srgbClr val="CE9178"/>
                </a:solidFill>
                <a:effectLst/>
                <a:latin typeface="Consolas" panose="020B0609020204030204" pitchFamily="49" charset="0"/>
              </a:rPr>
              <a:t> = </a:t>
            </a:r>
            <a:r>
              <a:rPr lang="en-GB" sz="1300" b="0" dirty="0">
                <a:solidFill>
                  <a:srgbClr val="569CD6"/>
                </a:solidFill>
                <a:effectLst/>
                <a:latin typeface="Consolas" panose="020B0609020204030204" pitchFamily="49" charset="0"/>
              </a:rPr>
              <a:t>${</a:t>
            </a:r>
            <a:r>
              <a:rPr lang="en-GB" sz="1300" b="0" dirty="0" err="1">
                <a:solidFill>
                  <a:srgbClr val="D4D4D4"/>
                </a:solidFill>
                <a:effectLst/>
                <a:latin typeface="Consolas" panose="020B0609020204030204" pitchFamily="49" charset="0"/>
              </a:rPr>
              <a:t>coach.coachId</a:t>
            </a:r>
            <a:r>
              <a:rPr lang="en-GB" sz="1300" b="0" dirty="0">
                <a:solidFill>
                  <a:srgbClr val="569CD6"/>
                </a:solidFill>
                <a:effectLst/>
                <a:latin typeface="Consolas" panose="020B0609020204030204" pitchFamily="49" charset="0"/>
              </a:rPr>
              <a:t>}</a:t>
            </a:r>
            <a:r>
              <a:rPr lang="en-GB" sz="1300" b="0" dirty="0">
                <a:solidFill>
                  <a:srgbClr val="CE9178"/>
                </a:solidFill>
                <a:effectLst/>
                <a:latin typeface="Consolas" panose="020B0609020204030204" pitchFamily="49" charset="0"/>
              </a:rPr>
              <a:t> LIMIT 1;`</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response = </a:t>
            </a:r>
            <a:r>
              <a:rPr lang="en-GB" sz="1300" b="0" dirty="0">
                <a:solidFill>
                  <a:srgbClr val="569CD6"/>
                </a:solidFill>
                <a:effectLst/>
                <a:latin typeface="Consolas" panose="020B0609020204030204" pitchFamily="49" charset="0"/>
              </a:rPr>
              <a:t>await</a:t>
            </a:r>
            <a:r>
              <a:rPr lang="en-GB" sz="1300" b="0" dirty="0">
                <a:solidFill>
                  <a:srgbClr val="D4D4D4"/>
                </a:solidFill>
                <a:effectLst/>
                <a:latin typeface="Consolas" panose="020B0609020204030204" pitchFamily="49" charset="0"/>
              </a:rPr>
              <a:t> fetch(</a:t>
            </a:r>
            <a:r>
              <a:rPr lang="en-GB" sz="1300" b="0" dirty="0" err="1">
                <a:solidFill>
                  <a:srgbClr val="D4D4D4"/>
                </a:solidFill>
                <a:effectLst/>
                <a:latin typeface="Consolas" panose="020B0609020204030204" pitchFamily="49" charset="0"/>
              </a:rPr>
              <a:t>url</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method: </a:t>
            </a:r>
            <a:r>
              <a:rPr lang="en-GB" sz="1300" b="0" dirty="0">
                <a:solidFill>
                  <a:srgbClr val="CE9178"/>
                </a:solidFill>
                <a:effectLst/>
                <a:latin typeface="Consolas" panose="020B0609020204030204" pitchFamily="49" charset="0"/>
              </a:rPr>
              <a:t>"POST"</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body: </a:t>
            </a:r>
            <a:r>
              <a:rPr lang="en-GB" sz="1300" b="0" dirty="0">
                <a:solidFill>
                  <a:srgbClr val="569CD6"/>
                </a:solidFill>
                <a:effectLst/>
                <a:latin typeface="Consolas" panose="020B0609020204030204" pitchFamily="49" charset="0"/>
              </a:rPr>
              <a:t>new</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URLSearchParams</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query: </a:t>
            </a:r>
            <a:r>
              <a:rPr lang="en-GB" sz="1300" b="0" dirty="0" err="1">
                <a:solidFill>
                  <a:srgbClr val="D4D4D4"/>
                </a:solidFill>
                <a:effectLst/>
                <a:latin typeface="Consolas" panose="020B0609020204030204" pitchFamily="49" charset="0"/>
              </a:rPr>
              <a:t>deleteSql</a:t>
            </a: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a:t>
            </a:r>
          </a:p>
          <a:p>
            <a:pPr>
              <a:lnSpc>
                <a:spcPts val="1425"/>
              </a:lnSpc>
              <a:buNone/>
            </a:pPr>
            <a:br>
              <a:rPr lang="en-GB" sz="1300" b="0" dirty="0">
                <a:solidFill>
                  <a:srgbClr val="D4D4D4"/>
                </a:solidFill>
                <a:effectLst/>
                <a:latin typeface="Consolas" panose="020B0609020204030204" pitchFamily="49" charset="0"/>
              </a:rPr>
            </a:b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result = </a:t>
            </a:r>
            <a:r>
              <a:rPr lang="en-GB" sz="1300" b="0" dirty="0">
                <a:solidFill>
                  <a:srgbClr val="569CD6"/>
                </a:solidFill>
                <a:effectLst/>
                <a:latin typeface="Consolas" panose="020B0609020204030204" pitchFamily="49" charset="0"/>
              </a:rPr>
              <a:t>await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response.json</a:t>
            </a:r>
            <a:r>
              <a:rPr lang="en-GB" sz="1300" b="0" dirty="0">
                <a:solidFill>
                  <a:srgbClr val="D4D4D4"/>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EB2B78AE-52A9-6199-633B-D17CE9433619}"/>
              </a:ext>
            </a:extLst>
          </p:cNvPr>
          <p:cNvSpPr txBox="1"/>
          <p:nvPr/>
        </p:nvSpPr>
        <p:spPr>
          <a:xfrm>
            <a:off x="5675153" y="2041458"/>
            <a:ext cx="5717782" cy="4043415"/>
          </a:xfrm>
          <a:prstGeom prst="rect">
            <a:avLst/>
          </a:prstGeom>
          <a:solidFill>
            <a:schemeClr val="tx2"/>
          </a:solidFill>
          <a:ln>
            <a:solidFill>
              <a:schemeClr val="bg1"/>
            </a:solidFill>
          </a:ln>
        </p:spPr>
        <p:txBody>
          <a:bodyPr wrap="square">
            <a:spAutoFit/>
          </a:bodyPr>
          <a:lstStyle/>
          <a:p>
            <a:pPr>
              <a:lnSpc>
                <a:spcPts val="1425"/>
              </a:lnSpc>
              <a:buNone/>
            </a:pPr>
            <a:r>
              <a:rPr lang="en-GB" sz="1400" b="0" dirty="0" err="1">
                <a:solidFill>
                  <a:srgbClr val="569CD6"/>
                </a:solidFill>
                <a:effectLst/>
                <a:latin typeface="Consolas" panose="020B0609020204030204" pitchFamily="49" charset="0"/>
              </a:rPr>
              <a:t>const</a:t>
            </a:r>
            <a:r>
              <a:rPr lang="en-GB" sz="1400" b="0" dirty="0">
                <a:solidFill>
                  <a:srgbClr val="D4D4D4"/>
                </a:solidFill>
                <a:effectLst/>
                <a:latin typeface="Consolas" panose="020B0609020204030204" pitchFamily="49" charset="0"/>
              </a:rPr>
              <a:t> result = </a:t>
            </a:r>
            <a:r>
              <a:rPr lang="en-GB" sz="1400" b="0" dirty="0">
                <a:solidFill>
                  <a:srgbClr val="569CD6"/>
                </a:solidFill>
                <a:effectLst/>
                <a:latin typeface="Consolas" panose="020B0609020204030204" pitchFamily="49" charset="0"/>
              </a:rPr>
              <a:t>await</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response.json</a:t>
            </a:r>
            <a:r>
              <a:rPr lang="en-GB" sz="1400" b="0" dirty="0">
                <a:solidFill>
                  <a:srgbClr val="D4D4D4"/>
                </a:solidFill>
                <a:effectLs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            </a:t>
            </a:r>
          </a:p>
          <a:p>
            <a:pPr>
              <a:lnSpc>
                <a:spcPts val="1425"/>
              </a:lnSpc>
              <a:buNone/>
            </a:pPr>
            <a:r>
              <a:rPr lang="en-GB" sz="1400" b="0" dirty="0">
                <a:solidFill>
                  <a:srgbClr val="569CD6"/>
                </a:solidFill>
                <a:effectLst/>
                <a:latin typeface="Consolas" panose="020B0609020204030204" pitchFamily="49" charset="0"/>
              </a:rPr>
              <a:t>if</a:t>
            </a:r>
            <a:r>
              <a:rPr lang="en-GB" sz="1400" b="0" dirty="0">
                <a:solidFill>
                  <a:srgbClr val="D4D4D4"/>
                </a:solidFill>
                <a:effectLst/>
                <a:latin typeface="Consolas" panose="020B0609020204030204" pitchFamily="49" charset="0"/>
              </a:rPr>
              <a:t> (!result || !</a:t>
            </a:r>
            <a:r>
              <a:rPr lang="en-GB" sz="1400" b="0" dirty="0" err="1">
                <a:solidFill>
                  <a:srgbClr val="D4D4D4"/>
                </a:solidFill>
                <a:effectLst/>
                <a:latin typeface="Consolas" panose="020B0609020204030204" pitchFamily="49" charset="0"/>
              </a:rPr>
              <a:t>result.success</a:t>
            </a:r>
            <a:r>
              <a:rPr lang="en-GB" sz="1400" b="0" dirty="0">
                <a:solidFill>
                  <a:srgbClr val="D4D4D4"/>
                </a:solidFill>
                <a:effectLst/>
                <a:latin typeface="Consolas" panose="020B0609020204030204" pitchFamily="49" charset="0"/>
              </a:rPr>
              <a:t>) {</a:t>
            </a:r>
          </a:p>
          <a:p>
            <a:pPr>
              <a:lnSpc>
                <a:spcPts val="1425"/>
              </a:lnSpc>
              <a:buNone/>
            </a:pPr>
            <a:r>
              <a:rPr lang="en-GB" sz="1400" b="0" dirty="0">
                <a:solidFill>
                  <a:srgbClr val="D4D4D4"/>
                </a:solidFill>
                <a:effectLst/>
                <a:latin typeface="Consolas" panose="020B0609020204030204" pitchFamily="49" charset="0"/>
              </a:rPr>
              <a:t>	</a:t>
            </a:r>
            <a:r>
              <a:rPr lang="en-GB" sz="1400" b="0" dirty="0">
                <a:solidFill>
                  <a:srgbClr val="D4D4D4"/>
                </a:solidFill>
                <a:effectLst/>
                <a:highlight>
                  <a:srgbClr val="808000"/>
                </a:highlight>
                <a:latin typeface="Consolas" panose="020B0609020204030204" pitchFamily="49" charset="0"/>
              </a:rPr>
              <a:t>console.log(</a:t>
            </a:r>
            <a:r>
              <a:rPr lang="en-GB" sz="1400" b="0" dirty="0">
                <a:solidFill>
                  <a:srgbClr val="CE9178"/>
                </a:solidFill>
                <a:effectLst/>
                <a:highlight>
                  <a:srgbClr val="808000"/>
                </a:highlight>
                <a:latin typeface="Consolas" panose="020B0609020204030204" pitchFamily="49" charset="0"/>
              </a:rPr>
              <a:t>"Failed to delete coach."</a:t>
            </a:r>
            <a:r>
              <a:rPr lang="en-GB" sz="1400" b="0" dirty="0">
                <a:solidFill>
                  <a:srgbClr val="D4D4D4"/>
                </a:solidFill>
                <a:effectLst/>
                <a:highlight>
                  <a:srgbClr val="808000"/>
                </a:highligh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	</a:t>
            </a:r>
            <a:r>
              <a:rPr lang="en-GB" sz="1400" b="0" dirty="0" err="1">
                <a:solidFill>
                  <a:srgbClr val="D4D4D4"/>
                </a:solidFill>
                <a:effectLst/>
                <a:highlight>
                  <a:srgbClr val="808000"/>
                </a:highlight>
                <a:latin typeface="Consolas" panose="020B0609020204030204" pitchFamily="49" charset="0"/>
              </a:rPr>
              <a:t>errorOutput.textContent</a:t>
            </a:r>
            <a:r>
              <a:rPr lang="en-GB" sz="1400" b="0" dirty="0">
                <a:solidFill>
                  <a:srgbClr val="D4D4D4"/>
                </a:solidFill>
                <a:effectLst/>
                <a:highlight>
                  <a:srgbClr val="808000"/>
                </a:highlight>
                <a:latin typeface="Consolas" panose="020B0609020204030204" pitchFamily="49" charset="0"/>
              </a:rPr>
              <a:t> = (</a:t>
            </a:r>
            <a:r>
              <a:rPr lang="en-GB" sz="1400" b="0" dirty="0" err="1">
                <a:solidFill>
                  <a:srgbClr val="D4D4D4"/>
                </a:solidFill>
                <a:effectLst/>
                <a:highlight>
                  <a:srgbClr val="808000"/>
                </a:highlight>
                <a:latin typeface="Consolas" panose="020B0609020204030204" pitchFamily="49" charset="0"/>
              </a:rPr>
              <a:t>result.error</a:t>
            </a:r>
            <a:r>
              <a:rPr lang="en-GB" sz="1400" b="0" dirty="0">
                <a:solidFill>
                  <a:srgbClr val="D4D4D4"/>
                </a:solidFill>
                <a:effectLst/>
                <a:highlight>
                  <a:srgbClr val="808000"/>
                </a:highlight>
                <a:latin typeface="Consolas" panose="020B0609020204030204" pitchFamily="49" charset="0"/>
              </a:rPr>
              <a:t> || </a:t>
            </a:r>
            <a:r>
              <a:rPr lang="en-GB" sz="1400" b="0" dirty="0">
                <a:solidFill>
                  <a:srgbClr val="CE9178"/>
                </a:solidFill>
                <a:effectLst/>
                <a:highlight>
                  <a:srgbClr val="808000"/>
                </a:highlight>
                <a:latin typeface="Consolas" panose="020B0609020204030204" pitchFamily="49" charset="0"/>
              </a:rPr>
              <a:t>"Unknown error"</a:t>
            </a:r>
            <a:r>
              <a:rPr lang="en-GB" sz="1400" b="0" dirty="0">
                <a:solidFill>
                  <a:srgbClr val="D4D4D4"/>
                </a:solidFill>
                <a:effectLst/>
                <a:highlight>
                  <a:srgbClr val="808000"/>
                </a:highlight>
                <a:latin typeface="Consolas" panose="020B0609020204030204" pitchFamily="49" charset="0"/>
              </a:rPr>
              <a:t>);</a:t>
            </a:r>
          </a:p>
          <a:p>
            <a:pPr>
              <a:lnSpc>
                <a:spcPts val="1425"/>
              </a:lnSpc>
              <a:buNone/>
            </a:pPr>
            <a:r>
              <a:rPr lang="en-GB" sz="1400" b="0" dirty="0">
                <a:solidFill>
                  <a:srgbClr val="569CD6"/>
                </a:solidFill>
                <a:effectLst/>
                <a:latin typeface="Consolas" panose="020B0609020204030204" pitchFamily="49" charset="0"/>
              </a:rPr>
              <a:t>	return</a:t>
            </a:r>
            <a:r>
              <a:rPr lang="en-GB" sz="1400" b="0" dirty="0">
                <a:solidFill>
                  <a:srgbClr val="D4D4D4"/>
                </a:solidFill>
                <a:effectLs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a:t>
            </a:r>
          </a:p>
          <a:p>
            <a:pPr>
              <a:lnSpc>
                <a:spcPts val="1425"/>
              </a:lnSpc>
              <a:buNone/>
            </a:pPr>
            <a:endParaRPr lang="en-GB" sz="1400" b="0" dirty="0">
              <a:solidFill>
                <a:srgbClr val="D4D4D4"/>
              </a:solidFill>
              <a:effectLst/>
              <a:latin typeface="Consolas" panose="020B0609020204030204" pitchFamily="49" charset="0"/>
            </a:endParaRPr>
          </a:p>
          <a:p>
            <a:pPr>
              <a:lnSpc>
                <a:spcPts val="1425"/>
              </a:lnSpc>
              <a:buNone/>
            </a:pPr>
            <a:r>
              <a:rPr lang="en-GB" sz="1400" b="0" dirty="0">
                <a:solidFill>
                  <a:srgbClr val="569CD6"/>
                </a:solidFill>
                <a:effectLst/>
                <a:latin typeface="Consolas" panose="020B0609020204030204" pitchFamily="49" charset="0"/>
              </a:rPr>
              <a:t>if</a:t>
            </a:r>
            <a:r>
              <a:rPr lang="en-GB" sz="1400" b="0" dirty="0">
                <a:solidFill>
                  <a:srgbClr val="D4D4D4"/>
                </a:solidFill>
                <a:effectLst/>
                <a:latin typeface="Consolas" panose="020B0609020204030204" pitchFamily="49" charset="0"/>
              </a:rPr>
              <a:t> (</a:t>
            </a:r>
            <a:r>
              <a:rPr lang="en-GB" sz="1400" b="0" dirty="0" err="1">
                <a:solidFill>
                  <a:srgbClr val="D4D4D4"/>
                </a:solidFill>
                <a:effectLst/>
                <a:latin typeface="Consolas" panose="020B0609020204030204" pitchFamily="49" charset="0"/>
              </a:rPr>
              <a:t>result.affected_rows</a:t>
            </a:r>
            <a:r>
              <a:rPr lang="en-GB" sz="1400" b="0" dirty="0">
                <a:solidFill>
                  <a:srgbClr val="D4D4D4"/>
                </a:solidFill>
                <a:effectLst/>
                <a:latin typeface="Consolas" panose="020B0609020204030204" pitchFamily="49" charset="0"/>
              </a:rPr>
              <a:t> === </a:t>
            </a:r>
            <a:r>
              <a:rPr lang="en-GB" sz="1400" b="0" dirty="0">
                <a:solidFill>
                  <a:srgbClr val="B5CEA8"/>
                </a:solidFill>
                <a:effectLst/>
                <a:latin typeface="Consolas" panose="020B0609020204030204" pitchFamily="49" charset="0"/>
              </a:rPr>
              <a:t>0</a:t>
            </a:r>
            <a:r>
              <a:rPr lang="en-GB" sz="1400" b="0" dirty="0">
                <a:solidFill>
                  <a:srgbClr val="D4D4D4"/>
                </a:solidFill>
                <a:effectLst/>
                <a:latin typeface="Consolas" panose="020B0609020204030204" pitchFamily="49" charset="0"/>
              </a:rPr>
              <a:t>) {</a:t>
            </a:r>
          </a:p>
          <a:p>
            <a:pPr>
              <a:lnSpc>
                <a:spcPts val="1425"/>
              </a:lnSpc>
              <a:buNone/>
            </a:pPr>
            <a:r>
              <a:rPr lang="en-GB" sz="1400" b="0" dirty="0">
                <a:solidFill>
                  <a:srgbClr val="D4D4D4"/>
                </a:solidFill>
                <a:effectLst/>
                <a:latin typeface="Consolas" panose="020B0609020204030204" pitchFamily="49" charset="0"/>
              </a:rPr>
              <a:t>	</a:t>
            </a:r>
            <a:r>
              <a:rPr lang="en-GB" sz="1400" b="0" dirty="0">
                <a:solidFill>
                  <a:srgbClr val="D4D4D4"/>
                </a:solidFill>
                <a:effectLst/>
                <a:highlight>
                  <a:srgbClr val="808000"/>
                </a:highlight>
                <a:latin typeface="Consolas" panose="020B0609020204030204" pitchFamily="49" charset="0"/>
              </a:rPr>
              <a:t>console.log(</a:t>
            </a:r>
            <a:r>
              <a:rPr lang="en-GB" sz="1400" b="0" dirty="0">
                <a:solidFill>
                  <a:srgbClr val="CE9178"/>
                </a:solidFill>
                <a:effectLst/>
                <a:highlight>
                  <a:srgbClr val="808000"/>
                </a:highlight>
                <a:latin typeface="Consolas" panose="020B0609020204030204" pitchFamily="49" charset="0"/>
              </a:rPr>
              <a:t>"No coach was deleted. It may have already been removed."</a:t>
            </a:r>
            <a:r>
              <a:rPr lang="en-GB" sz="1400" b="0" dirty="0">
                <a:solidFill>
                  <a:srgbClr val="D4D4D4"/>
                </a:solidFill>
                <a:effectLst/>
                <a:highlight>
                  <a:srgbClr val="808000"/>
                </a:highlight>
                <a:latin typeface="Consolas" panose="020B0609020204030204" pitchFamily="49" charset="0"/>
              </a:rPr>
              <a:t>);</a:t>
            </a:r>
          </a:p>
          <a:p>
            <a:pPr>
              <a:lnSpc>
                <a:spcPts val="1425"/>
              </a:lnSpc>
              <a:buNone/>
            </a:pPr>
            <a:r>
              <a:rPr lang="en-GB" sz="1400" b="0" dirty="0">
                <a:solidFill>
                  <a:srgbClr val="D4D4D4"/>
                </a:solidFill>
                <a:effectLst/>
                <a:highlight>
                  <a:srgbClr val="808000"/>
                </a:highlight>
                <a:latin typeface="Consolas" panose="020B0609020204030204" pitchFamily="49" charset="0"/>
              </a:rPr>
              <a:t>	</a:t>
            </a:r>
            <a:r>
              <a:rPr lang="en-GB" sz="1400" b="0" dirty="0" err="1">
                <a:solidFill>
                  <a:srgbClr val="D4D4D4"/>
                </a:solidFill>
                <a:effectLst/>
                <a:highlight>
                  <a:srgbClr val="808000"/>
                </a:highlight>
                <a:latin typeface="Consolas" panose="020B0609020204030204" pitchFamily="49" charset="0"/>
              </a:rPr>
              <a:t>errorOutput.textContent</a:t>
            </a:r>
            <a:r>
              <a:rPr lang="en-GB" sz="1400" b="0" dirty="0">
                <a:solidFill>
                  <a:srgbClr val="D4D4D4"/>
                </a:solidFill>
                <a:effectLst/>
                <a:highlight>
                  <a:srgbClr val="808000"/>
                </a:highlight>
                <a:latin typeface="Consolas" panose="020B0609020204030204" pitchFamily="49" charset="0"/>
              </a:rPr>
              <a:t> = </a:t>
            </a:r>
            <a:r>
              <a:rPr lang="en-GB" sz="1400" b="0" dirty="0">
                <a:solidFill>
                  <a:srgbClr val="CE9178"/>
                </a:solidFill>
                <a:effectLst/>
                <a:highlight>
                  <a:srgbClr val="808000"/>
                </a:highlight>
                <a:latin typeface="Consolas" panose="020B0609020204030204" pitchFamily="49" charset="0"/>
              </a:rPr>
              <a:t>"No coach was deleted. It may have already been removed."</a:t>
            </a:r>
            <a:r>
              <a:rPr lang="en-GB" sz="1400" b="0" dirty="0">
                <a:solidFill>
                  <a:srgbClr val="D4D4D4"/>
                </a:solidFill>
                <a:effectLst/>
                <a:highlight>
                  <a:srgbClr val="808000"/>
                </a:highlight>
                <a:latin typeface="Consolas" panose="020B0609020204030204" pitchFamily="49" charset="0"/>
              </a:rPr>
              <a:t>;</a:t>
            </a:r>
          </a:p>
          <a:p>
            <a:pPr>
              <a:lnSpc>
                <a:spcPts val="1425"/>
              </a:lnSpc>
              <a:buNone/>
            </a:pPr>
            <a:r>
              <a:rPr lang="en-GB" sz="1400" b="0" dirty="0">
                <a:solidFill>
                  <a:srgbClr val="569CD6"/>
                </a:solidFill>
                <a:effectLst/>
                <a:latin typeface="Consolas" panose="020B0609020204030204" pitchFamily="49" charset="0"/>
              </a:rPr>
              <a:t>	return</a:t>
            </a:r>
            <a:r>
              <a:rPr lang="en-GB" sz="1400" b="0" dirty="0">
                <a:solidFill>
                  <a:srgbClr val="D4D4D4"/>
                </a:solidFill>
                <a:effectLs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a:t>
            </a:r>
          </a:p>
          <a:p>
            <a:pPr>
              <a:lnSpc>
                <a:spcPts val="1425"/>
              </a:lnSpc>
              <a:buNone/>
            </a:pPr>
            <a:endParaRPr lang="en-GB" sz="1400" dirty="0">
              <a:solidFill>
                <a:srgbClr val="D4D4D4"/>
              </a:solidFill>
              <a:latin typeface="Consolas" panose="020B0609020204030204" pitchFamily="49" charset="0"/>
            </a:endParaRPr>
          </a:p>
          <a:p>
            <a:pPr>
              <a:lnSpc>
                <a:spcPts val="1425"/>
              </a:lnSpc>
              <a:buNone/>
            </a:pPr>
            <a:r>
              <a:rPr lang="en-GB" sz="1400" b="0" dirty="0">
                <a:solidFill>
                  <a:srgbClr val="D4D4D4"/>
                </a:solidFill>
                <a:effectLst/>
                <a:latin typeface="Consolas" panose="020B0609020204030204" pitchFamily="49" charset="0"/>
              </a:rPr>
              <a:t>console.log(</a:t>
            </a:r>
            <a:r>
              <a:rPr lang="en-GB" sz="1400" b="0" dirty="0">
                <a:solidFill>
                  <a:srgbClr val="CE9178"/>
                </a:solidFill>
                <a:effectLst/>
                <a:latin typeface="Consolas" panose="020B0609020204030204" pitchFamily="49" charset="0"/>
              </a:rPr>
              <a:t>`result : </a:t>
            </a:r>
            <a:r>
              <a:rPr lang="en-GB" sz="1400" b="0" dirty="0">
                <a:solidFill>
                  <a:srgbClr val="569CD6"/>
                </a:solidFill>
                <a:effectLst/>
                <a:latin typeface="Consolas" panose="020B0609020204030204" pitchFamily="49" charset="0"/>
              </a:rPr>
              <a:t>${</a:t>
            </a:r>
            <a:r>
              <a:rPr lang="en-GB" sz="1400" b="0" dirty="0" err="1">
                <a:solidFill>
                  <a:srgbClr val="D4D4D4"/>
                </a:solidFill>
                <a:effectLst/>
                <a:latin typeface="Consolas" panose="020B0609020204030204" pitchFamily="49" charset="0"/>
              </a:rPr>
              <a:t>JSON.stringify</a:t>
            </a:r>
            <a:r>
              <a:rPr lang="en-GB" sz="1400" b="0" dirty="0">
                <a:solidFill>
                  <a:srgbClr val="D4D4D4"/>
                </a:solidFill>
                <a:effectLst/>
                <a:latin typeface="Consolas" panose="020B0609020204030204" pitchFamily="49" charset="0"/>
              </a:rPr>
              <a:t>(result)</a:t>
            </a:r>
            <a:r>
              <a:rPr lang="en-GB" sz="1400" b="0" dirty="0">
                <a:solidFill>
                  <a:srgbClr val="569CD6"/>
                </a:solidFill>
                <a:effectLst/>
                <a:latin typeface="Consolas" panose="020B0609020204030204" pitchFamily="49" charset="0"/>
              </a:rPr>
              <a:t>}</a:t>
            </a:r>
            <a:r>
              <a:rPr lang="en-GB" sz="1400" b="0" dirty="0">
                <a:solidFill>
                  <a:srgbClr val="CE9178"/>
                </a:solidFill>
                <a:effectLst/>
                <a:latin typeface="Consolas" panose="020B0609020204030204" pitchFamily="49" charset="0"/>
              </a:rPr>
              <a:t>`</a:t>
            </a:r>
            <a:r>
              <a:rPr lang="en-GB" sz="1400" b="0" dirty="0">
                <a:solidFill>
                  <a:srgbClr val="D4D4D4"/>
                </a:solidFill>
                <a:effectLst/>
                <a:latin typeface="Consolas" panose="020B0609020204030204" pitchFamily="49" charset="0"/>
              </a:rPr>
              <a:t>);</a:t>
            </a:r>
          </a:p>
          <a:p>
            <a:pPr>
              <a:lnSpc>
                <a:spcPts val="1425"/>
              </a:lnSpc>
              <a:buNone/>
            </a:pPr>
            <a:r>
              <a:rPr lang="en-GB" sz="1400" b="0" dirty="0">
                <a:solidFill>
                  <a:srgbClr val="D4D4D4"/>
                </a:solidFill>
                <a:effectLst/>
                <a:latin typeface="Consolas" panose="020B0609020204030204" pitchFamily="49" charset="0"/>
              </a:rPr>
              <a:t>console.log(</a:t>
            </a:r>
            <a:r>
              <a:rPr lang="en-GB" sz="1400" b="0" dirty="0" err="1">
                <a:solidFill>
                  <a:srgbClr val="D4D4D4"/>
                </a:solidFill>
                <a:effectLst/>
                <a:latin typeface="Consolas" panose="020B0609020204030204" pitchFamily="49" charset="0"/>
              </a:rPr>
              <a:t>result.affected_rows</a:t>
            </a:r>
            <a:r>
              <a:rPr lang="en-GB" sz="1400" b="0" dirty="0">
                <a:solidFill>
                  <a:srgbClr val="D4D4D4"/>
                </a:solidFill>
                <a:effectLst/>
                <a:latin typeface="Consolas" panose="020B0609020204030204" pitchFamily="49" charset="0"/>
              </a:rPr>
              <a:t>);</a:t>
            </a:r>
          </a:p>
          <a:p>
            <a:pPr>
              <a:lnSpc>
                <a:spcPts val="1425"/>
              </a:lnSpc>
            </a:pPr>
            <a:r>
              <a:rPr lang="en-GB" sz="1400" dirty="0" err="1">
                <a:solidFill>
                  <a:srgbClr val="D4D4D4"/>
                </a:solidFill>
                <a:latin typeface="Consolas" panose="020B0609020204030204" pitchFamily="49" charset="0"/>
              </a:rPr>
              <a:t>row.remove</a:t>
            </a:r>
            <a:r>
              <a:rPr lang="en-GB" sz="1400" dirty="0">
                <a:solidFill>
                  <a:srgbClr val="D4D4D4"/>
                </a:solidFill>
                <a:latin typeface="Consolas" panose="020B0609020204030204" pitchFamily="49" charset="0"/>
              </a:rPr>
              <a:t>();</a:t>
            </a:r>
          </a:p>
          <a:p>
            <a:pPr>
              <a:lnSpc>
                <a:spcPts val="1425"/>
              </a:lnSpc>
              <a:buNone/>
            </a:pPr>
            <a:endParaRPr lang="en-GB" sz="1400" b="0" dirty="0">
              <a:solidFill>
                <a:srgbClr val="D4D4D4"/>
              </a:solidFill>
              <a:effectLst/>
              <a:latin typeface="Consolas" panose="020B0609020204030204" pitchFamily="49" charset="0"/>
            </a:endParaRPr>
          </a:p>
          <a:p>
            <a:pPr>
              <a:lnSpc>
                <a:spcPts val="1425"/>
              </a:lnSpc>
              <a:buNone/>
            </a:pPr>
            <a:r>
              <a:rPr lang="en-GB" sz="1400" b="0" dirty="0">
                <a:solidFill>
                  <a:srgbClr val="D4D4D4"/>
                </a:solidFill>
                <a:effectLst/>
                <a:highlight>
                  <a:srgbClr val="808000"/>
                </a:highlight>
                <a:latin typeface="Consolas" panose="020B0609020204030204" pitchFamily="49" charset="0"/>
              </a:rPr>
              <a:t>console.log(</a:t>
            </a:r>
            <a:r>
              <a:rPr lang="en-GB" sz="1400" b="0" dirty="0">
                <a:solidFill>
                  <a:srgbClr val="CE9178"/>
                </a:solidFill>
                <a:effectLst/>
                <a:highlight>
                  <a:srgbClr val="808000"/>
                </a:highlight>
                <a:latin typeface="Consolas" panose="020B0609020204030204" pitchFamily="49" charset="0"/>
              </a:rPr>
              <a:t>"Coach deleted successfully!"</a:t>
            </a:r>
            <a:r>
              <a:rPr lang="en-GB" sz="1400" b="0" dirty="0">
                <a:solidFill>
                  <a:srgbClr val="D4D4D4"/>
                </a:solidFill>
                <a:effectLst/>
                <a:highlight>
                  <a:srgbClr val="808000"/>
                </a:highlight>
                <a:latin typeface="Consolas" panose="020B0609020204030204" pitchFamily="49" charset="0"/>
              </a:rPr>
              <a:t>);</a:t>
            </a:r>
          </a:p>
        </p:txBody>
      </p:sp>
      <p:sp>
        <p:nvSpPr>
          <p:cNvPr id="8" name="Table Placeholder 4">
            <a:extLst>
              <a:ext uri="{FF2B5EF4-FFF2-40B4-BE49-F238E27FC236}">
                <a16:creationId xmlns:a16="http://schemas.microsoft.com/office/drawing/2014/main" id="{DBA8EA03-53AC-9098-19B4-E67FF04705FB}"/>
              </a:ext>
            </a:extLst>
          </p:cNvPr>
          <p:cNvSpPr txBox="1">
            <a:spLocks/>
          </p:cNvSpPr>
          <p:nvPr/>
        </p:nvSpPr>
        <p:spPr>
          <a:xfrm>
            <a:off x="5675153" y="773126"/>
            <a:ext cx="5717782" cy="1268331"/>
          </a:xfrm>
          <a:prstGeom prst="rect">
            <a:avLst/>
          </a:prstGeom>
        </p:spPr>
        <p:txBody>
          <a:bodyPr vert="horz" lIns="91440" tIns="45720" rIns="91440" bIns="45720" rtlCol="0" anchor="t">
            <a:normAutofit/>
          </a:bodyPr>
          <a:lstStyle>
            <a:lvl1pPr marL="0" indent="0" algn="ctr" defTabSz="914400" rtl="0" eaLnBrk="1" latinLnBrk="0" hangingPunct="1">
              <a:lnSpc>
                <a:spcPct val="95000"/>
              </a:lnSpc>
              <a:spcBef>
                <a:spcPts val="1400"/>
              </a:spcBef>
              <a:spcAft>
                <a:spcPts val="200"/>
              </a:spcAft>
              <a:buClr>
                <a:schemeClr val="accent1"/>
              </a:buClr>
              <a:buSzPct val="80000"/>
              <a:buFont typeface="Arial" pitchFamily="34" charset="0"/>
              <a:buNone/>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algn="l"/>
            <a:r>
              <a:rPr lang="en-US" dirty="0">
                <a:solidFill>
                  <a:schemeClr val="bg1"/>
                </a:solidFill>
              </a:rPr>
              <a:t>Provide the user with feedback regarding the query’s outcome. If the query is successful, the row is deleted, and the corresponding table is updated. Otherwise, leave the row and do nothing.</a:t>
            </a:r>
          </a:p>
        </p:txBody>
      </p:sp>
    </p:spTree>
    <p:extLst>
      <p:ext uri="{BB962C8B-B14F-4D97-AF65-F5344CB8AC3E}">
        <p14:creationId xmlns:p14="http://schemas.microsoft.com/office/powerpoint/2010/main" val="2635240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BB1-C5B6-C34A-6087-4868288761AF}"/>
              </a:ext>
            </a:extLst>
          </p:cNvPr>
          <p:cNvSpPr>
            <a:spLocks noGrp="1"/>
          </p:cNvSpPr>
          <p:nvPr>
            <p:ph type="title"/>
          </p:nvPr>
        </p:nvSpPr>
        <p:spPr>
          <a:xfrm>
            <a:off x="672547" y="571499"/>
            <a:ext cx="3496781" cy="1265690"/>
          </a:xfrm>
        </p:spPr>
        <p:txBody>
          <a:bodyPr/>
          <a:lstStyle/>
          <a:p>
            <a:pPr lvl="0"/>
            <a:r>
              <a:rPr lang="en-US" noProof="0" dirty="0">
                <a:solidFill>
                  <a:schemeClr val="bg1"/>
                </a:solidFill>
              </a:rPr>
              <a:t>Error Handling</a:t>
            </a:r>
          </a:p>
        </p:txBody>
      </p:sp>
      <p:sp>
        <p:nvSpPr>
          <p:cNvPr id="3" name="Content Placeholder 2">
            <a:extLst>
              <a:ext uri="{FF2B5EF4-FFF2-40B4-BE49-F238E27FC236}">
                <a16:creationId xmlns:a16="http://schemas.microsoft.com/office/drawing/2014/main" id="{0A77EDD1-5A8E-0F37-E892-65A530E36B20}"/>
              </a:ext>
            </a:extLst>
          </p:cNvPr>
          <p:cNvSpPr>
            <a:spLocks noGrp="1"/>
          </p:cNvSpPr>
          <p:nvPr>
            <p:ph sz="quarter" idx="17"/>
          </p:nvPr>
        </p:nvSpPr>
        <p:spPr>
          <a:xfrm>
            <a:off x="672547" y="2088859"/>
            <a:ext cx="3974953" cy="3899816"/>
          </a:xfrm>
        </p:spPr>
        <p:txBody>
          <a:bodyPr>
            <a:normAutofit/>
          </a:bodyPr>
          <a:lstStyle/>
          <a:p>
            <a:pPr marL="0" lvl="0" indent="0">
              <a:buNone/>
            </a:pPr>
            <a:r>
              <a:rPr lang="en-US" noProof="0" dirty="0"/>
              <a:t>We incorporated handlers throughout our code to gracefully handle errors and provide actionable feedback to users.</a:t>
            </a:r>
          </a:p>
          <a:p>
            <a:pPr marL="0" lvl="0" indent="0">
              <a:buNone/>
            </a:pPr>
            <a:r>
              <a:rPr lang="en-US" noProof="0" dirty="0"/>
              <a:t>Here, </a:t>
            </a:r>
            <a:r>
              <a:rPr lang="en-US" dirty="0"/>
              <a:t>running a query performs a try-catch statement to handle responses.</a:t>
            </a:r>
          </a:p>
          <a:p>
            <a:pPr marL="0" lvl="0" indent="0">
              <a:buNone/>
            </a:pPr>
            <a:r>
              <a:rPr lang="en-US" noProof="0" dirty="0"/>
              <a:t>This prevents </a:t>
            </a:r>
            <a:r>
              <a:rPr lang="en-US" dirty="0"/>
              <a:t>errors from breaking or corrupting the system’s functionality.</a:t>
            </a:r>
            <a:endParaRPr lang="en-US" noProof="0" dirty="0"/>
          </a:p>
        </p:txBody>
      </p:sp>
      <p:sp>
        <p:nvSpPr>
          <p:cNvPr id="9" name="TextBox 8">
            <a:extLst>
              <a:ext uri="{FF2B5EF4-FFF2-40B4-BE49-F238E27FC236}">
                <a16:creationId xmlns:a16="http://schemas.microsoft.com/office/drawing/2014/main" id="{F4BD8D21-CF0C-A852-0B51-BA9E9D0F0409}"/>
              </a:ext>
            </a:extLst>
          </p:cNvPr>
          <p:cNvSpPr txBox="1"/>
          <p:nvPr/>
        </p:nvSpPr>
        <p:spPr>
          <a:xfrm>
            <a:off x="4782408" y="2305615"/>
            <a:ext cx="6737045" cy="3683060"/>
          </a:xfrm>
          <a:prstGeom prst="rect">
            <a:avLst/>
          </a:prstGeom>
          <a:solidFill>
            <a:schemeClr val="tx2"/>
          </a:solidFill>
          <a:ln>
            <a:solidFill>
              <a:schemeClr val="bg1"/>
            </a:solidFill>
          </a:ln>
        </p:spPr>
        <p:txBody>
          <a:bodyPr wrap="square">
            <a:spAutoFit/>
          </a:bodyPr>
          <a:lstStyle/>
          <a:p>
            <a:pPr>
              <a:lnSpc>
                <a:spcPts val="1425"/>
              </a:lnSpc>
              <a:buNone/>
            </a:pP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runQuery</a:t>
            </a:r>
            <a:r>
              <a:rPr lang="en-GB" sz="1300" b="0" dirty="0">
                <a:solidFill>
                  <a:srgbClr val="D4D4D4"/>
                </a:solidFill>
                <a:effectLst/>
                <a:latin typeface="Consolas" panose="020B0609020204030204" pitchFamily="49" charset="0"/>
              </a:rPr>
              <a:t> = </a:t>
            </a:r>
            <a:r>
              <a:rPr lang="en-GB" sz="1300" b="0" dirty="0">
                <a:solidFill>
                  <a:srgbClr val="569CD6"/>
                </a:solidFill>
                <a:effectLst/>
                <a:latin typeface="Consolas" panose="020B0609020204030204" pitchFamily="49" charset="0"/>
              </a:rPr>
              <a:t>async</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sql</a:t>
            </a: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=&gt;</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569CD6"/>
                </a:solidFill>
                <a:effectLst/>
                <a:latin typeface="Consolas" panose="020B0609020204030204" pitchFamily="49" charset="0"/>
              </a:rPr>
              <a:t>	</a:t>
            </a:r>
            <a:r>
              <a:rPr lang="en-GB" sz="1300" b="0" dirty="0">
                <a:solidFill>
                  <a:srgbClr val="569CD6"/>
                </a:solidFill>
                <a:effectLst/>
                <a:highlight>
                  <a:srgbClr val="808000"/>
                </a:highlight>
                <a:latin typeface="Consolas" panose="020B0609020204030204" pitchFamily="49" charset="0"/>
              </a:rPr>
              <a:t>try</a:t>
            </a:r>
            <a:r>
              <a:rPr lang="en-GB" sz="1300" b="0" dirty="0">
                <a:solidFill>
                  <a:srgbClr val="D4D4D4"/>
                </a:solidFill>
                <a:effectLst/>
                <a:highlight>
                  <a:srgbClr val="808000"/>
                </a:highligh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url</a:t>
            </a:r>
            <a:r>
              <a:rPr lang="en-GB" sz="1300" b="0" dirty="0">
                <a:solidFill>
                  <a:srgbClr val="D4D4D4"/>
                </a:solidFill>
                <a:effectLst/>
                <a:latin typeface="Consolas" panose="020B0609020204030204" pitchFamily="49" charset="0"/>
              </a:rPr>
              <a:t> = </a:t>
            </a:r>
            <a:r>
              <a:rPr lang="en-GB" sz="1300" b="0" dirty="0">
                <a:solidFill>
                  <a:srgbClr val="CE9178"/>
                </a:solidFill>
                <a:effectLst/>
                <a:latin typeface="Consolas" panose="020B0609020204030204" pitchFamily="49" charset="0"/>
              </a:rPr>
              <a:t>"http://localhost/dbConnector.php"</a:t>
            </a:r>
            <a:r>
              <a:rPr lang="en-GB" sz="1300" b="0" dirty="0">
                <a:solidFill>
                  <a:srgbClr val="D4D4D4"/>
                </a:solidFill>
                <a:effectLst/>
                <a:latin typeface="Consolas" panose="020B0609020204030204" pitchFamily="49" charset="0"/>
              </a:rPr>
              <a:t>;</a:t>
            </a:r>
          </a:p>
          <a:p>
            <a:pPr>
              <a:lnSpc>
                <a:spcPts val="1425"/>
              </a:lnSpc>
              <a:buNone/>
            </a:pP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response = </a:t>
            </a:r>
            <a:r>
              <a:rPr lang="en-GB" sz="1300" b="0" dirty="0">
                <a:solidFill>
                  <a:srgbClr val="569CD6"/>
                </a:solidFill>
                <a:effectLst/>
                <a:latin typeface="Consolas" panose="020B0609020204030204" pitchFamily="49" charset="0"/>
              </a:rPr>
              <a:t>await</a:t>
            </a:r>
            <a:r>
              <a:rPr lang="en-GB" sz="1300" b="0" dirty="0">
                <a:solidFill>
                  <a:srgbClr val="D4D4D4"/>
                </a:solidFill>
                <a:effectLst/>
                <a:latin typeface="Consolas" panose="020B0609020204030204" pitchFamily="49" charset="0"/>
              </a:rPr>
              <a:t> fetch(</a:t>
            </a:r>
            <a:r>
              <a:rPr lang="en-GB" sz="1300" b="0" dirty="0" err="1">
                <a:solidFill>
                  <a:srgbClr val="D4D4D4"/>
                </a:solidFill>
                <a:effectLst/>
                <a:latin typeface="Consolas" panose="020B0609020204030204" pitchFamily="49" charset="0"/>
              </a:rPr>
              <a:t>url</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method: </a:t>
            </a:r>
            <a:r>
              <a:rPr lang="en-GB" sz="1300" b="0" dirty="0">
                <a:solidFill>
                  <a:srgbClr val="CE9178"/>
                </a:solidFill>
                <a:effectLst/>
                <a:latin typeface="Consolas" panose="020B0609020204030204" pitchFamily="49" charset="0"/>
              </a:rPr>
              <a:t>"POST"</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body: </a:t>
            </a:r>
            <a:r>
              <a:rPr lang="en-GB" sz="1300" b="0" dirty="0">
                <a:solidFill>
                  <a:srgbClr val="569CD6"/>
                </a:solidFill>
                <a:effectLst/>
                <a:latin typeface="Consolas" panose="020B0609020204030204" pitchFamily="49" charset="0"/>
              </a:rPr>
              <a:t>new</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URLSearchParams</a:t>
            </a:r>
            <a:r>
              <a:rPr lang="en-GB" sz="1300" b="0" dirty="0">
                <a:solidFill>
                  <a:srgbClr val="D4D4D4"/>
                </a:solidFill>
                <a:effectLst/>
                <a:latin typeface="Consolas" panose="020B0609020204030204" pitchFamily="49" charset="0"/>
              </a:rPr>
              <a:t>({ query: </a:t>
            </a:r>
            <a:r>
              <a:rPr lang="en-GB" sz="1300" b="0" dirty="0" err="1">
                <a:solidFill>
                  <a:srgbClr val="D4D4D4"/>
                </a:solidFill>
                <a:effectLst/>
                <a:latin typeface="Consolas" panose="020B0609020204030204" pitchFamily="49" charset="0"/>
              </a:rPr>
              <a:t>sql</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if</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response.ok</a:t>
            </a: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throw</a:t>
            </a: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new</a:t>
            </a:r>
            <a:r>
              <a:rPr lang="en-GB" sz="1300" b="0" dirty="0">
                <a:solidFill>
                  <a:srgbClr val="D4D4D4"/>
                </a:solidFill>
                <a:effectLst/>
                <a:latin typeface="Consolas" panose="020B0609020204030204" pitchFamily="49" charset="0"/>
              </a:rPr>
              <a:t> Error(</a:t>
            </a:r>
            <a:r>
              <a:rPr lang="en-GB" sz="1300" b="0" dirty="0">
                <a:solidFill>
                  <a:srgbClr val="CE9178"/>
                </a:solidFill>
                <a:effectLst/>
                <a:latin typeface="Consolas" panose="020B0609020204030204" pitchFamily="49" charset="0"/>
              </a:rPr>
              <a:t>`HTTP Error </a:t>
            </a:r>
            <a:r>
              <a:rPr lang="en-GB" sz="1300" b="0" dirty="0">
                <a:solidFill>
                  <a:srgbClr val="569CD6"/>
                </a:solidFill>
                <a:effectLst/>
                <a:latin typeface="Consolas" panose="020B0609020204030204" pitchFamily="49" charset="0"/>
              </a:rPr>
              <a:t>${</a:t>
            </a:r>
            <a:r>
              <a:rPr lang="en-GB" sz="1300" b="0" dirty="0" err="1">
                <a:solidFill>
                  <a:srgbClr val="D4D4D4"/>
                </a:solidFill>
                <a:effectLst/>
                <a:latin typeface="Consolas" panose="020B0609020204030204" pitchFamily="49" charset="0"/>
              </a:rPr>
              <a:t>response.status</a:t>
            </a:r>
            <a:r>
              <a:rPr lang="en-GB" sz="1300" b="0" dirty="0">
                <a:solidFill>
                  <a:srgbClr val="569CD6"/>
                </a:solidFill>
                <a:effectLst/>
                <a:latin typeface="Consolas" panose="020B0609020204030204" pitchFamily="49" charset="0"/>
              </a:rPr>
              <a:t>}</a:t>
            </a:r>
            <a:r>
              <a:rPr lang="en-GB" sz="1300" b="0" dirty="0">
                <a:solidFill>
                  <a:srgbClr val="CE9178"/>
                </a:solidFill>
                <a:effectLst/>
                <a:latin typeface="Consolas" panose="020B0609020204030204" pitchFamily="49" charset="0"/>
              </a:rPr>
              <a:t>`</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D4D4D4"/>
                </a:solidFill>
                <a:effectLst/>
                <a:latin typeface="Consolas" panose="020B0609020204030204" pitchFamily="49" charset="0"/>
              </a:rPr>
              <a:t>        </a:t>
            </a:r>
            <a:r>
              <a:rPr lang="en-GB" sz="1300" b="0" dirty="0" err="1">
                <a:solidFill>
                  <a:srgbClr val="569CD6"/>
                </a:solidFill>
                <a:effectLst/>
                <a:latin typeface="Consolas" panose="020B0609020204030204" pitchFamily="49" charset="0"/>
              </a:rPr>
              <a:t>const</a:t>
            </a:r>
            <a:r>
              <a:rPr lang="en-GB" sz="1300" b="0" dirty="0">
                <a:solidFill>
                  <a:srgbClr val="D4D4D4"/>
                </a:solidFill>
                <a:effectLst/>
                <a:latin typeface="Consolas" panose="020B0609020204030204" pitchFamily="49" charset="0"/>
              </a:rPr>
              <a:t> result = </a:t>
            </a:r>
            <a:r>
              <a:rPr lang="en-GB" sz="1300" b="0" dirty="0">
                <a:solidFill>
                  <a:srgbClr val="569CD6"/>
                </a:solidFill>
                <a:effectLst/>
                <a:latin typeface="Consolas" panose="020B0609020204030204" pitchFamily="49" charset="0"/>
              </a:rPr>
              <a:t>await</a:t>
            </a:r>
            <a:r>
              <a:rPr lang="en-GB" sz="1300" b="0" dirty="0">
                <a:solidFill>
                  <a:srgbClr val="D4D4D4"/>
                </a:solidFill>
                <a:effectLst/>
                <a:latin typeface="Consolas" panose="020B0609020204030204" pitchFamily="49" charset="0"/>
              </a:rPr>
              <a:t> </a:t>
            </a:r>
            <a:r>
              <a:rPr lang="en-GB" sz="1300" b="0" dirty="0" err="1">
                <a:solidFill>
                  <a:srgbClr val="D4D4D4"/>
                </a:solidFill>
                <a:effectLst/>
                <a:latin typeface="Consolas" panose="020B0609020204030204" pitchFamily="49" charset="0"/>
              </a:rPr>
              <a:t>response.json</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r>
              <a:rPr lang="en-GB" sz="1300" b="0" dirty="0">
                <a:solidFill>
                  <a:srgbClr val="569CD6"/>
                </a:solidFill>
                <a:effectLst/>
                <a:latin typeface="Consolas" panose="020B0609020204030204" pitchFamily="49" charset="0"/>
              </a:rPr>
              <a:t>return</a:t>
            </a:r>
            <a:r>
              <a:rPr lang="en-GB" sz="1300" b="0" dirty="0">
                <a:solidFill>
                  <a:srgbClr val="D4D4D4"/>
                </a:solidFill>
                <a:effectLst/>
                <a:latin typeface="Consolas" panose="020B0609020204030204" pitchFamily="49" charset="0"/>
              </a:rPr>
              <a:t> result;</a:t>
            </a:r>
          </a:p>
          <a:p>
            <a:pPr>
              <a:lnSpc>
                <a:spcPts val="1425"/>
              </a:lnSpc>
              <a:buNone/>
            </a:pPr>
            <a:endParaRPr lang="en-GB" sz="1300" b="0" dirty="0">
              <a:solidFill>
                <a:srgbClr val="D4D4D4"/>
              </a:solidFill>
              <a:effectLst/>
              <a:latin typeface="Consolas" panose="020B0609020204030204" pitchFamily="49" charset="0"/>
            </a:endParaRPr>
          </a:p>
          <a:p>
            <a:pPr>
              <a:lnSpc>
                <a:spcPts val="1425"/>
              </a:lnSpc>
              <a:buNone/>
            </a:pPr>
            <a:r>
              <a:rPr lang="en-GB" sz="1300" b="0" dirty="0">
                <a:solidFill>
                  <a:srgbClr val="D4D4D4"/>
                </a:solidFill>
                <a:effectLst/>
                <a:latin typeface="Consolas" panose="020B0609020204030204" pitchFamily="49" charset="0"/>
              </a:rPr>
              <a:t>      </a:t>
            </a:r>
            <a:r>
              <a:rPr lang="en-GB" sz="1300" b="0" dirty="0">
                <a:solidFill>
                  <a:srgbClr val="D4D4D4"/>
                </a:solidFill>
                <a:effectLst/>
                <a:highlight>
                  <a:srgbClr val="808000"/>
                </a:highlight>
                <a:latin typeface="Consolas" panose="020B0609020204030204" pitchFamily="49" charset="0"/>
              </a:rPr>
              <a:t>} </a:t>
            </a:r>
            <a:r>
              <a:rPr lang="en-GB" sz="1300" b="0" dirty="0">
                <a:solidFill>
                  <a:srgbClr val="569CD6"/>
                </a:solidFill>
                <a:effectLst/>
                <a:highlight>
                  <a:srgbClr val="808000"/>
                </a:highlight>
                <a:latin typeface="Consolas" panose="020B0609020204030204" pitchFamily="49" charset="0"/>
              </a:rPr>
              <a:t>catch</a:t>
            </a:r>
            <a:r>
              <a:rPr lang="en-GB" sz="1300" b="0" dirty="0">
                <a:solidFill>
                  <a:srgbClr val="D4D4D4"/>
                </a:solidFill>
                <a:effectLst/>
                <a:highlight>
                  <a:srgbClr val="808000"/>
                </a:highlight>
                <a:latin typeface="Consolas" panose="020B0609020204030204" pitchFamily="49" charset="0"/>
              </a:rPr>
              <a:t> (error) {</a:t>
            </a:r>
          </a:p>
          <a:p>
            <a:pPr>
              <a:lnSpc>
                <a:spcPts val="1425"/>
              </a:lnSpc>
              <a:buNone/>
            </a:pPr>
            <a:r>
              <a:rPr lang="en-GB" sz="1300" b="0" dirty="0">
                <a:solidFill>
                  <a:srgbClr val="D4D4D4"/>
                </a:solidFill>
                <a:effectLst/>
                <a:latin typeface="Consolas" panose="020B0609020204030204" pitchFamily="49" charset="0"/>
              </a:rPr>
              <a:t>        console.log(</a:t>
            </a:r>
            <a:r>
              <a:rPr lang="en-GB" sz="1300" b="0" dirty="0" err="1">
                <a:solidFill>
                  <a:srgbClr val="D4D4D4"/>
                </a:solidFill>
                <a:effectLst/>
                <a:latin typeface="Consolas" panose="020B0609020204030204" pitchFamily="49" charset="0"/>
              </a:rPr>
              <a:t>error.message</a:t>
            </a:r>
            <a:r>
              <a:rPr lang="en-GB" sz="1300" b="0" dirty="0">
                <a:solidFill>
                  <a:srgbClr val="D4D4D4"/>
                </a:solidFill>
                <a:effectLst/>
                <a:latin typeface="Consolas" panose="020B0609020204030204" pitchFamily="49" charset="0"/>
              </a:rPr>
              <a:t>);</a:t>
            </a:r>
          </a:p>
          <a:p>
            <a:pPr>
              <a:lnSpc>
                <a:spcPts val="1425"/>
              </a:lnSpc>
              <a:buNone/>
            </a:pPr>
            <a:r>
              <a:rPr lang="en-GB" sz="1300" b="0" dirty="0">
                <a:solidFill>
                  <a:srgbClr val="D4D4D4"/>
                </a:solidFill>
                <a:effectLst/>
                <a:latin typeface="Consolas" panose="020B0609020204030204" pitchFamily="49" charset="0"/>
              </a:rPr>
              <a:t>	}</a:t>
            </a:r>
          </a:p>
          <a:p>
            <a:pPr>
              <a:lnSpc>
                <a:spcPts val="1425"/>
              </a:lnSpc>
              <a:buNone/>
            </a:pPr>
            <a:r>
              <a:rPr lang="en-GB" sz="1300" b="0" dirty="0">
                <a:solidFill>
                  <a:srgbClr val="D4D4D4"/>
                </a:solidFill>
                <a:effectLst/>
                <a:latin typeface="Consolas" panose="020B0609020204030204" pitchFamily="49" charset="0"/>
              </a:rPr>
              <a:t>}</a:t>
            </a:r>
          </a:p>
        </p:txBody>
      </p:sp>
      <p:sp>
        <p:nvSpPr>
          <p:cNvPr id="4" name="Content Placeholder 2">
            <a:extLst>
              <a:ext uri="{FF2B5EF4-FFF2-40B4-BE49-F238E27FC236}">
                <a16:creationId xmlns:a16="http://schemas.microsoft.com/office/drawing/2014/main" id="{E6FD3E84-F8A0-FB47-1AB6-E8CB79839C34}"/>
              </a:ext>
            </a:extLst>
          </p:cNvPr>
          <p:cNvSpPr txBox="1">
            <a:spLocks/>
          </p:cNvSpPr>
          <p:nvPr/>
        </p:nvSpPr>
        <p:spPr>
          <a:xfrm>
            <a:off x="4782409" y="834195"/>
            <a:ext cx="6737044" cy="740297"/>
          </a:xfrm>
          <a:prstGeom prst="rect">
            <a:avLst/>
          </a:prstGeom>
          <a:effectLst/>
        </p:spPr>
        <p:txBody>
          <a:bodyPr vert="horz" lIns="91440" tIns="45720" rIns="91440" bIns="45720" rtlCol="0" anchor="t">
            <a:noAutofit/>
          </a:bodyPr>
          <a:lstStyle>
            <a:lvl1pPr marL="285750" indent="-285750" algn="l" defTabSz="914400" rtl="0" eaLnBrk="1" latinLnBrk="0" hangingPunct="1">
              <a:lnSpc>
                <a:spcPct val="120000"/>
              </a:lnSpc>
              <a:spcBef>
                <a:spcPts val="600"/>
              </a:spcBef>
              <a:spcAft>
                <a:spcPts val="1200"/>
              </a:spcAft>
              <a:buClr>
                <a:schemeClr val="accent1">
                  <a:lumMod val="50000"/>
                </a:schemeClr>
              </a:buClr>
              <a:buSzPct val="80000"/>
              <a:buFont typeface="Arial" panose="020B0604020202020204" pitchFamily="34" charset="0"/>
              <a:buChar char="•"/>
              <a:defRPr sz="1800" kern="1200" spc="10" baseline="0">
                <a:solidFill>
                  <a:schemeClr val="accent1">
                    <a:lumMod val="50000"/>
                  </a:schemeClr>
                </a:solidFill>
                <a:latin typeface="+mn-lt"/>
                <a:ea typeface="+mn-ea"/>
                <a:cs typeface="+mn-cs"/>
              </a:defRPr>
            </a:lvl1pPr>
            <a:lvl2pPr marL="742950" indent="-285750" algn="l" defTabSz="914400" rtl="0" eaLnBrk="1" latinLnBrk="0" hangingPunct="1">
              <a:lnSpc>
                <a:spcPct val="120000"/>
              </a:lnSpc>
              <a:spcBef>
                <a:spcPts val="300"/>
              </a:spcBef>
              <a:spcAft>
                <a:spcPts val="1200"/>
              </a:spcAft>
              <a:buClr>
                <a:schemeClr val="accent1">
                  <a:lumMod val="50000"/>
                </a:schemeClr>
              </a:buClr>
              <a:buFont typeface="Arial" panose="020B0604020202020204" pitchFamily="34" charset="0"/>
              <a:buChar char="•"/>
              <a:defRPr sz="1600" kern="1200">
                <a:solidFill>
                  <a:schemeClr val="accent1">
                    <a:lumMod val="50000"/>
                  </a:schemeClr>
                </a:solidFill>
                <a:latin typeface="+mn-lt"/>
                <a:ea typeface="+mn-ea"/>
                <a:cs typeface="+mn-cs"/>
              </a:defRPr>
            </a:lvl2pPr>
            <a:lvl3pPr marL="1143000" indent="-228600" algn="l" defTabSz="914400" rtl="0" eaLnBrk="1" latinLnBrk="0" hangingPunct="1">
              <a:lnSpc>
                <a:spcPct val="120000"/>
              </a:lnSpc>
              <a:spcBef>
                <a:spcPts val="300"/>
              </a:spcBef>
              <a:spcAft>
                <a:spcPts val="1200"/>
              </a:spcAft>
              <a:buClr>
                <a:schemeClr val="accent1">
                  <a:lumMod val="50000"/>
                </a:schemeClr>
              </a:buClr>
              <a:buFont typeface="Arial" panose="020B0604020202020204" pitchFamily="34" charset="0"/>
              <a:buChar char="•"/>
              <a:defRPr sz="1400" kern="1200">
                <a:solidFill>
                  <a:schemeClr val="accent1">
                    <a:lumMod val="50000"/>
                  </a:schemeClr>
                </a:solidFill>
                <a:latin typeface="+mn-lt"/>
                <a:ea typeface="+mn-ea"/>
                <a:cs typeface="+mn-cs"/>
              </a:defRPr>
            </a:lvl3pPr>
            <a:lvl4pPr marL="1600200" indent="-228600" algn="l" defTabSz="914400" rtl="0" eaLnBrk="1" latinLnBrk="0" hangingPunct="1">
              <a:lnSpc>
                <a:spcPct val="120000"/>
              </a:lnSpc>
              <a:spcBef>
                <a:spcPts val="300"/>
              </a:spcBef>
              <a:spcAft>
                <a:spcPts val="12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4pPr>
            <a:lvl5pPr marL="2057400" indent="-228600" algn="l" defTabSz="914400" rtl="0" eaLnBrk="1" latinLnBrk="0" hangingPunct="1">
              <a:lnSpc>
                <a:spcPct val="120000"/>
              </a:lnSpc>
              <a:spcBef>
                <a:spcPts val="300"/>
              </a:spcBef>
              <a:spcAft>
                <a:spcPts val="12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anose="020B0604020202020204" pitchFamily="34" charset="0"/>
              <a:buNone/>
            </a:pPr>
            <a:r>
              <a:rPr lang="en-US" i="1" dirty="0">
                <a:solidFill>
                  <a:schemeClr val="bg1"/>
                </a:solidFill>
              </a:rPr>
              <a:t>* These functionalities are present for each entity and fetch request in our database.</a:t>
            </a:r>
          </a:p>
        </p:txBody>
      </p:sp>
    </p:spTree>
    <p:extLst>
      <p:ext uri="{BB962C8B-B14F-4D97-AF65-F5344CB8AC3E}">
        <p14:creationId xmlns:p14="http://schemas.microsoft.com/office/powerpoint/2010/main" val="3119354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p:txBody>
          <a:bodyPr/>
          <a:lstStyle/>
          <a:p>
            <a:pPr lvl="0"/>
            <a:r>
              <a:rPr lang="en-US" dirty="0"/>
              <a:t>Thank You</a:t>
            </a:r>
            <a:endParaRPr lang="en-US"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p:txBody>
          <a:bodyPr/>
          <a:lstStyle/>
          <a:p>
            <a:pPr lvl="0"/>
            <a:r>
              <a:rPr lang="en-US" noProof="0" dirty="0">
                <a:solidFill>
                  <a:schemeClr val="bg1"/>
                </a:solidFill>
              </a:rPr>
              <a:t>Madeline Brum</a:t>
            </a:r>
          </a:p>
          <a:p>
            <a:pPr lvl="0"/>
            <a:r>
              <a:rPr lang="en-US" dirty="0">
                <a:solidFill>
                  <a:schemeClr val="bg1"/>
                </a:solidFill>
              </a:rPr>
              <a:t>mbrum01@qub.ac.uk</a:t>
            </a:r>
            <a:endParaRPr lang="en-US" noProof="0" dirty="0">
              <a:solidFill>
                <a:schemeClr val="bg1"/>
              </a:solidFill>
            </a:endParaRPr>
          </a:p>
          <a:p>
            <a:pPr lvl="0"/>
            <a:r>
              <a:rPr lang="en-US" noProof="0" dirty="0">
                <a:solidFill>
                  <a:schemeClr val="bg1"/>
                </a:solidFill>
              </a:rPr>
              <a:t>40483710</a:t>
            </a:r>
          </a:p>
        </p:txBody>
      </p:sp>
    </p:spTree>
    <p:extLst>
      <p:ext uri="{BB962C8B-B14F-4D97-AF65-F5344CB8AC3E}">
        <p14:creationId xmlns:p14="http://schemas.microsoft.com/office/powerpoint/2010/main" val="366365792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CCD5E729D62154381BC066DC7A832F4" ma:contentTypeVersion="5" ma:contentTypeDescription="Create a new document." ma:contentTypeScope="" ma:versionID="8c88bf0b182767bb1539cf0b371232e4">
  <xsd:schema xmlns:xsd="http://www.w3.org/2001/XMLSchema" xmlns:xs="http://www.w3.org/2001/XMLSchema" xmlns:p="http://schemas.microsoft.com/office/2006/metadata/properties" xmlns:ns3="bc8393fd-af59-4c16-aed1-9e24f003740f" targetNamespace="http://schemas.microsoft.com/office/2006/metadata/properties" ma:root="true" ma:fieldsID="659b8da16ec97b3ef1f318db8845bbe6" ns3:_="">
    <xsd:import namespace="bc8393fd-af59-4c16-aed1-9e24f003740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393fd-af59-4c16-aed1-9e24f003740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c8393fd-af59-4c16-aed1-9e24f003740f" xsi:nil="true"/>
  </documentManagement>
</p:properties>
</file>

<file path=customXml/itemProps1.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2.xml><?xml version="1.0" encoding="utf-8"?>
<ds:datastoreItem xmlns:ds="http://schemas.openxmlformats.org/officeDocument/2006/customXml" ds:itemID="{5DA374A6-243A-4461-A3D2-D2C645B840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8393fd-af59-4c16-aed1-9e24f00374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ACCF44-01D5-4C40-9EAC-D3C3683409FE}">
  <ds:schemaRefs>
    <ds:schemaRef ds:uri="http://purl.org/dc/dcmitype/"/>
    <ds:schemaRef ds:uri="http://purl.org/dc/elements/1.1/"/>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purl.org/dc/terms/"/>
    <ds:schemaRef ds:uri="http://schemas.openxmlformats.org/package/2006/metadata/core-properties"/>
    <ds:schemaRef ds:uri="bc8393fd-af59-4c16-aed1-9e24f003740f"/>
  </ds:schemaRefs>
</ds:datastoreItem>
</file>

<file path=docMetadata/LabelInfo.xml><?xml version="1.0" encoding="utf-8"?>
<clbl:labelList xmlns:clbl="http://schemas.microsoft.com/office/2020/mipLabelMetadata">
  <clbl:label id="{eaab77ea-b4a5-49e3-a1e8-d6dd23a1f286}" enabled="0" method="" siteId="{eaab77ea-b4a5-49e3-a1e8-d6dd23a1f286}" removed="1"/>
</clbl:labelList>
</file>

<file path=docProps/app.xml><?xml version="1.0" encoding="utf-8"?>
<Properties xmlns="http://schemas.openxmlformats.org/officeDocument/2006/extended-properties" xmlns:vt="http://schemas.openxmlformats.org/officeDocument/2006/docPropsVTypes">
  <Template>TM03457515[[fn=View]]</Template>
  <TotalTime>3077</TotalTime>
  <Words>2086</Words>
  <Application>Microsoft Office PowerPoint</Application>
  <PresentationFormat>Widescreen</PresentationFormat>
  <Paragraphs>272</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Arial</vt:lpstr>
      <vt:lpstr>Calibri</vt:lpstr>
      <vt:lpstr>Century Gothic</vt:lpstr>
      <vt:lpstr>Century Schoolbook</vt:lpstr>
      <vt:lpstr>Consolas</vt:lpstr>
      <vt:lpstr>Wingdings 2</vt:lpstr>
      <vt:lpstr>View</vt:lpstr>
      <vt:lpstr>Quick Reference Guide for Web Elements</vt:lpstr>
      <vt:lpstr>Contents</vt:lpstr>
      <vt:lpstr>Directory Structure</vt:lpstr>
      <vt:lpstr>Internal Add</vt:lpstr>
      <vt:lpstr>External Add</vt:lpstr>
      <vt:lpstr>Internal Delete</vt:lpstr>
      <vt:lpstr>External Delete</vt:lpstr>
      <vt:lpstr>Parameterised Reporting and Charts</vt:lpstr>
      <vt:lpstr>Parameterised Reporting and Charts Cont.</vt:lpstr>
      <vt:lpstr>Data Retrieval</vt:lpstr>
      <vt:lpstr>PowerPoint Presentation</vt:lpstr>
      <vt:lpstr>User Feedback: Validation</vt:lpstr>
      <vt:lpstr>User Feedback: Add</vt:lpstr>
      <vt:lpstr>User Feedback: Delete</vt:lpstr>
      <vt:lpstr>Error Handling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Madeline Brum</dc:creator>
  <cp:lastModifiedBy>Madeline Brum</cp:lastModifiedBy>
  <cp:revision>2</cp:revision>
  <dcterms:created xsi:type="dcterms:W3CDTF">2026-04-12T19:42:38Z</dcterms:created>
  <dcterms:modified xsi:type="dcterms:W3CDTF">2026-04-23T06:55:32Z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0x010100DCCD5E729D62154381BC066DC7A832F4</vt:lpwstr>
  </property>
</Properties>
</file>