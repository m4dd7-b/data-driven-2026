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2" r:id="rId7"/>
    <p:sldId id="263" r:id="rId8"/>
    <p:sldId id="265" r:id="rId9"/>
    <p:sldId id="266" r:id="rId10"/>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882" autoAdjust="0"/>
    <p:restoredTop sz="94660"/>
  </p:normalViewPr>
  <p:slideViewPr>
    <p:cSldViewPr snapToGrid="0" snapToObjects="1">
      <p:cViewPr>
        <p:scale>
          <a:sx n="66" d="100"/>
          <a:sy n="66" d="100"/>
        </p:scale>
        <p:origin x="660"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F9B094-B7B4-46B8-A545-71679FC6759D}" type="datetimeFigureOut">
              <a:rPr lang="en-US" smtClean="0"/>
              <a:t>24-Apr-26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3848FA-7111-4196-B449-01F29056272C}" type="slidenum">
              <a:rPr lang="en-US" smtClean="0"/>
              <a:t>‹#›</a:t>
            </a:fld>
            <a:endParaRPr lang="en-US"/>
          </a:p>
        </p:txBody>
      </p:sp>
    </p:spTree>
    <p:extLst>
      <p:ext uri="{BB962C8B-B14F-4D97-AF65-F5344CB8AC3E}">
        <p14:creationId xmlns:p14="http://schemas.microsoft.com/office/powerpoint/2010/main" val="7953410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24-Apr-26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24-Apr-26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24-Apr-26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24-Apr-26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24-Apr-26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24-Apr-26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24-Apr-26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24-Apr-26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24-Apr-26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24-Apr-26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24-Apr-26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24-Apr-26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3.xml"/><Relationship Id="rId1" Type="http://schemas.openxmlformats.org/officeDocument/2006/relationships/slideLayout" Target="../slideLayouts/slideLayout7.xml"/><Relationship Id="rId5" Type="http://schemas.openxmlformats.org/officeDocument/2006/relationships/slide" Target="slide6.xml"/><Relationship Id="rId4" Type="http://schemas.openxmlformats.org/officeDocument/2006/relationships/slide" Target="slide5.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7" y="0"/>
            <a:ext cx="12188952" cy="6858000"/>
          </a:xfrm>
          <a:prstGeom prst="rect">
            <a:avLst/>
          </a:prstGeom>
          <a:solidFill>
            <a:srgbClr val="DBC6E9"/>
          </a:solidFill>
          <a:ln>
            <a:solidFill>
              <a:srgbClr val="DBC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rot="16200000">
            <a:off x="-2916480" y="2922190"/>
            <a:ext cx="6852163" cy="1019458"/>
          </a:xfrm>
          <a:prstGeom prst="rect">
            <a:avLst/>
          </a:prstGeom>
          <a:solidFill>
            <a:srgbClr val="3F2C49"/>
          </a:solidFill>
          <a:ln>
            <a:solidFill>
              <a:srgbClr val="3F2C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55000" y="316292"/>
            <a:ext cx="6912470" cy="3416320"/>
          </a:xfrm>
          <a:prstGeom prst="rect">
            <a:avLst/>
          </a:prstGeom>
          <a:noFill/>
        </p:spPr>
        <p:txBody>
          <a:bodyPr wrap="none">
            <a:spAutoFit/>
          </a:bodyPr>
          <a:lstStyle/>
          <a:p>
            <a:pPr>
              <a:defRPr sz="2800" b="1">
                <a:solidFill>
                  <a:srgbClr val="3F2C49"/>
                </a:solidFill>
              </a:defRPr>
            </a:pPr>
            <a:r>
              <a:rPr sz="5400" dirty="0">
                <a:latin typeface="Chonburi" panose="00000500000000000000" pitchFamily="2" charset="-34"/>
                <a:cs typeface="Chonburi" panose="00000500000000000000" pitchFamily="2" charset="-34"/>
              </a:rPr>
              <a:t>Quick </a:t>
            </a:r>
            <a:endParaRPr lang="en-US" sz="5400" dirty="0">
              <a:latin typeface="Chonburi" panose="00000500000000000000" pitchFamily="2" charset="-34"/>
              <a:cs typeface="Chonburi" panose="00000500000000000000" pitchFamily="2" charset="-34"/>
            </a:endParaRPr>
          </a:p>
          <a:p>
            <a:pPr>
              <a:defRPr sz="2800" b="1">
                <a:solidFill>
                  <a:srgbClr val="3F2C49"/>
                </a:solidFill>
              </a:defRPr>
            </a:pPr>
            <a:r>
              <a:rPr sz="5400" dirty="0">
                <a:latin typeface="Chonburi" panose="00000500000000000000" pitchFamily="2" charset="-34"/>
                <a:cs typeface="Chonburi" panose="00000500000000000000" pitchFamily="2" charset="-34"/>
              </a:rPr>
              <a:t>Reference Guide </a:t>
            </a:r>
            <a:endParaRPr lang="en-US" sz="5400" dirty="0">
              <a:latin typeface="Chonburi" panose="00000500000000000000" pitchFamily="2" charset="-34"/>
              <a:cs typeface="Chonburi" panose="00000500000000000000" pitchFamily="2" charset="-34"/>
            </a:endParaRPr>
          </a:p>
          <a:p>
            <a:pPr>
              <a:defRPr sz="2800" b="1">
                <a:solidFill>
                  <a:srgbClr val="3F2C49"/>
                </a:solidFill>
              </a:defRPr>
            </a:pPr>
            <a:r>
              <a:rPr sz="5400" dirty="0">
                <a:latin typeface="Chonburi" panose="00000500000000000000" pitchFamily="2" charset="-34"/>
                <a:cs typeface="Chonburi" panose="00000500000000000000" pitchFamily="2" charset="-34"/>
              </a:rPr>
              <a:t>for </a:t>
            </a:r>
            <a:endParaRPr lang="en-US" sz="5400" dirty="0">
              <a:latin typeface="Chonburi" panose="00000500000000000000" pitchFamily="2" charset="-34"/>
              <a:cs typeface="Chonburi" panose="00000500000000000000" pitchFamily="2" charset="-34"/>
            </a:endParaRPr>
          </a:p>
          <a:p>
            <a:pPr>
              <a:defRPr sz="2800" b="1">
                <a:solidFill>
                  <a:srgbClr val="3F2C49"/>
                </a:solidFill>
              </a:defRPr>
            </a:pPr>
            <a:r>
              <a:rPr sz="5400" dirty="0">
                <a:latin typeface="Chonburi" panose="00000500000000000000" pitchFamily="2" charset="-34"/>
                <a:cs typeface="Chonburi" panose="00000500000000000000" pitchFamily="2" charset="-34"/>
              </a:rPr>
              <a:t>Web Elements</a:t>
            </a:r>
          </a:p>
        </p:txBody>
      </p:sp>
      <p:sp>
        <p:nvSpPr>
          <p:cNvPr id="5" name="TextBox 4"/>
          <p:cNvSpPr txBox="1"/>
          <p:nvPr/>
        </p:nvSpPr>
        <p:spPr>
          <a:xfrm>
            <a:off x="1392586" y="3828268"/>
            <a:ext cx="3527441" cy="707886"/>
          </a:xfrm>
          <a:prstGeom prst="rect">
            <a:avLst/>
          </a:prstGeom>
          <a:noFill/>
        </p:spPr>
        <p:txBody>
          <a:bodyPr wrap="none">
            <a:spAutoFit/>
          </a:bodyPr>
          <a:lstStyle/>
          <a:p>
            <a:pPr>
              <a:defRPr sz="1800">
                <a:solidFill>
                  <a:srgbClr val="3F2C49"/>
                </a:solidFill>
              </a:defRPr>
            </a:pPr>
            <a:r>
              <a:rPr sz="2000" dirty="0">
                <a:solidFill>
                  <a:schemeClr val="accent4">
                    <a:lumMod val="50000"/>
                  </a:schemeClr>
                </a:solidFill>
              </a:rPr>
              <a:t>Student No. 404</a:t>
            </a:r>
            <a:r>
              <a:rPr lang="en-US" sz="2000" dirty="0">
                <a:solidFill>
                  <a:schemeClr val="accent4">
                    <a:lumMod val="50000"/>
                  </a:schemeClr>
                </a:solidFill>
              </a:rPr>
              <a:t>86524</a:t>
            </a:r>
          </a:p>
          <a:p>
            <a:pPr>
              <a:defRPr sz="1800">
                <a:solidFill>
                  <a:srgbClr val="3F2C49"/>
                </a:solidFill>
              </a:defRPr>
            </a:pPr>
            <a:r>
              <a:rPr lang="en-US" sz="2000" dirty="0">
                <a:solidFill>
                  <a:schemeClr val="accent4">
                    <a:lumMod val="50000"/>
                  </a:schemeClr>
                </a:solidFill>
              </a:rPr>
              <a:t>Student Name: Hana Maria Tom</a:t>
            </a:r>
            <a:endParaRPr dirty="0">
              <a:solidFill>
                <a:schemeClr val="accent4">
                  <a:lumMod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85781"/>
            <a:ext cx="12188952" cy="6858000"/>
          </a:xfrm>
          <a:prstGeom prst="rect">
            <a:avLst/>
          </a:prstGeom>
          <a:solidFill>
            <a:srgbClr val="DBC6E9"/>
          </a:solidFill>
          <a:ln>
            <a:solidFill>
              <a:srgbClr val="DBC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br>
              <a:rPr lang="en-US"/>
            </a:br>
            <a:endParaRPr dirty="0"/>
          </a:p>
        </p:txBody>
      </p:sp>
      <p:sp>
        <p:nvSpPr>
          <p:cNvPr id="3" name="Rectangle 2"/>
          <p:cNvSpPr/>
          <p:nvPr/>
        </p:nvSpPr>
        <p:spPr>
          <a:xfrm>
            <a:off x="0" y="0"/>
            <a:ext cx="12188952" cy="548640"/>
          </a:xfrm>
          <a:prstGeom prst="rect">
            <a:avLst/>
          </a:prstGeom>
          <a:solidFill>
            <a:srgbClr val="3F2C49"/>
          </a:solidFill>
          <a:ln>
            <a:solidFill>
              <a:srgbClr val="3F2C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822960"/>
            <a:ext cx="6335389" cy="830997"/>
          </a:xfrm>
          <a:prstGeom prst="rect">
            <a:avLst/>
          </a:prstGeom>
          <a:noFill/>
        </p:spPr>
        <p:txBody>
          <a:bodyPr wrap="none">
            <a:spAutoFit/>
          </a:bodyPr>
          <a:lstStyle/>
          <a:p>
            <a:pPr>
              <a:defRPr sz="2800" b="1">
                <a:solidFill>
                  <a:srgbClr val="3F2C49"/>
                </a:solidFill>
              </a:defRPr>
            </a:pPr>
            <a:r>
              <a:rPr sz="4800" dirty="0">
                <a:latin typeface="Chonburi" panose="00000500000000000000" pitchFamily="2" charset="-34"/>
                <a:cs typeface="Chonburi" panose="00000500000000000000" pitchFamily="2" charset="-34"/>
              </a:rPr>
              <a:t>Table of Contents</a:t>
            </a:r>
          </a:p>
        </p:txBody>
      </p:sp>
      <p:sp>
        <p:nvSpPr>
          <p:cNvPr id="6" name="Arrow: Pentagon 5">
            <a:extLst>
              <a:ext uri="{FF2B5EF4-FFF2-40B4-BE49-F238E27FC236}">
                <a16:creationId xmlns:a16="http://schemas.microsoft.com/office/drawing/2014/main" id="{939E1770-12FD-88F3-EFB1-F077B5625FB6}"/>
              </a:ext>
            </a:extLst>
          </p:cNvPr>
          <p:cNvSpPr/>
          <p:nvPr/>
        </p:nvSpPr>
        <p:spPr>
          <a:xfrm>
            <a:off x="3087274" y="2614658"/>
            <a:ext cx="2818151" cy="1034321"/>
          </a:xfrm>
          <a:prstGeom prst="homePlate">
            <a:avLst/>
          </a:prstGeom>
          <a:solidFill>
            <a:schemeClr val="accent4">
              <a:lumMod val="50000"/>
            </a:schemeClr>
          </a:solidFill>
          <a:ln>
            <a:solidFill>
              <a:schemeClr val="accent4">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1"/>
                </a:solidFill>
                <a:latin typeface="Aharoni" panose="02010803020104030203" pitchFamily="2" charset="-79"/>
                <a:cs typeface="Aharoni" panose="02010803020104030203" pitchFamily="2" charset="-79"/>
                <a:hlinkClick r:id="rId2" action="ppaction://hlinksldjump">
                  <a:extLst>
                    <a:ext uri="{A12FA001-AC4F-418D-AE19-62706E023703}">
                      <ahyp:hlinkClr xmlns:ahyp="http://schemas.microsoft.com/office/drawing/2018/hyperlinkcolor" val="tx"/>
                    </a:ext>
                  </a:extLst>
                </a:hlinkClick>
              </a:rPr>
              <a:t>Introduction &amp; Contribution</a:t>
            </a:r>
            <a:endParaRPr lang="en-US" dirty="0">
              <a:solidFill>
                <a:schemeClr val="bg1"/>
              </a:solidFill>
              <a:latin typeface="Aharoni" panose="02010803020104030203" pitchFamily="2" charset="-79"/>
              <a:cs typeface="Aharoni" panose="02010803020104030203" pitchFamily="2" charset="-79"/>
            </a:endParaRPr>
          </a:p>
        </p:txBody>
      </p:sp>
      <p:sp>
        <p:nvSpPr>
          <p:cNvPr id="7" name="Arrow: Pentagon 6">
            <a:hlinkClick r:id="rId3" action="ppaction://hlinksldjump"/>
            <a:extLst>
              <a:ext uri="{FF2B5EF4-FFF2-40B4-BE49-F238E27FC236}">
                <a16:creationId xmlns:a16="http://schemas.microsoft.com/office/drawing/2014/main" id="{812FA48E-8CA0-0C2C-A7C5-A4E8AFCF99C6}"/>
              </a:ext>
            </a:extLst>
          </p:cNvPr>
          <p:cNvSpPr/>
          <p:nvPr/>
        </p:nvSpPr>
        <p:spPr>
          <a:xfrm rot="10800000" flipV="1">
            <a:off x="5657831" y="3297621"/>
            <a:ext cx="2818151" cy="1034321"/>
          </a:xfrm>
          <a:prstGeom prst="homePlate">
            <a:avLst/>
          </a:prstGeom>
          <a:solidFill>
            <a:schemeClr val="accent4">
              <a:lumMod val="50000"/>
            </a:schemeClr>
          </a:solidFill>
          <a:ln>
            <a:solidFill>
              <a:schemeClr val="accent4">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1"/>
                </a:solidFill>
                <a:latin typeface="Aharoni" panose="02010803020104030203" pitchFamily="2" charset="-79"/>
                <a:cs typeface="Aharoni" panose="02010803020104030203" pitchFamily="2" charset="-79"/>
                <a:hlinkClick r:id="rId3" action="ppaction://hlinksldjump">
                  <a:extLst>
                    <a:ext uri="{A12FA001-AC4F-418D-AE19-62706E023703}">
                      <ahyp:hlinkClr xmlns:ahyp="http://schemas.microsoft.com/office/drawing/2018/hyperlinkcolor" val="tx"/>
                    </a:ext>
                  </a:extLst>
                </a:hlinkClick>
              </a:rPr>
              <a:t>Website Structure</a:t>
            </a:r>
            <a:endParaRPr lang="en-US" dirty="0">
              <a:solidFill>
                <a:schemeClr val="bg1"/>
              </a:solidFill>
              <a:latin typeface="Aharoni" panose="02010803020104030203" pitchFamily="2" charset="-79"/>
              <a:cs typeface="Aharoni" panose="02010803020104030203" pitchFamily="2" charset="-79"/>
            </a:endParaRPr>
          </a:p>
        </p:txBody>
      </p:sp>
      <p:sp>
        <p:nvSpPr>
          <p:cNvPr id="8" name="Arrow: Pentagon 7">
            <a:extLst>
              <a:ext uri="{FF2B5EF4-FFF2-40B4-BE49-F238E27FC236}">
                <a16:creationId xmlns:a16="http://schemas.microsoft.com/office/drawing/2014/main" id="{2A796C69-0F3B-43CB-0897-B61F71EF19A5}"/>
              </a:ext>
            </a:extLst>
          </p:cNvPr>
          <p:cNvSpPr/>
          <p:nvPr/>
        </p:nvSpPr>
        <p:spPr>
          <a:xfrm>
            <a:off x="3078570" y="3973684"/>
            <a:ext cx="2818151" cy="1034321"/>
          </a:xfrm>
          <a:prstGeom prst="homePlate">
            <a:avLst/>
          </a:prstGeom>
          <a:solidFill>
            <a:schemeClr val="accent4">
              <a:lumMod val="50000"/>
            </a:schemeClr>
          </a:solidFill>
          <a:ln>
            <a:solidFill>
              <a:schemeClr val="accent4">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1"/>
                </a:solidFill>
                <a:latin typeface="Aharoni" panose="02010803020104030203" pitchFamily="2" charset="-79"/>
                <a:cs typeface="Aharoni" panose="02010803020104030203" pitchFamily="2" charset="-79"/>
                <a:hlinkClick r:id="rId4" action="ppaction://hlinksldjump">
                  <a:extLst>
                    <a:ext uri="{A12FA001-AC4F-418D-AE19-62706E023703}">
                      <ahyp:hlinkClr xmlns:ahyp="http://schemas.microsoft.com/office/drawing/2018/hyperlinkcolor" val="tx"/>
                    </a:ext>
                  </a:extLst>
                </a:hlinkClick>
              </a:rPr>
              <a:t>CRUD Functionality</a:t>
            </a:r>
            <a:endParaRPr lang="en-US" dirty="0">
              <a:solidFill>
                <a:schemeClr val="bg1"/>
              </a:solidFill>
              <a:latin typeface="Aharoni" panose="02010803020104030203" pitchFamily="2" charset="-79"/>
              <a:cs typeface="Aharoni" panose="02010803020104030203" pitchFamily="2" charset="-79"/>
            </a:endParaRPr>
          </a:p>
        </p:txBody>
      </p:sp>
      <p:sp>
        <p:nvSpPr>
          <p:cNvPr id="10" name="Arrow: Pentagon 9">
            <a:extLst>
              <a:ext uri="{FF2B5EF4-FFF2-40B4-BE49-F238E27FC236}">
                <a16:creationId xmlns:a16="http://schemas.microsoft.com/office/drawing/2014/main" id="{BD615BC8-4BF4-EB58-A748-187C07AB7A11}"/>
              </a:ext>
            </a:extLst>
          </p:cNvPr>
          <p:cNvSpPr/>
          <p:nvPr/>
        </p:nvSpPr>
        <p:spPr>
          <a:xfrm rot="10800000" flipV="1">
            <a:off x="5657833" y="4581342"/>
            <a:ext cx="2818151" cy="1034321"/>
          </a:xfrm>
          <a:prstGeom prst="homePlate">
            <a:avLst/>
          </a:prstGeom>
          <a:solidFill>
            <a:schemeClr val="accent4">
              <a:lumMod val="50000"/>
            </a:schemeClr>
          </a:solidFill>
          <a:ln>
            <a:solidFill>
              <a:schemeClr val="accent4">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1"/>
                </a:solidFill>
                <a:latin typeface="Aharoni" panose="02010803020104030203" pitchFamily="2" charset="-79"/>
                <a:cs typeface="Aharoni" panose="02010803020104030203" pitchFamily="2" charset="-79"/>
                <a:hlinkClick r:id="rId5" action="ppaction://hlinksldjump">
                  <a:extLst>
                    <a:ext uri="{A12FA001-AC4F-418D-AE19-62706E023703}">
                      <ahyp:hlinkClr xmlns:ahyp="http://schemas.microsoft.com/office/drawing/2018/hyperlinkcolor" val="tx"/>
                    </a:ext>
                  </a:extLst>
                </a:hlinkClick>
              </a:rPr>
              <a:t>Reporting &amp; Visulisation</a:t>
            </a:r>
            <a:endParaRPr lang="en-US" dirty="0">
              <a:solidFill>
                <a:schemeClr val="bg1"/>
              </a:solidFill>
              <a:latin typeface="Aharoni" panose="02010803020104030203" pitchFamily="2" charset="-79"/>
              <a:cs typeface="Aharoni" panose="02010803020104030203" pitchFamily="2" charset="-79"/>
            </a:endParaRPr>
          </a:p>
        </p:txBody>
      </p:sp>
      <p:sp>
        <p:nvSpPr>
          <p:cNvPr id="12" name="Rectangle 11">
            <a:extLst>
              <a:ext uri="{FF2B5EF4-FFF2-40B4-BE49-F238E27FC236}">
                <a16:creationId xmlns:a16="http://schemas.microsoft.com/office/drawing/2014/main" id="{C4D029F8-E9E2-2381-6E76-918A8E3B3CE7}"/>
              </a:ext>
            </a:extLst>
          </p:cNvPr>
          <p:cNvSpPr/>
          <p:nvPr/>
        </p:nvSpPr>
        <p:spPr>
          <a:xfrm>
            <a:off x="2529094" y="1801089"/>
            <a:ext cx="184730" cy="923330"/>
          </a:xfrm>
          <a:prstGeom prst="rect">
            <a:avLst/>
          </a:prstGeom>
          <a:noFill/>
        </p:spPr>
        <p:txBody>
          <a:bodyPr wrap="none" lIns="91440" tIns="45720" rIns="91440" bIns="45720">
            <a:spAutoFit/>
          </a:bodyPr>
          <a:lstStyle/>
          <a:p>
            <a:pPr algn="ct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13" name="TextBox 12">
            <a:extLst>
              <a:ext uri="{FF2B5EF4-FFF2-40B4-BE49-F238E27FC236}">
                <a16:creationId xmlns:a16="http://schemas.microsoft.com/office/drawing/2014/main" id="{8B4FC64D-BC2A-5207-3CD3-CF114E78755E}"/>
              </a:ext>
            </a:extLst>
          </p:cNvPr>
          <p:cNvSpPr txBox="1"/>
          <p:nvPr/>
        </p:nvSpPr>
        <p:spPr>
          <a:xfrm>
            <a:off x="2252069" y="2261872"/>
            <a:ext cx="835205" cy="1600438"/>
          </a:xfrm>
          <a:prstGeom prst="rect">
            <a:avLst/>
          </a:prstGeom>
          <a:noFill/>
        </p:spPr>
        <p:txBody>
          <a:bodyPr wrap="square" rtlCol="0">
            <a:spAutoFit/>
          </a:bodyPr>
          <a:lstStyle/>
          <a:p>
            <a:br>
              <a:rPr lang="en-US" dirty="0"/>
            </a:br>
            <a:r>
              <a:rPr lang="en-US" sz="8000" dirty="0">
                <a:solidFill>
                  <a:schemeClr val="tx1">
                    <a:lumMod val="95000"/>
                    <a:lumOff val="5000"/>
                  </a:schemeClr>
                </a:solidFill>
              </a:rPr>
              <a:t>𝟙</a:t>
            </a:r>
            <a:endParaRPr lang="en-US" dirty="0"/>
          </a:p>
        </p:txBody>
      </p:sp>
      <p:sp>
        <p:nvSpPr>
          <p:cNvPr id="14" name="TextBox 13">
            <a:extLst>
              <a:ext uri="{FF2B5EF4-FFF2-40B4-BE49-F238E27FC236}">
                <a16:creationId xmlns:a16="http://schemas.microsoft.com/office/drawing/2014/main" id="{BE1F6415-1B1C-A708-0B0E-DBF6505B9C7F}"/>
              </a:ext>
            </a:extLst>
          </p:cNvPr>
          <p:cNvSpPr txBox="1"/>
          <p:nvPr/>
        </p:nvSpPr>
        <p:spPr>
          <a:xfrm>
            <a:off x="8599952" y="2890406"/>
            <a:ext cx="835205" cy="1600438"/>
          </a:xfrm>
          <a:prstGeom prst="rect">
            <a:avLst/>
          </a:prstGeom>
          <a:noFill/>
        </p:spPr>
        <p:txBody>
          <a:bodyPr wrap="square" rtlCol="0">
            <a:spAutoFit/>
          </a:bodyPr>
          <a:lstStyle/>
          <a:p>
            <a:br>
              <a:rPr lang="en-US" dirty="0"/>
            </a:br>
            <a:r>
              <a:rPr lang="en-US" sz="8000" dirty="0"/>
              <a:t>𝟚</a:t>
            </a:r>
            <a:endParaRPr lang="en-US" dirty="0"/>
          </a:p>
        </p:txBody>
      </p:sp>
      <p:sp>
        <p:nvSpPr>
          <p:cNvPr id="15" name="TextBox 14">
            <a:extLst>
              <a:ext uri="{FF2B5EF4-FFF2-40B4-BE49-F238E27FC236}">
                <a16:creationId xmlns:a16="http://schemas.microsoft.com/office/drawing/2014/main" id="{E15A0458-FA0C-6D17-D26E-626A9360CEAD}"/>
              </a:ext>
            </a:extLst>
          </p:cNvPr>
          <p:cNvSpPr txBox="1"/>
          <p:nvPr/>
        </p:nvSpPr>
        <p:spPr>
          <a:xfrm>
            <a:off x="2273405" y="3484366"/>
            <a:ext cx="835205" cy="1600438"/>
          </a:xfrm>
          <a:prstGeom prst="rect">
            <a:avLst/>
          </a:prstGeom>
          <a:noFill/>
        </p:spPr>
        <p:txBody>
          <a:bodyPr wrap="square" rtlCol="0">
            <a:spAutoFit/>
          </a:bodyPr>
          <a:lstStyle/>
          <a:p>
            <a:br>
              <a:rPr lang="en-US" dirty="0"/>
            </a:br>
            <a:r>
              <a:rPr lang="en-US" sz="8000" dirty="0"/>
              <a:t>𝟛</a:t>
            </a:r>
            <a:endParaRPr lang="en-US" dirty="0"/>
          </a:p>
        </p:txBody>
      </p:sp>
      <p:sp>
        <p:nvSpPr>
          <p:cNvPr id="17" name="TextBox 16">
            <a:extLst>
              <a:ext uri="{FF2B5EF4-FFF2-40B4-BE49-F238E27FC236}">
                <a16:creationId xmlns:a16="http://schemas.microsoft.com/office/drawing/2014/main" id="{F8F4D4A3-28CF-DAF3-A92A-114E3C7221D5}"/>
              </a:ext>
            </a:extLst>
          </p:cNvPr>
          <p:cNvSpPr txBox="1"/>
          <p:nvPr/>
        </p:nvSpPr>
        <p:spPr>
          <a:xfrm>
            <a:off x="8599954" y="4207786"/>
            <a:ext cx="835205" cy="1600438"/>
          </a:xfrm>
          <a:prstGeom prst="rect">
            <a:avLst/>
          </a:prstGeom>
          <a:noFill/>
        </p:spPr>
        <p:txBody>
          <a:bodyPr wrap="square" rtlCol="0">
            <a:spAutoFit/>
          </a:bodyPr>
          <a:lstStyle/>
          <a:p>
            <a:br>
              <a:rPr lang="en-US" dirty="0"/>
            </a:br>
            <a:r>
              <a:rPr lang="en-US" sz="8000" dirty="0"/>
              <a:t>𝟜</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DBC6E9"/>
          </a:solidFill>
          <a:ln>
            <a:solidFill>
              <a:srgbClr val="DBC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12188952" cy="548640"/>
          </a:xfrm>
          <a:prstGeom prst="rect">
            <a:avLst/>
          </a:prstGeom>
          <a:solidFill>
            <a:srgbClr val="3F2C49"/>
          </a:solidFill>
          <a:ln>
            <a:solidFill>
              <a:srgbClr val="3F2C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822960"/>
            <a:ext cx="9246442" cy="769441"/>
          </a:xfrm>
          <a:prstGeom prst="rect">
            <a:avLst/>
          </a:prstGeom>
          <a:noFill/>
        </p:spPr>
        <p:txBody>
          <a:bodyPr wrap="none">
            <a:spAutoFit/>
          </a:bodyPr>
          <a:lstStyle/>
          <a:p>
            <a:pPr>
              <a:defRPr sz="2800" b="1">
                <a:solidFill>
                  <a:srgbClr val="3F2C49"/>
                </a:solidFill>
              </a:defRPr>
            </a:pPr>
            <a:r>
              <a:rPr sz="4400" dirty="0">
                <a:latin typeface="Chonburi" panose="00000500000000000000" pitchFamily="2" charset="-34"/>
                <a:cs typeface="Chonburi" panose="00000500000000000000" pitchFamily="2" charset="-34"/>
              </a:rPr>
              <a:t>Introduction &amp; Contribution</a:t>
            </a:r>
          </a:p>
        </p:txBody>
      </p:sp>
      <p:sp>
        <p:nvSpPr>
          <p:cNvPr id="5" name="TextBox 4"/>
          <p:cNvSpPr txBox="1"/>
          <p:nvPr/>
        </p:nvSpPr>
        <p:spPr>
          <a:xfrm>
            <a:off x="822961" y="1588065"/>
            <a:ext cx="8244839" cy="923330"/>
          </a:xfrm>
          <a:prstGeom prst="rect">
            <a:avLst/>
          </a:prstGeom>
          <a:noFill/>
        </p:spPr>
        <p:txBody>
          <a:bodyPr wrap="square">
            <a:spAutoFit/>
          </a:bodyPr>
          <a:lstStyle/>
          <a:p>
            <a:pPr>
              <a:defRPr sz="1800">
                <a:solidFill>
                  <a:srgbClr val="3F2C49"/>
                </a:solidFill>
              </a:defRPr>
            </a:pPr>
            <a:r>
              <a:rPr lang="en-GB" dirty="0"/>
              <a:t>I contributed to the design and development of the web interface for our database system, focusing on both functionality and presentation. My work supported the overall usability, data integrity, and reporting capabilities of the application.</a:t>
            </a:r>
            <a:endParaRPr dirty="0"/>
          </a:p>
        </p:txBody>
      </p:sp>
      <p:sp>
        <p:nvSpPr>
          <p:cNvPr id="7" name="Rectangle 1">
            <a:extLst>
              <a:ext uri="{FF2B5EF4-FFF2-40B4-BE49-F238E27FC236}">
                <a16:creationId xmlns:a16="http://schemas.microsoft.com/office/drawing/2014/main" id="{02133EC2-8FBB-EB98-278E-5BCF438F48B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9848ACEE-1E9E-59E4-9E50-76937F1517E9}"/>
              </a:ext>
            </a:extLst>
          </p:cNvPr>
          <p:cNvSpPr>
            <a:spLocks noChangeArrowheads="1"/>
          </p:cNvSpPr>
          <p:nvPr/>
        </p:nvSpPr>
        <p:spPr bwMode="auto">
          <a:xfrm>
            <a:off x="822961" y="2230059"/>
            <a:ext cx="6094874"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4">
                    <a:lumMod val="50000"/>
                  </a:schemeClr>
                </a:solidFill>
                <a:effectLst/>
              </a:rPr>
              <a:t>Implementation of CRUD functionality (Create, Read, Update, Delete)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4">
                    <a:lumMod val="50000"/>
                  </a:schemeClr>
                </a:solidFill>
                <a:effectLst/>
              </a:rPr>
              <a:t>Development of individual SQL reports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4">
                    <a:lumMod val="50000"/>
                  </a:schemeClr>
                </a:solidFill>
                <a:effectLst/>
              </a:rPr>
              <a:t>Client-side validation for form inputs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4">
                    <a:lumMod val="50000"/>
                  </a:schemeClr>
                </a:solidFill>
                <a:effectLst/>
              </a:rPr>
              <a:t>User feedback and confirmation messages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4">
                    <a:lumMod val="50000"/>
                  </a:schemeClr>
                </a:solidFill>
                <a:effectLst/>
              </a:rPr>
              <a:t>Dynamic data retrieval from the database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4">
                    <a:lumMod val="50000"/>
                  </a:schemeClr>
                </a:solidFill>
                <a:effectLst/>
              </a:rPr>
              <a:t>Support for reporting and visualisation features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600" dirty="0">
                <a:solidFill>
                  <a:schemeClr val="accent4">
                    <a:lumMod val="50000"/>
                  </a:schemeClr>
                </a:solidFill>
              </a:rPr>
              <a:t>CSS and page layout</a:t>
            </a:r>
            <a:endParaRPr kumimoji="0" lang="en-US" altLang="en-US" sz="1600" b="0" i="0" u="none" strike="noStrike" cap="none" normalizeH="0" baseline="0" dirty="0">
              <a:ln>
                <a:noFill/>
              </a:ln>
              <a:solidFill>
                <a:schemeClr val="accent4">
                  <a:lumMod val="50000"/>
                </a:schemeClr>
              </a:solidFill>
              <a:effectLst/>
            </a:endParaRPr>
          </a:p>
        </p:txBody>
      </p:sp>
      <p:pic>
        <p:nvPicPr>
          <p:cNvPr id="10" name="Picture 9">
            <a:extLst>
              <a:ext uri="{FF2B5EF4-FFF2-40B4-BE49-F238E27FC236}">
                <a16:creationId xmlns:a16="http://schemas.microsoft.com/office/drawing/2014/main" id="{C32D1715-0936-4372-B2AD-D2667F19D9C0}"/>
              </a:ext>
            </a:extLst>
          </p:cNvPr>
          <p:cNvPicPr>
            <a:picLocks noChangeAspect="1"/>
          </p:cNvPicPr>
          <p:nvPr/>
        </p:nvPicPr>
        <p:blipFill>
          <a:blip r:embed="rId2"/>
          <a:srcRect r="2852"/>
          <a:stretch>
            <a:fillRect/>
          </a:stretch>
        </p:blipFill>
        <p:spPr>
          <a:xfrm>
            <a:off x="5354741" y="3365258"/>
            <a:ext cx="5882002" cy="2807773"/>
          </a:xfrm>
          <a:prstGeom prst="rect">
            <a:avLst/>
          </a:prstGeom>
        </p:spPr>
      </p:pic>
      <p:pic>
        <p:nvPicPr>
          <p:cNvPr id="12" name="Picture 11">
            <a:extLst>
              <a:ext uri="{FF2B5EF4-FFF2-40B4-BE49-F238E27FC236}">
                <a16:creationId xmlns:a16="http://schemas.microsoft.com/office/drawing/2014/main" id="{F2ADC993-4F69-791A-37A1-1D75806FDE57}"/>
              </a:ext>
            </a:extLst>
          </p:cNvPr>
          <p:cNvPicPr>
            <a:picLocks noChangeAspect="1"/>
          </p:cNvPicPr>
          <p:nvPr/>
        </p:nvPicPr>
        <p:blipFill>
          <a:blip r:embed="rId3"/>
          <a:stretch>
            <a:fillRect/>
          </a:stretch>
        </p:blipFill>
        <p:spPr>
          <a:xfrm>
            <a:off x="499321" y="4420501"/>
            <a:ext cx="4356100" cy="2029179"/>
          </a:xfrm>
          <a:prstGeom prst="rect">
            <a:avLst/>
          </a:prstGeom>
        </p:spPr>
      </p:pic>
      <p:pic>
        <p:nvPicPr>
          <p:cNvPr id="14" name="Picture 13">
            <a:extLst>
              <a:ext uri="{FF2B5EF4-FFF2-40B4-BE49-F238E27FC236}">
                <a16:creationId xmlns:a16="http://schemas.microsoft.com/office/drawing/2014/main" id="{534DF4DE-E342-8A22-A251-2F28A182DD11}"/>
              </a:ext>
            </a:extLst>
          </p:cNvPr>
          <p:cNvPicPr>
            <a:picLocks noChangeAspect="1"/>
          </p:cNvPicPr>
          <p:nvPr/>
        </p:nvPicPr>
        <p:blipFill>
          <a:blip r:embed="rId4"/>
          <a:stretch>
            <a:fillRect/>
          </a:stretch>
        </p:blipFill>
        <p:spPr>
          <a:xfrm>
            <a:off x="8295742" y="2238432"/>
            <a:ext cx="3719665" cy="97659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DBC6E9"/>
          </a:solidFill>
          <a:ln>
            <a:solidFill>
              <a:srgbClr val="DBC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548640"/>
          </a:xfrm>
          <a:prstGeom prst="rect">
            <a:avLst/>
          </a:prstGeom>
          <a:solidFill>
            <a:srgbClr val="3F2C49"/>
          </a:solidFill>
          <a:ln>
            <a:solidFill>
              <a:srgbClr val="3F2C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822960"/>
            <a:ext cx="6006773" cy="769441"/>
          </a:xfrm>
          <a:prstGeom prst="rect">
            <a:avLst/>
          </a:prstGeom>
          <a:noFill/>
        </p:spPr>
        <p:txBody>
          <a:bodyPr wrap="none">
            <a:spAutoFit/>
          </a:bodyPr>
          <a:lstStyle/>
          <a:p>
            <a:pPr>
              <a:defRPr sz="2800" b="1">
                <a:solidFill>
                  <a:srgbClr val="3F2C49"/>
                </a:solidFill>
              </a:defRPr>
            </a:pPr>
            <a:r>
              <a:rPr sz="4400" dirty="0">
                <a:latin typeface="Chonburi" panose="00000500000000000000" pitchFamily="2" charset="-34"/>
                <a:cs typeface="Chonburi" panose="00000500000000000000" pitchFamily="2" charset="-34"/>
              </a:rPr>
              <a:t>Website Structure</a:t>
            </a:r>
          </a:p>
        </p:txBody>
      </p:sp>
      <p:sp>
        <p:nvSpPr>
          <p:cNvPr id="5" name="TextBox 4"/>
          <p:cNvSpPr txBox="1"/>
          <p:nvPr/>
        </p:nvSpPr>
        <p:spPr>
          <a:xfrm>
            <a:off x="731521" y="1592401"/>
            <a:ext cx="8653780" cy="923330"/>
          </a:xfrm>
          <a:prstGeom prst="rect">
            <a:avLst/>
          </a:prstGeom>
          <a:noFill/>
        </p:spPr>
        <p:txBody>
          <a:bodyPr wrap="square">
            <a:spAutoFit/>
          </a:bodyPr>
          <a:lstStyle/>
          <a:p>
            <a:pPr>
              <a:defRPr sz="1800">
                <a:solidFill>
                  <a:srgbClr val="3F2C49"/>
                </a:solidFill>
              </a:defRPr>
            </a:pPr>
            <a:r>
              <a:rPr lang="en-GB" dirty="0"/>
              <a:t>The website is organised into separate HTML, CSS, and JavaScript files to support CRUD functionality, reporting, and user interaction across the system.</a:t>
            </a:r>
          </a:p>
          <a:p>
            <a:pPr>
              <a:defRPr sz="1800">
                <a:solidFill>
                  <a:srgbClr val="3F2C49"/>
                </a:solidFill>
              </a:defRPr>
            </a:pPr>
            <a:endParaRPr dirty="0"/>
          </a:p>
        </p:txBody>
      </p:sp>
      <p:sp>
        <p:nvSpPr>
          <p:cNvPr id="11" name="TextBox 10">
            <a:extLst>
              <a:ext uri="{FF2B5EF4-FFF2-40B4-BE49-F238E27FC236}">
                <a16:creationId xmlns:a16="http://schemas.microsoft.com/office/drawing/2014/main" id="{397DF99F-ED1A-493E-CA46-FE6B512F69B5}"/>
              </a:ext>
            </a:extLst>
          </p:cNvPr>
          <p:cNvSpPr txBox="1"/>
          <p:nvPr/>
        </p:nvSpPr>
        <p:spPr>
          <a:xfrm>
            <a:off x="522514" y="2290964"/>
            <a:ext cx="2569029" cy="4616648"/>
          </a:xfrm>
          <a:prstGeom prst="rect">
            <a:avLst/>
          </a:prstGeom>
          <a:noFill/>
        </p:spPr>
        <p:txBody>
          <a:bodyPr wrap="square" rtlCol="0">
            <a:spAutoFit/>
          </a:bodyPr>
          <a:lstStyle/>
          <a:p>
            <a:r>
              <a:rPr lang="en-US" sz="1200" dirty="0">
                <a:latin typeface="Sanskrit Text" panose="020B0502040204020203" pitchFamily="18" charset="0"/>
                <a:cs typeface="Sanskrit Text" panose="020B0502040204020203" pitchFamily="18" charset="0"/>
              </a:rPr>
              <a:t>WEB APP/</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AddHTML/</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addClass.html</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addCoach.html</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addCoachCentre.html</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addMeasurement.html</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addMember.html</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addReservation.html</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CSS/</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emmaData.css</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hanaData.css</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markData.css</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style.css</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DataHTML/</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EmmaData.html</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Faol</a:t>
            </a:r>
            <a:r>
              <a:rPr lang="en-US" sz="1200" dirty="0">
                <a:latin typeface="Sanskrit Text" panose="02020503050405020304" pitchFamily="18" charset="0"/>
                <a:cs typeface="Sanskrit Text" panose="02020503050405020304" pitchFamily="18" charset="0"/>
              </a:rPr>
              <a:t>á</a:t>
            </a:r>
            <a:r>
              <a:rPr lang="en-US" sz="1200" dirty="0">
                <a:latin typeface="Sanskrit Text" panose="020B0502040204020203" pitchFamily="18" charset="0"/>
                <a:cs typeface="Sanskrit Text" panose="020B0502040204020203" pitchFamily="18" charset="0"/>
              </a:rPr>
              <a:t>nData.html</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HanaData.html</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MaddyData.html</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MarkData.html</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a:t>
            </a:r>
            <a:br>
              <a:rPr lang="en-US" sz="1200" dirty="0">
                <a:latin typeface="Sanskrit Text" panose="020B0502040204020203" pitchFamily="18" charset="0"/>
                <a:cs typeface="Sanskrit Text" panose="020B0502040204020203" pitchFamily="18" charset="0"/>
              </a:rPr>
            </a:br>
            <a:endParaRPr lang="en-US" sz="1200" dirty="0">
              <a:latin typeface="Sanskrit Text" panose="020B0502040204020203" pitchFamily="18" charset="0"/>
              <a:cs typeface="Sanskrit Text" panose="020B0502040204020203" pitchFamily="18" charset="0"/>
            </a:endParaRPr>
          </a:p>
        </p:txBody>
      </p:sp>
      <p:sp>
        <p:nvSpPr>
          <p:cNvPr id="13" name="TextBox 12">
            <a:extLst>
              <a:ext uri="{FF2B5EF4-FFF2-40B4-BE49-F238E27FC236}">
                <a16:creationId xmlns:a16="http://schemas.microsoft.com/office/drawing/2014/main" id="{EF51B73E-FFC0-AC9D-D894-085D13919F07}"/>
              </a:ext>
            </a:extLst>
          </p:cNvPr>
          <p:cNvSpPr txBox="1"/>
          <p:nvPr/>
        </p:nvSpPr>
        <p:spPr>
          <a:xfrm>
            <a:off x="3323771" y="2515731"/>
            <a:ext cx="2770641" cy="4339650"/>
          </a:xfrm>
          <a:prstGeom prst="rect">
            <a:avLst/>
          </a:prstGeom>
          <a:noFill/>
        </p:spPr>
        <p:txBody>
          <a:bodyPr wrap="square" rtlCol="0">
            <a:spAutoFit/>
          </a:bodyPr>
          <a:lstStyle/>
          <a:p>
            <a:r>
              <a:rPr lang="en-US" sz="1200" dirty="0">
                <a:latin typeface="Sanskrit Text" panose="020B0502040204020203" pitchFamily="18" charset="0"/>
                <a:cs typeface="Sanskrit Text" panose="020B0502040204020203" pitchFamily="18" charset="0"/>
              </a:rPr>
              <a:t>├── EditHTML/</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editCentre.html</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editClass.html</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editCoach.html</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editCoachCentre.html</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editMeasurement.html</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editMember.html</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editReservation.html</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HTML/</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class.html</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coach.html</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coachCentre.html</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crud.html</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index.html</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measurement.html</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member.html</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reports.html</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reservation.html</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Images/</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a:t>
            </a:r>
            <a:br>
              <a:rPr lang="en-US" sz="1200" dirty="0">
                <a:latin typeface="Sanskrit Text" panose="020B0502040204020203" pitchFamily="18" charset="0"/>
                <a:cs typeface="Sanskrit Text" panose="020B0502040204020203" pitchFamily="18" charset="0"/>
              </a:rPr>
            </a:br>
            <a:endParaRPr lang="en-US" sz="1200" dirty="0"/>
          </a:p>
        </p:txBody>
      </p:sp>
      <p:sp>
        <p:nvSpPr>
          <p:cNvPr id="14" name="TextBox 13">
            <a:extLst>
              <a:ext uri="{FF2B5EF4-FFF2-40B4-BE49-F238E27FC236}">
                <a16:creationId xmlns:a16="http://schemas.microsoft.com/office/drawing/2014/main" id="{9BA3E686-F6D6-EDD8-F5D6-4AF4938305B9}"/>
              </a:ext>
            </a:extLst>
          </p:cNvPr>
          <p:cNvSpPr txBox="1"/>
          <p:nvPr/>
        </p:nvSpPr>
        <p:spPr>
          <a:xfrm>
            <a:off x="6313714" y="2515731"/>
            <a:ext cx="3280594" cy="4339650"/>
          </a:xfrm>
          <a:prstGeom prst="rect">
            <a:avLst/>
          </a:prstGeom>
          <a:noFill/>
        </p:spPr>
        <p:txBody>
          <a:bodyPr wrap="square" rtlCol="0">
            <a:spAutoFit/>
          </a:bodyPr>
          <a:lstStyle/>
          <a:p>
            <a:r>
              <a:rPr lang="en-US" sz="1200" dirty="0">
                <a:latin typeface="Sanskrit Text" panose="020B0502040204020203" pitchFamily="18" charset="0"/>
                <a:cs typeface="Sanskrit Text" panose="020B0502040204020203" pitchFamily="18" charset="0"/>
              </a:rPr>
              <a:t>├── JS/</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AddJS/</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 addClassScript.js</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 addCoach.js</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 addCoachCentre.js</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 addMeasurementScript.js</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 addMemberScript.js</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DefaultJS/</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 indexScript.js</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 measurementScript.js</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 memberScript.js</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 classScript.js</a:t>
            </a:r>
          </a:p>
          <a:p>
            <a:r>
              <a:rPr lang="en-US" sz="1200" dirty="0">
                <a:latin typeface="Sanskrit Text" panose="020B0502040204020203" pitchFamily="18" charset="0"/>
                <a:cs typeface="Sanskrit Text" panose="020B0502040204020203" pitchFamily="18" charset="0"/>
              </a:rPr>
              <a:t>│ │ ├── coachScript.js</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 coachCentreScript.js</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 reservationScript.js</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EditJS/</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 editCentreScript.js</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 editClassScript.js</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 editCoachCentreScript.js</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 editCoachScript.js</a:t>
            </a:r>
            <a:br>
              <a:rPr lang="en-US" sz="1200" dirty="0">
                <a:latin typeface="Sanskrit Text" panose="020B0502040204020203" pitchFamily="18" charset="0"/>
                <a:cs typeface="Sanskrit Text" panose="020B0502040204020203" pitchFamily="18" charset="0"/>
              </a:rPr>
            </a:br>
            <a:endParaRPr lang="en-US" sz="1200" dirty="0"/>
          </a:p>
        </p:txBody>
      </p:sp>
      <p:sp>
        <p:nvSpPr>
          <p:cNvPr id="15" name="TextBox 14">
            <a:extLst>
              <a:ext uri="{FF2B5EF4-FFF2-40B4-BE49-F238E27FC236}">
                <a16:creationId xmlns:a16="http://schemas.microsoft.com/office/drawing/2014/main" id="{C9935A43-A4B7-398E-84FB-EFA014EAA278}"/>
              </a:ext>
            </a:extLst>
          </p:cNvPr>
          <p:cNvSpPr txBox="1"/>
          <p:nvPr/>
        </p:nvSpPr>
        <p:spPr>
          <a:xfrm>
            <a:off x="9129486" y="2515731"/>
            <a:ext cx="3059465" cy="2492990"/>
          </a:xfrm>
          <a:prstGeom prst="rect">
            <a:avLst/>
          </a:prstGeom>
          <a:noFill/>
        </p:spPr>
        <p:txBody>
          <a:bodyPr wrap="square" rtlCol="0">
            <a:spAutoFit/>
          </a:bodyPr>
          <a:lstStyle/>
          <a:p>
            <a:r>
              <a:rPr lang="en-US" sz="1200" dirty="0">
                <a:latin typeface="Sanskrit Text" panose="020B0502040204020203" pitchFamily="18" charset="0"/>
                <a:cs typeface="Sanskrit Text" panose="020B0502040204020203" pitchFamily="18" charset="0"/>
              </a:rPr>
              <a:t>││ │ ├── editMeasurementScript.js</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 editMemberScript.js</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 editReservationScript.js</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a:t>
            </a:r>
            <a:br>
              <a:rPr lang="en-US" sz="1200" dirty="0">
                <a:latin typeface="Sanskrit Text" panose="020B0502040204020203" pitchFamily="18" charset="0"/>
                <a:cs typeface="Sanskrit Text" panose="020B0502040204020203" pitchFamily="18" charset="0"/>
              </a:rPr>
            </a:br>
            <a:endParaRPr lang="en-US" sz="1200" dirty="0">
              <a:latin typeface="Sanskrit Text" panose="020B0502040204020203" pitchFamily="18" charset="0"/>
              <a:cs typeface="Sanskrit Text" panose="020B0502040204020203" pitchFamily="18" charset="0"/>
            </a:endParaRPr>
          </a:p>
          <a:p>
            <a:r>
              <a:rPr lang="en-US" sz="1200" dirty="0">
                <a:latin typeface="Sanskrit Text" panose="020B0502040204020203" pitchFamily="18" charset="0"/>
                <a:cs typeface="Sanskrit Text" panose="020B0502040204020203" pitchFamily="18" charset="0"/>
              </a:rPr>
              <a:t> └── Reports/</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emmaFilter.js</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emmaReport.js</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Faol</a:t>
            </a:r>
            <a:r>
              <a:rPr lang="en-US" sz="1200" dirty="0">
                <a:latin typeface="Sanskrit Text" panose="02020503050405020304" pitchFamily="18" charset="0"/>
                <a:cs typeface="Sanskrit Text" panose="02020503050405020304" pitchFamily="18" charset="0"/>
              </a:rPr>
              <a:t>á</a:t>
            </a:r>
            <a:r>
              <a:rPr lang="en-US" sz="1200" dirty="0">
                <a:latin typeface="Sanskrit Text" panose="020B0502040204020203" pitchFamily="18" charset="0"/>
                <a:cs typeface="Sanskrit Text" panose="020B0502040204020203" pitchFamily="18" charset="0"/>
              </a:rPr>
              <a:t>nReport1.js</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filter.js</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hanaReport.js</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maddyReport.js</a:t>
            </a:r>
            <a:br>
              <a:rPr lang="en-US" sz="1200" dirty="0">
                <a:latin typeface="Sanskrit Text" panose="020B0502040204020203" pitchFamily="18" charset="0"/>
                <a:cs typeface="Sanskrit Text" panose="020B0502040204020203" pitchFamily="18" charset="0"/>
              </a:rPr>
            </a:br>
            <a:r>
              <a:rPr lang="en-US" sz="1200" dirty="0">
                <a:latin typeface="Sanskrit Text" panose="020B0502040204020203" pitchFamily="18" charset="0"/>
                <a:cs typeface="Sanskrit Text" panose="020B0502040204020203" pitchFamily="18" charset="0"/>
              </a:rPr>
              <a:t>│ └── MarkReport.js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DBC6E9"/>
          </a:solidFill>
          <a:ln>
            <a:solidFill>
              <a:srgbClr val="DBC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548640"/>
          </a:xfrm>
          <a:prstGeom prst="rect">
            <a:avLst/>
          </a:prstGeom>
          <a:solidFill>
            <a:srgbClr val="3F2C49"/>
          </a:solidFill>
          <a:ln>
            <a:solidFill>
              <a:srgbClr val="3F2C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822960"/>
            <a:ext cx="5793574" cy="707886"/>
          </a:xfrm>
          <a:prstGeom prst="rect">
            <a:avLst/>
          </a:prstGeom>
          <a:noFill/>
        </p:spPr>
        <p:txBody>
          <a:bodyPr wrap="none">
            <a:spAutoFit/>
          </a:bodyPr>
          <a:lstStyle/>
          <a:p>
            <a:pPr>
              <a:defRPr sz="2800" b="1">
                <a:solidFill>
                  <a:srgbClr val="3F2C49"/>
                </a:solidFill>
              </a:defRPr>
            </a:pPr>
            <a:r>
              <a:rPr sz="4000" dirty="0">
                <a:latin typeface="Chonburi" panose="00000500000000000000" pitchFamily="2" charset="-34"/>
                <a:cs typeface="Chonburi" panose="00000500000000000000" pitchFamily="2" charset="-34"/>
              </a:rPr>
              <a:t>CRUD Functionality</a:t>
            </a:r>
          </a:p>
        </p:txBody>
      </p:sp>
      <p:sp>
        <p:nvSpPr>
          <p:cNvPr id="5" name="TextBox 4"/>
          <p:cNvSpPr txBox="1"/>
          <p:nvPr/>
        </p:nvSpPr>
        <p:spPr>
          <a:xfrm>
            <a:off x="822960" y="1645920"/>
            <a:ext cx="5098155" cy="1477328"/>
          </a:xfrm>
          <a:prstGeom prst="rect">
            <a:avLst/>
          </a:prstGeom>
          <a:noFill/>
        </p:spPr>
        <p:txBody>
          <a:bodyPr wrap="square">
            <a:spAutoFit/>
          </a:bodyPr>
          <a:lstStyle/>
          <a:p>
            <a:pPr>
              <a:defRPr sz="1800">
                <a:solidFill>
                  <a:srgbClr val="3F2C49"/>
                </a:solidFill>
              </a:defRPr>
            </a:pPr>
            <a:r>
              <a:rPr lang="en-GB" dirty="0"/>
              <a:t>Insert queries are used within the CRUD page to add new records to the database. User input from web forms is validated before an SQL INSERT statement is executed, ensuring that only accurate and complete data is stored.</a:t>
            </a:r>
            <a:endParaRPr dirty="0"/>
          </a:p>
        </p:txBody>
      </p:sp>
      <p:sp>
        <p:nvSpPr>
          <p:cNvPr id="7" name="TextBox 6">
            <a:extLst>
              <a:ext uri="{FF2B5EF4-FFF2-40B4-BE49-F238E27FC236}">
                <a16:creationId xmlns:a16="http://schemas.microsoft.com/office/drawing/2014/main" id="{D55456B6-07E8-0D61-AE99-7401CBCA83E9}"/>
              </a:ext>
            </a:extLst>
          </p:cNvPr>
          <p:cNvSpPr txBox="1"/>
          <p:nvPr/>
        </p:nvSpPr>
        <p:spPr>
          <a:xfrm>
            <a:off x="7000407" y="1019331"/>
            <a:ext cx="4456898" cy="1477328"/>
          </a:xfrm>
          <a:prstGeom prst="rect">
            <a:avLst/>
          </a:prstGeom>
          <a:noFill/>
        </p:spPr>
        <p:txBody>
          <a:bodyPr wrap="square" rtlCol="0">
            <a:spAutoFit/>
          </a:bodyPr>
          <a:lstStyle/>
          <a:p>
            <a:r>
              <a:rPr lang="en-GB" dirty="0"/>
              <a:t>Select queries are used to retrieve and display database records within the CRUD page. JOIN statements combine related tables so all necessary entities and linked information can be shown together.</a:t>
            </a:r>
          </a:p>
        </p:txBody>
      </p:sp>
      <p:sp>
        <p:nvSpPr>
          <p:cNvPr id="12" name="Rectangle 11">
            <a:extLst>
              <a:ext uri="{FF2B5EF4-FFF2-40B4-BE49-F238E27FC236}">
                <a16:creationId xmlns:a16="http://schemas.microsoft.com/office/drawing/2014/main" id="{6CF6CB2A-077D-D131-7EE6-C81A069AFE1C}"/>
              </a:ext>
            </a:extLst>
          </p:cNvPr>
          <p:cNvSpPr/>
          <p:nvPr/>
        </p:nvSpPr>
        <p:spPr>
          <a:xfrm>
            <a:off x="6978896" y="2752166"/>
            <a:ext cx="4152275" cy="1214203"/>
          </a:xfrm>
          <a:prstGeom prst="rect">
            <a:avLst/>
          </a:prstGeom>
          <a:solidFill>
            <a:schemeClr val="tx1">
              <a:lumMod val="85000"/>
              <a:lumOff val="15000"/>
            </a:schemeClr>
          </a:solidFill>
          <a:ln>
            <a:solidFill>
              <a:schemeClr val="tx1">
                <a:lumMod val="85000"/>
                <a:lumOff val="15000"/>
              </a:schemeClr>
            </a:solidFill>
          </a:ln>
        </p:spPr>
        <p:style>
          <a:lnRef idx="1">
            <a:schemeClr val="accent1"/>
          </a:lnRef>
          <a:fillRef idx="3">
            <a:schemeClr val="accent1"/>
          </a:fillRef>
          <a:effectRef idx="2">
            <a:schemeClr val="accent1"/>
          </a:effectRef>
          <a:fontRef idx="minor">
            <a:schemeClr val="lt1"/>
          </a:fontRef>
        </p:style>
        <p:txBody>
          <a:bodyPr rtlCol="0" anchor="ctr"/>
          <a:lstStyle/>
          <a:p>
            <a:r>
              <a:rPr lang="en-GB" sz="1400" dirty="0"/>
              <a:t>SELECT coachId, CONCAT(coachForename, ' ', coachSurname) AS coachName, coachEmail, coachPhone, coachSpecialisation </a:t>
            </a:r>
          </a:p>
          <a:p>
            <a:r>
              <a:rPr lang="en-GB" sz="1400" dirty="0"/>
              <a:t>FROM tblCoach;</a:t>
            </a:r>
          </a:p>
          <a:p>
            <a:endParaRPr lang="en-US" sz="1200" dirty="0"/>
          </a:p>
        </p:txBody>
      </p:sp>
      <p:pic>
        <p:nvPicPr>
          <p:cNvPr id="14" name="Picture 13">
            <a:extLst>
              <a:ext uri="{FF2B5EF4-FFF2-40B4-BE49-F238E27FC236}">
                <a16:creationId xmlns:a16="http://schemas.microsoft.com/office/drawing/2014/main" id="{446781B1-D088-10E0-9167-C350891F8F6E}"/>
              </a:ext>
            </a:extLst>
          </p:cNvPr>
          <p:cNvPicPr>
            <a:picLocks noChangeAspect="1"/>
          </p:cNvPicPr>
          <p:nvPr/>
        </p:nvPicPr>
        <p:blipFill>
          <a:blip r:embed="rId2"/>
          <a:stretch>
            <a:fillRect/>
          </a:stretch>
        </p:blipFill>
        <p:spPr>
          <a:xfrm>
            <a:off x="5764389" y="4512039"/>
            <a:ext cx="6307513" cy="1915288"/>
          </a:xfrm>
          <a:prstGeom prst="rect">
            <a:avLst/>
          </a:prstGeom>
        </p:spPr>
      </p:pic>
      <p:pic>
        <p:nvPicPr>
          <p:cNvPr id="16" name="Picture 15">
            <a:extLst>
              <a:ext uri="{FF2B5EF4-FFF2-40B4-BE49-F238E27FC236}">
                <a16:creationId xmlns:a16="http://schemas.microsoft.com/office/drawing/2014/main" id="{DEE08E16-1C8A-D7EA-4172-10C2A0FB8CCB}"/>
              </a:ext>
            </a:extLst>
          </p:cNvPr>
          <p:cNvPicPr>
            <a:picLocks noChangeAspect="1"/>
          </p:cNvPicPr>
          <p:nvPr/>
        </p:nvPicPr>
        <p:blipFill>
          <a:blip r:embed="rId3"/>
          <a:stretch>
            <a:fillRect/>
          </a:stretch>
        </p:blipFill>
        <p:spPr>
          <a:xfrm>
            <a:off x="549185" y="3238323"/>
            <a:ext cx="4952206" cy="15631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DBC6E9"/>
          </a:solidFill>
          <a:ln>
            <a:solidFill>
              <a:srgbClr val="DBC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548640"/>
          </a:xfrm>
          <a:prstGeom prst="rect">
            <a:avLst/>
          </a:prstGeom>
          <a:solidFill>
            <a:srgbClr val="3F2C49"/>
          </a:solidFill>
          <a:ln>
            <a:solidFill>
              <a:srgbClr val="3F2C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822960"/>
            <a:ext cx="7601761" cy="707886"/>
          </a:xfrm>
          <a:prstGeom prst="rect">
            <a:avLst/>
          </a:prstGeom>
          <a:noFill/>
        </p:spPr>
        <p:txBody>
          <a:bodyPr wrap="none">
            <a:spAutoFit/>
          </a:bodyPr>
          <a:lstStyle/>
          <a:p>
            <a:pPr>
              <a:defRPr sz="2800" b="1">
                <a:solidFill>
                  <a:srgbClr val="3F2C49"/>
                </a:solidFill>
              </a:defRPr>
            </a:pPr>
            <a:r>
              <a:rPr sz="4000" dirty="0">
                <a:latin typeface="Chonburi" panose="00000500000000000000" pitchFamily="2" charset="-34"/>
                <a:cs typeface="Chonburi" panose="00000500000000000000" pitchFamily="2" charset="-34"/>
              </a:rPr>
              <a:t>Reporting &amp; Visualisation</a:t>
            </a:r>
          </a:p>
        </p:txBody>
      </p:sp>
      <p:sp>
        <p:nvSpPr>
          <p:cNvPr id="5" name="TextBox 4"/>
          <p:cNvSpPr txBox="1"/>
          <p:nvPr/>
        </p:nvSpPr>
        <p:spPr>
          <a:xfrm>
            <a:off x="822960" y="1645920"/>
            <a:ext cx="6636945" cy="646331"/>
          </a:xfrm>
          <a:prstGeom prst="rect">
            <a:avLst/>
          </a:prstGeom>
          <a:noFill/>
        </p:spPr>
        <p:txBody>
          <a:bodyPr wrap="none">
            <a:spAutoFit/>
          </a:bodyPr>
          <a:lstStyle/>
          <a:p>
            <a:pPr>
              <a:defRPr sz="1800">
                <a:solidFill>
                  <a:srgbClr val="3F2C49"/>
                </a:solidFill>
              </a:defRPr>
            </a:pPr>
            <a:r>
              <a:rPr lang="en-GB" dirty="0"/>
              <a:t>Reporting and visualisation features were used to display meaningful</a:t>
            </a:r>
          </a:p>
          <a:p>
            <a:pPr>
              <a:defRPr sz="1800">
                <a:solidFill>
                  <a:srgbClr val="3F2C49"/>
                </a:solidFill>
              </a:defRPr>
            </a:pPr>
            <a:r>
              <a:rPr lang="en-GB" dirty="0"/>
              <a:t>database insights through dynamic reports and charts.</a:t>
            </a:r>
            <a:endParaRPr dirty="0"/>
          </a:p>
        </p:txBody>
      </p:sp>
      <p:sp>
        <p:nvSpPr>
          <p:cNvPr id="6" name="TextBox 5">
            <a:extLst>
              <a:ext uri="{FF2B5EF4-FFF2-40B4-BE49-F238E27FC236}">
                <a16:creationId xmlns:a16="http://schemas.microsoft.com/office/drawing/2014/main" id="{955FA197-2D39-8967-B9FA-9077E0833A90}"/>
              </a:ext>
            </a:extLst>
          </p:cNvPr>
          <p:cNvSpPr txBox="1"/>
          <p:nvPr/>
        </p:nvSpPr>
        <p:spPr>
          <a:xfrm>
            <a:off x="822960" y="2393929"/>
            <a:ext cx="3372787" cy="1200329"/>
          </a:xfrm>
          <a:prstGeom prst="rect">
            <a:avLst/>
          </a:prstGeom>
          <a:noFill/>
        </p:spPr>
        <p:txBody>
          <a:bodyPr wrap="square" rtlCol="0">
            <a:spAutoFit/>
          </a:bodyPr>
          <a:lstStyle/>
          <a:p>
            <a:r>
              <a:rPr lang="en-US" dirty="0">
                <a:solidFill>
                  <a:schemeClr val="accent4">
                    <a:lumMod val="50000"/>
                  </a:schemeClr>
                </a:solidFill>
              </a:rPr>
              <a:t>3 reports were created:</a:t>
            </a:r>
          </a:p>
          <a:p>
            <a:pPr marL="342900" indent="-342900">
              <a:buAutoNum type="arabicPeriod"/>
            </a:pPr>
            <a:r>
              <a:rPr lang="en-US" dirty="0">
                <a:solidFill>
                  <a:schemeClr val="accent4">
                    <a:lumMod val="50000"/>
                  </a:schemeClr>
                </a:solidFill>
              </a:rPr>
              <a:t>Most Popular Time Slots</a:t>
            </a:r>
          </a:p>
          <a:p>
            <a:pPr marL="342900" indent="-342900">
              <a:buAutoNum type="arabicPeriod"/>
            </a:pPr>
            <a:r>
              <a:rPr lang="en-US" dirty="0">
                <a:solidFill>
                  <a:schemeClr val="accent4">
                    <a:lumMod val="50000"/>
                  </a:schemeClr>
                </a:solidFill>
              </a:rPr>
              <a:t>Member Per Centre</a:t>
            </a:r>
          </a:p>
          <a:p>
            <a:pPr marL="342900" indent="-342900">
              <a:buAutoNum type="arabicPeriod"/>
            </a:pPr>
            <a:r>
              <a:rPr lang="en-US" dirty="0">
                <a:solidFill>
                  <a:schemeClr val="accent4">
                    <a:lumMod val="50000"/>
                  </a:schemeClr>
                </a:solidFill>
              </a:rPr>
              <a:t>Member Attendance</a:t>
            </a:r>
          </a:p>
        </p:txBody>
      </p:sp>
      <p:sp>
        <p:nvSpPr>
          <p:cNvPr id="8" name="TextBox 7">
            <a:extLst>
              <a:ext uri="{FF2B5EF4-FFF2-40B4-BE49-F238E27FC236}">
                <a16:creationId xmlns:a16="http://schemas.microsoft.com/office/drawing/2014/main" id="{E0E26D05-2735-93C7-5DCA-767535D565C5}"/>
              </a:ext>
            </a:extLst>
          </p:cNvPr>
          <p:cNvSpPr txBox="1"/>
          <p:nvPr/>
        </p:nvSpPr>
        <p:spPr>
          <a:xfrm>
            <a:off x="822960" y="3613650"/>
            <a:ext cx="4661941" cy="369332"/>
          </a:xfrm>
          <a:prstGeom prst="rect">
            <a:avLst/>
          </a:prstGeom>
          <a:noFill/>
        </p:spPr>
        <p:txBody>
          <a:bodyPr wrap="square" rtlCol="0">
            <a:spAutoFit/>
          </a:bodyPr>
          <a:lstStyle/>
          <a:p>
            <a:r>
              <a:rPr lang="en-US" dirty="0">
                <a:solidFill>
                  <a:schemeClr val="accent4">
                    <a:lumMod val="50000"/>
                  </a:schemeClr>
                </a:solidFill>
              </a:rPr>
              <a:t>Easy switching between reports</a:t>
            </a:r>
          </a:p>
        </p:txBody>
      </p:sp>
      <p:pic>
        <p:nvPicPr>
          <p:cNvPr id="10" name="Picture 9">
            <a:extLst>
              <a:ext uri="{FF2B5EF4-FFF2-40B4-BE49-F238E27FC236}">
                <a16:creationId xmlns:a16="http://schemas.microsoft.com/office/drawing/2014/main" id="{1CAD6E0C-D173-47F0-7138-A31A45BEF1DB}"/>
              </a:ext>
            </a:extLst>
          </p:cNvPr>
          <p:cNvPicPr>
            <a:picLocks noChangeAspect="1"/>
          </p:cNvPicPr>
          <p:nvPr/>
        </p:nvPicPr>
        <p:blipFill>
          <a:blip r:embed="rId2"/>
          <a:stretch>
            <a:fillRect/>
          </a:stretch>
        </p:blipFill>
        <p:spPr>
          <a:xfrm>
            <a:off x="731519" y="4136041"/>
            <a:ext cx="7459905" cy="2202554"/>
          </a:xfrm>
          <a:prstGeom prst="rect">
            <a:avLst/>
          </a:prstGeom>
        </p:spPr>
      </p:pic>
      <p:sp>
        <p:nvSpPr>
          <p:cNvPr id="11" name="Rectangle 10">
            <a:extLst>
              <a:ext uri="{FF2B5EF4-FFF2-40B4-BE49-F238E27FC236}">
                <a16:creationId xmlns:a16="http://schemas.microsoft.com/office/drawing/2014/main" id="{4413B671-B991-B1C6-0A19-A29B32D91A68}"/>
              </a:ext>
            </a:extLst>
          </p:cNvPr>
          <p:cNvSpPr/>
          <p:nvPr/>
        </p:nvSpPr>
        <p:spPr>
          <a:xfrm>
            <a:off x="3153930" y="5846164"/>
            <a:ext cx="2482372" cy="559494"/>
          </a:xfrm>
          <a:prstGeom prst="rect">
            <a:avLst/>
          </a:prstGeom>
          <a:noFill/>
          <a:ln w="190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F60E861D-AB94-0712-9C15-B6D33642DB36}"/>
              </a:ext>
            </a:extLst>
          </p:cNvPr>
          <p:cNvPicPr>
            <a:picLocks noChangeAspect="1"/>
          </p:cNvPicPr>
          <p:nvPr/>
        </p:nvPicPr>
        <p:blipFill>
          <a:blip r:embed="rId3"/>
          <a:stretch>
            <a:fillRect/>
          </a:stretch>
        </p:blipFill>
        <p:spPr>
          <a:xfrm>
            <a:off x="5018707" y="2707766"/>
            <a:ext cx="4285746" cy="1066406"/>
          </a:xfrm>
          <a:prstGeom prst="rect">
            <a:avLst/>
          </a:prstGeom>
        </p:spPr>
      </p:pic>
      <p:pic>
        <p:nvPicPr>
          <p:cNvPr id="15" name="Picture 14">
            <a:extLst>
              <a:ext uri="{FF2B5EF4-FFF2-40B4-BE49-F238E27FC236}">
                <a16:creationId xmlns:a16="http://schemas.microsoft.com/office/drawing/2014/main" id="{871D9AA0-BCB8-6817-1C20-6776B02FFD2D}"/>
              </a:ext>
            </a:extLst>
          </p:cNvPr>
          <p:cNvPicPr>
            <a:picLocks noChangeAspect="1"/>
          </p:cNvPicPr>
          <p:nvPr/>
        </p:nvPicPr>
        <p:blipFill>
          <a:blip r:embed="rId4"/>
          <a:stretch>
            <a:fillRect/>
          </a:stretch>
        </p:blipFill>
        <p:spPr>
          <a:xfrm>
            <a:off x="8224629" y="4343844"/>
            <a:ext cx="3975391" cy="2038253"/>
          </a:xfrm>
          <a:prstGeom prst="rect">
            <a:avLst/>
          </a:prstGeom>
        </p:spPr>
      </p:pic>
      <p:pic>
        <p:nvPicPr>
          <p:cNvPr id="17" name="Graphic 16" descr="Arrow Right with solid fill">
            <a:extLst>
              <a:ext uri="{FF2B5EF4-FFF2-40B4-BE49-F238E27FC236}">
                <a16:creationId xmlns:a16="http://schemas.microsoft.com/office/drawing/2014/main" id="{9964E4F7-272C-BC75-ACDA-1DD52CF2E6E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6115325">
            <a:off x="4651351" y="4459571"/>
            <a:ext cx="1863080" cy="914400"/>
          </a:xfrm>
          <a:prstGeom prst="rect">
            <a:avLst/>
          </a:prstGeom>
        </p:spPr>
      </p:pic>
      <p:pic>
        <p:nvPicPr>
          <p:cNvPr id="18" name="Graphic 17" descr="Arrow Right with solid fill">
            <a:extLst>
              <a:ext uri="{FF2B5EF4-FFF2-40B4-BE49-F238E27FC236}">
                <a16:creationId xmlns:a16="http://schemas.microsoft.com/office/drawing/2014/main" id="{0164D395-BA6F-18E9-8C3C-E8EF77821F2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0800000">
            <a:off x="5764786" y="5618527"/>
            <a:ext cx="2247065" cy="914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DBC6E9"/>
          </a:solidFill>
          <a:ln>
            <a:solidFill>
              <a:srgbClr val="DBC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548640"/>
          </a:xfrm>
          <a:prstGeom prst="rect">
            <a:avLst/>
          </a:prstGeom>
          <a:solidFill>
            <a:srgbClr val="3F2C49"/>
          </a:solidFill>
          <a:ln>
            <a:solidFill>
              <a:srgbClr val="3F2C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822960"/>
            <a:ext cx="6894836" cy="707886"/>
          </a:xfrm>
          <a:prstGeom prst="rect">
            <a:avLst/>
          </a:prstGeom>
          <a:noFill/>
        </p:spPr>
        <p:txBody>
          <a:bodyPr wrap="none">
            <a:spAutoFit/>
          </a:bodyPr>
          <a:lstStyle/>
          <a:p>
            <a:pPr>
              <a:defRPr sz="2800" b="1">
                <a:solidFill>
                  <a:srgbClr val="3F2C49"/>
                </a:solidFill>
              </a:defRPr>
            </a:pPr>
            <a:r>
              <a:rPr lang="en-US" sz="4000" dirty="0">
                <a:latin typeface="Chonburi" panose="00000500000000000000" pitchFamily="2" charset="-34"/>
                <a:cs typeface="Chonburi" panose="00000500000000000000" pitchFamily="2" charset="-34"/>
              </a:rPr>
              <a:t>Parameterised Reports</a:t>
            </a:r>
            <a:endParaRPr sz="4000" dirty="0">
              <a:latin typeface="Chonburi" panose="00000500000000000000" pitchFamily="2" charset="-34"/>
              <a:cs typeface="Chonburi" panose="00000500000000000000" pitchFamily="2" charset="-34"/>
            </a:endParaRPr>
          </a:p>
        </p:txBody>
      </p:sp>
      <p:sp>
        <p:nvSpPr>
          <p:cNvPr id="5" name="TextBox 4"/>
          <p:cNvSpPr txBox="1"/>
          <p:nvPr/>
        </p:nvSpPr>
        <p:spPr>
          <a:xfrm>
            <a:off x="731520" y="1318544"/>
            <a:ext cx="2461764" cy="738664"/>
          </a:xfrm>
          <a:prstGeom prst="rect">
            <a:avLst/>
          </a:prstGeom>
          <a:noFill/>
        </p:spPr>
        <p:txBody>
          <a:bodyPr wrap="none">
            <a:spAutoFit/>
          </a:bodyPr>
          <a:lstStyle/>
          <a:p>
            <a:pPr>
              <a:defRPr sz="1800">
                <a:solidFill>
                  <a:srgbClr val="3F2C49"/>
                </a:solidFill>
              </a:defRPr>
            </a:pPr>
            <a:r>
              <a:rPr lang="en-US" sz="2400" u="sng" dirty="0"/>
              <a:t>REPORT 1 </a:t>
            </a:r>
          </a:p>
          <a:p>
            <a:pPr>
              <a:defRPr sz="1800">
                <a:solidFill>
                  <a:srgbClr val="3F2C49"/>
                </a:solidFill>
              </a:defRPr>
            </a:pPr>
            <a:r>
              <a:rPr lang="en-US" dirty="0"/>
              <a:t>Most Popular Time Slots</a:t>
            </a:r>
            <a:endParaRPr sz="1600" dirty="0"/>
          </a:p>
        </p:txBody>
      </p:sp>
      <p:sp>
        <p:nvSpPr>
          <p:cNvPr id="7" name="TextBox 6">
            <a:extLst>
              <a:ext uri="{FF2B5EF4-FFF2-40B4-BE49-F238E27FC236}">
                <a16:creationId xmlns:a16="http://schemas.microsoft.com/office/drawing/2014/main" id="{7FC68AE1-02EE-AF39-84A2-24E5365211F9}"/>
              </a:ext>
            </a:extLst>
          </p:cNvPr>
          <p:cNvSpPr txBox="1"/>
          <p:nvPr/>
        </p:nvSpPr>
        <p:spPr>
          <a:xfrm>
            <a:off x="731520" y="5660860"/>
            <a:ext cx="4422098" cy="1200329"/>
          </a:xfrm>
          <a:prstGeom prst="rect">
            <a:avLst/>
          </a:prstGeom>
          <a:noFill/>
        </p:spPr>
        <p:txBody>
          <a:bodyPr wrap="square" rtlCol="0">
            <a:spAutoFit/>
          </a:bodyPr>
          <a:lstStyle/>
          <a:p>
            <a:r>
              <a:rPr lang="en-GB" dirty="0">
                <a:solidFill>
                  <a:schemeClr val="accent4">
                    <a:lumMod val="50000"/>
                  </a:schemeClr>
                </a:solidFill>
              </a:rPr>
              <a:t>Some reports include charts alongside tables to present data visually and improve understanding of key information.</a:t>
            </a:r>
          </a:p>
          <a:p>
            <a:endParaRPr lang="en-US" dirty="0"/>
          </a:p>
        </p:txBody>
      </p:sp>
      <p:pic>
        <p:nvPicPr>
          <p:cNvPr id="9" name="Picture 8">
            <a:extLst>
              <a:ext uri="{FF2B5EF4-FFF2-40B4-BE49-F238E27FC236}">
                <a16:creationId xmlns:a16="http://schemas.microsoft.com/office/drawing/2014/main" id="{835ED398-7022-7290-4858-B44FB752227C}"/>
              </a:ext>
            </a:extLst>
          </p:cNvPr>
          <p:cNvPicPr>
            <a:picLocks noChangeAspect="1"/>
          </p:cNvPicPr>
          <p:nvPr/>
        </p:nvPicPr>
        <p:blipFill>
          <a:blip r:embed="rId2"/>
          <a:stretch>
            <a:fillRect/>
          </a:stretch>
        </p:blipFill>
        <p:spPr>
          <a:xfrm>
            <a:off x="6767423" y="4031949"/>
            <a:ext cx="5276181" cy="2671484"/>
          </a:xfrm>
          <a:prstGeom prst="rect">
            <a:avLst/>
          </a:prstGeom>
        </p:spPr>
      </p:pic>
      <p:pic>
        <p:nvPicPr>
          <p:cNvPr id="11" name="Picture 10">
            <a:extLst>
              <a:ext uri="{FF2B5EF4-FFF2-40B4-BE49-F238E27FC236}">
                <a16:creationId xmlns:a16="http://schemas.microsoft.com/office/drawing/2014/main" id="{BC74332D-EEAF-4A3B-11EB-708B8075BC37}"/>
              </a:ext>
            </a:extLst>
          </p:cNvPr>
          <p:cNvPicPr>
            <a:picLocks noChangeAspect="1"/>
          </p:cNvPicPr>
          <p:nvPr/>
        </p:nvPicPr>
        <p:blipFill>
          <a:blip r:embed="rId3"/>
          <a:stretch>
            <a:fillRect/>
          </a:stretch>
        </p:blipFill>
        <p:spPr>
          <a:xfrm>
            <a:off x="145221" y="2560069"/>
            <a:ext cx="6450452" cy="2943761"/>
          </a:xfrm>
          <a:prstGeom prst="rect">
            <a:avLst/>
          </a:prstGeom>
        </p:spPr>
      </p:pic>
      <p:sp>
        <p:nvSpPr>
          <p:cNvPr id="12" name="TextBox 11">
            <a:extLst>
              <a:ext uri="{FF2B5EF4-FFF2-40B4-BE49-F238E27FC236}">
                <a16:creationId xmlns:a16="http://schemas.microsoft.com/office/drawing/2014/main" id="{5D3D2175-523C-6E8C-9E9E-30E8BEB037AE}"/>
              </a:ext>
            </a:extLst>
          </p:cNvPr>
          <p:cNvSpPr txBox="1"/>
          <p:nvPr/>
        </p:nvSpPr>
        <p:spPr>
          <a:xfrm>
            <a:off x="731520" y="1905479"/>
            <a:ext cx="6175947" cy="923330"/>
          </a:xfrm>
          <a:prstGeom prst="rect">
            <a:avLst/>
          </a:prstGeom>
          <a:noFill/>
        </p:spPr>
        <p:txBody>
          <a:bodyPr wrap="square" rtlCol="0">
            <a:spAutoFit/>
          </a:bodyPr>
          <a:lstStyle/>
          <a:p>
            <a:r>
              <a:rPr lang="en-US" dirty="0">
                <a:solidFill>
                  <a:schemeClr val="accent4">
                    <a:lumMod val="50000"/>
                  </a:schemeClr>
                </a:solidFill>
              </a:rPr>
              <a:t>These reports are generated using a combination of SCALAR and AGGREGATE functions, JOINs, and the Chart.js library.</a:t>
            </a:r>
          </a:p>
          <a:p>
            <a:endParaRPr lang="en-US" dirty="0"/>
          </a:p>
        </p:txBody>
      </p:sp>
      <p:pic>
        <p:nvPicPr>
          <p:cNvPr id="14" name="Picture 13">
            <a:extLst>
              <a:ext uri="{FF2B5EF4-FFF2-40B4-BE49-F238E27FC236}">
                <a16:creationId xmlns:a16="http://schemas.microsoft.com/office/drawing/2014/main" id="{56F0F319-46A7-0F20-25ED-D50BCF17E4E3}"/>
              </a:ext>
            </a:extLst>
          </p:cNvPr>
          <p:cNvPicPr>
            <a:picLocks noChangeAspect="1"/>
          </p:cNvPicPr>
          <p:nvPr/>
        </p:nvPicPr>
        <p:blipFill>
          <a:blip r:embed="rId4"/>
          <a:stretch>
            <a:fillRect/>
          </a:stretch>
        </p:blipFill>
        <p:spPr>
          <a:xfrm>
            <a:off x="7493766" y="1624090"/>
            <a:ext cx="4341230" cy="1643766"/>
          </a:xfrm>
          <a:prstGeom prst="rect">
            <a:avLst/>
          </a:prstGeom>
        </p:spPr>
      </p:pic>
      <p:pic>
        <p:nvPicPr>
          <p:cNvPr id="16" name="Graphic 15" descr="Arrow Right outline">
            <a:extLst>
              <a:ext uri="{FF2B5EF4-FFF2-40B4-BE49-F238E27FC236}">
                <a16:creationId xmlns:a16="http://schemas.microsoft.com/office/drawing/2014/main" id="{D2E25059-4C91-C4F7-5A0F-E9A61BC02C8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61745" y="5723715"/>
            <a:ext cx="1633928" cy="914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1D2F9-99C9-D119-EB81-C9D966EACA0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2321702-4C90-383B-9281-E5769CF46619}"/>
              </a:ext>
            </a:extLst>
          </p:cNvPr>
          <p:cNvSpPr/>
          <p:nvPr/>
        </p:nvSpPr>
        <p:spPr>
          <a:xfrm>
            <a:off x="0" y="274320"/>
            <a:ext cx="12157730" cy="6583680"/>
          </a:xfrm>
          <a:prstGeom prst="rect">
            <a:avLst/>
          </a:prstGeom>
          <a:solidFill>
            <a:srgbClr val="DBC6E9"/>
          </a:solidFill>
          <a:ln>
            <a:solidFill>
              <a:srgbClr val="DBC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a:extLst>
              <a:ext uri="{FF2B5EF4-FFF2-40B4-BE49-F238E27FC236}">
                <a16:creationId xmlns:a16="http://schemas.microsoft.com/office/drawing/2014/main" id="{89B1F088-E930-0522-FEE3-2C9F85A0DEF2}"/>
              </a:ext>
            </a:extLst>
          </p:cNvPr>
          <p:cNvSpPr/>
          <p:nvPr/>
        </p:nvSpPr>
        <p:spPr>
          <a:xfrm>
            <a:off x="0" y="0"/>
            <a:ext cx="12188952" cy="548640"/>
          </a:xfrm>
          <a:prstGeom prst="rect">
            <a:avLst/>
          </a:prstGeom>
          <a:solidFill>
            <a:srgbClr val="3F2C49"/>
          </a:solidFill>
          <a:ln>
            <a:solidFill>
              <a:srgbClr val="3F2C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3B39C3F7-0DF9-F057-40AD-9B19A5BA859A}"/>
              </a:ext>
            </a:extLst>
          </p:cNvPr>
          <p:cNvSpPr txBox="1"/>
          <p:nvPr/>
        </p:nvSpPr>
        <p:spPr>
          <a:xfrm>
            <a:off x="731520" y="822960"/>
            <a:ext cx="6894836" cy="707886"/>
          </a:xfrm>
          <a:prstGeom prst="rect">
            <a:avLst/>
          </a:prstGeom>
          <a:noFill/>
        </p:spPr>
        <p:txBody>
          <a:bodyPr wrap="none">
            <a:spAutoFit/>
          </a:bodyPr>
          <a:lstStyle/>
          <a:p>
            <a:pPr>
              <a:defRPr sz="2800" b="1">
                <a:solidFill>
                  <a:srgbClr val="3F2C49"/>
                </a:solidFill>
              </a:defRPr>
            </a:pPr>
            <a:r>
              <a:rPr lang="en-US" sz="4000" dirty="0">
                <a:latin typeface="Chonburi" panose="00000500000000000000" pitchFamily="2" charset="-34"/>
                <a:cs typeface="Chonburi" panose="00000500000000000000" pitchFamily="2" charset="-34"/>
              </a:rPr>
              <a:t>Parameterised Reports</a:t>
            </a:r>
            <a:endParaRPr sz="4000" dirty="0">
              <a:latin typeface="Chonburi" panose="00000500000000000000" pitchFamily="2" charset="-34"/>
              <a:cs typeface="Chonburi" panose="00000500000000000000" pitchFamily="2" charset="-34"/>
            </a:endParaRPr>
          </a:p>
        </p:txBody>
      </p:sp>
      <p:sp>
        <p:nvSpPr>
          <p:cNvPr id="5" name="TextBox 4">
            <a:extLst>
              <a:ext uri="{FF2B5EF4-FFF2-40B4-BE49-F238E27FC236}">
                <a16:creationId xmlns:a16="http://schemas.microsoft.com/office/drawing/2014/main" id="{CF347C8B-3063-3D10-B4F4-E227543683AF}"/>
              </a:ext>
            </a:extLst>
          </p:cNvPr>
          <p:cNvSpPr txBox="1"/>
          <p:nvPr/>
        </p:nvSpPr>
        <p:spPr>
          <a:xfrm>
            <a:off x="731520" y="1318544"/>
            <a:ext cx="2461764" cy="738664"/>
          </a:xfrm>
          <a:prstGeom prst="rect">
            <a:avLst/>
          </a:prstGeom>
          <a:noFill/>
        </p:spPr>
        <p:txBody>
          <a:bodyPr wrap="none">
            <a:spAutoFit/>
          </a:bodyPr>
          <a:lstStyle/>
          <a:p>
            <a:pPr>
              <a:defRPr sz="1800">
                <a:solidFill>
                  <a:srgbClr val="3F2C49"/>
                </a:solidFill>
              </a:defRPr>
            </a:pPr>
            <a:r>
              <a:rPr lang="en-US" sz="2400" u="sng" dirty="0"/>
              <a:t>REPORT 1 </a:t>
            </a:r>
          </a:p>
          <a:p>
            <a:pPr>
              <a:defRPr sz="1800">
                <a:solidFill>
                  <a:srgbClr val="3F2C49"/>
                </a:solidFill>
              </a:defRPr>
            </a:pPr>
            <a:r>
              <a:rPr lang="en-US" dirty="0"/>
              <a:t>Most Popular Time Slots</a:t>
            </a:r>
            <a:endParaRPr sz="1600" dirty="0"/>
          </a:p>
        </p:txBody>
      </p:sp>
      <p:pic>
        <p:nvPicPr>
          <p:cNvPr id="9" name="Picture 8">
            <a:extLst>
              <a:ext uri="{FF2B5EF4-FFF2-40B4-BE49-F238E27FC236}">
                <a16:creationId xmlns:a16="http://schemas.microsoft.com/office/drawing/2014/main" id="{005C1E63-D604-9FFC-ABF0-455E9DB03BC3}"/>
              </a:ext>
            </a:extLst>
          </p:cNvPr>
          <p:cNvPicPr>
            <a:picLocks noChangeAspect="1"/>
          </p:cNvPicPr>
          <p:nvPr/>
        </p:nvPicPr>
        <p:blipFill>
          <a:blip r:embed="rId2"/>
          <a:stretch>
            <a:fillRect/>
          </a:stretch>
        </p:blipFill>
        <p:spPr>
          <a:xfrm>
            <a:off x="202869" y="3719165"/>
            <a:ext cx="5276181" cy="2671484"/>
          </a:xfrm>
          <a:prstGeom prst="rect">
            <a:avLst/>
          </a:prstGeom>
        </p:spPr>
      </p:pic>
      <p:sp>
        <p:nvSpPr>
          <p:cNvPr id="12" name="TextBox 11">
            <a:extLst>
              <a:ext uri="{FF2B5EF4-FFF2-40B4-BE49-F238E27FC236}">
                <a16:creationId xmlns:a16="http://schemas.microsoft.com/office/drawing/2014/main" id="{0B2073F2-C16B-C486-D1EA-DCE7EB7EF2DA}"/>
              </a:ext>
            </a:extLst>
          </p:cNvPr>
          <p:cNvSpPr txBox="1"/>
          <p:nvPr/>
        </p:nvSpPr>
        <p:spPr>
          <a:xfrm>
            <a:off x="6125571" y="6151685"/>
            <a:ext cx="6094412" cy="646331"/>
          </a:xfrm>
          <a:prstGeom prst="rect">
            <a:avLst/>
          </a:prstGeom>
          <a:noFill/>
        </p:spPr>
        <p:txBody>
          <a:bodyPr wrap="square" rtlCol="0">
            <a:spAutoFit/>
          </a:bodyPr>
          <a:lstStyle/>
          <a:p>
            <a:r>
              <a:rPr lang="en-GB" dirty="0">
                <a:solidFill>
                  <a:schemeClr val="accent4">
                    <a:lumMod val="50000"/>
                  </a:schemeClr>
                </a:solidFill>
              </a:rPr>
              <a:t>Reports are dynamic, meaning they update automatically based on live database data and selected user inputs or filters.</a:t>
            </a:r>
            <a:endParaRPr lang="en-US" dirty="0">
              <a:solidFill>
                <a:schemeClr val="accent4">
                  <a:lumMod val="50000"/>
                </a:schemeClr>
              </a:solidFill>
            </a:endParaRPr>
          </a:p>
        </p:txBody>
      </p:sp>
      <p:pic>
        <p:nvPicPr>
          <p:cNvPr id="8" name="Picture 7">
            <a:extLst>
              <a:ext uri="{FF2B5EF4-FFF2-40B4-BE49-F238E27FC236}">
                <a16:creationId xmlns:a16="http://schemas.microsoft.com/office/drawing/2014/main" id="{081EDB33-95AA-2DB0-9D79-46FB58CA0C81}"/>
              </a:ext>
            </a:extLst>
          </p:cNvPr>
          <p:cNvPicPr>
            <a:picLocks noChangeAspect="1"/>
          </p:cNvPicPr>
          <p:nvPr/>
        </p:nvPicPr>
        <p:blipFill>
          <a:blip r:embed="rId3"/>
          <a:stretch>
            <a:fillRect/>
          </a:stretch>
        </p:blipFill>
        <p:spPr>
          <a:xfrm>
            <a:off x="3193284" y="1606415"/>
            <a:ext cx="6094412" cy="1645399"/>
          </a:xfrm>
          <a:prstGeom prst="rect">
            <a:avLst/>
          </a:prstGeom>
        </p:spPr>
      </p:pic>
      <p:pic>
        <p:nvPicPr>
          <p:cNvPr id="13" name="Picture 12">
            <a:extLst>
              <a:ext uri="{FF2B5EF4-FFF2-40B4-BE49-F238E27FC236}">
                <a16:creationId xmlns:a16="http://schemas.microsoft.com/office/drawing/2014/main" id="{7DD3948E-3E80-0E2E-ADD8-D2BADB3281E9}"/>
              </a:ext>
            </a:extLst>
          </p:cNvPr>
          <p:cNvPicPr>
            <a:picLocks noChangeAspect="1"/>
          </p:cNvPicPr>
          <p:nvPr/>
        </p:nvPicPr>
        <p:blipFill>
          <a:blip r:embed="rId4"/>
          <a:stretch>
            <a:fillRect/>
          </a:stretch>
        </p:blipFill>
        <p:spPr>
          <a:xfrm>
            <a:off x="6709775" y="3327383"/>
            <a:ext cx="5276182" cy="2684684"/>
          </a:xfrm>
          <a:prstGeom prst="rect">
            <a:avLst/>
          </a:prstGeom>
        </p:spPr>
      </p:pic>
      <p:pic>
        <p:nvPicPr>
          <p:cNvPr id="17" name="Graphic 16" descr="Back outline">
            <a:extLst>
              <a:ext uri="{FF2B5EF4-FFF2-40B4-BE49-F238E27FC236}">
                <a16:creationId xmlns:a16="http://schemas.microsoft.com/office/drawing/2014/main" id="{AE9BCCB4-A5B3-B7F0-DBAD-E4699E5A645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20558035">
            <a:off x="1926558" y="2200466"/>
            <a:ext cx="1266726" cy="1266726"/>
          </a:xfrm>
          <a:prstGeom prst="rect">
            <a:avLst/>
          </a:prstGeom>
        </p:spPr>
      </p:pic>
      <p:pic>
        <p:nvPicPr>
          <p:cNvPr id="19" name="Graphic 18" descr="Line arrow: Counter-clockwise curve outline">
            <a:extLst>
              <a:ext uri="{FF2B5EF4-FFF2-40B4-BE49-F238E27FC236}">
                <a16:creationId xmlns:a16="http://schemas.microsoft.com/office/drawing/2014/main" id="{552AA2C5-6A9F-20A7-9CF3-CA63D067704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7409602" flipH="1">
            <a:off x="9790619" y="1963497"/>
            <a:ext cx="914400" cy="1127759"/>
          </a:xfrm>
          <a:prstGeom prst="rect">
            <a:avLst/>
          </a:prstGeom>
        </p:spPr>
      </p:pic>
    </p:spTree>
    <p:extLst>
      <p:ext uri="{BB962C8B-B14F-4D97-AF65-F5344CB8AC3E}">
        <p14:creationId xmlns:p14="http://schemas.microsoft.com/office/powerpoint/2010/main" val="2928187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CDE69-EFFD-9776-8D76-5887F7CD963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A5FB25E-CB6E-118D-4856-49A1BD230EF3}"/>
              </a:ext>
            </a:extLst>
          </p:cNvPr>
          <p:cNvSpPr/>
          <p:nvPr/>
        </p:nvSpPr>
        <p:spPr>
          <a:xfrm>
            <a:off x="-127" y="0"/>
            <a:ext cx="12188952" cy="6858000"/>
          </a:xfrm>
          <a:prstGeom prst="rect">
            <a:avLst/>
          </a:prstGeom>
          <a:solidFill>
            <a:srgbClr val="DBC6E9"/>
          </a:solidFill>
          <a:ln>
            <a:solidFill>
              <a:srgbClr val="DBC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a:extLst>
              <a:ext uri="{FF2B5EF4-FFF2-40B4-BE49-F238E27FC236}">
                <a16:creationId xmlns:a16="http://schemas.microsoft.com/office/drawing/2014/main" id="{6641AFF8-2AF1-EE2C-AA91-B83164BC7F0C}"/>
              </a:ext>
            </a:extLst>
          </p:cNvPr>
          <p:cNvSpPr/>
          <p:nvPr/>
        </p:nvSpPr>
        <p:spPr>
          <a:xfrm rot="16200000">
            <a:off x="-2916480" y="2922190"/>
            <a:ext cx="6852163" cy="1019458"/>
          </a:xfrm>
          <a:prstGeom prst="rect">
            <a:avLst/>
          </a:prstGeom>
          <a:solidFill>
            <a:srgbClr val="3F2C49"/>
          </a:solidFill>
          <a:ln>
            <a:solidFill>
              <a:srgbClr val="3F2C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EAC7773C-6BDB-397D-2437-4F6C936C3166}"/>
              </a:ext>
            </a:extLst>
          </p:cNvPr>
          <p:cNvSpPr txBox="1"/>
          <p:nvPr/>
        </p:nvSpPr>
        <p:spPr>
          <a:xfrm>
            <a:off x="3656228" y="2475734"/>
            <a:ext cx="5354351" cy="1107996"/>
          </a:xfrm>
          <a:prstGeom prst="rect">
            <a:avLst/>
          </a:prstGeom>
          <a:noFill/>
        </p:spPr>
        <p:txBody>
          <a:bodyPr wrap="none">
            <a:spAutoFit/>
          </a:bodyPr>
          <a:lstStyle/>
          <a:p>
            <a:pPr>
              <a:defRPr sz="2800" b="1">
                <a:solidFill>
                  <a:srgbClr val="3F2C49"/>
                </a:solidFill>
              </a:defRPr>
            </a:pPr>
            <a:r>
              <a:rPr lang="en-US" sz="6600" dirty="0">
                <a:latin typeface="Chonburi" panose="00000500000000000000" pitchFamily="2" charset="-34"/>
                <a:cs typeface="Chonburi" panose="00000500000000000000" pitchFamily="2" charset="-34"/>
              </a:rPr>
              <a:t>Thank You</a:t>
            </a:r>
            <a:endParaRPr sz="6600" dirty="0">
              <a:latin typeface="Chonburi" panose="00000500000000000000" pitchFamily="2" charset="-34"/>
              <a:cs typeface="Chonburi" panose="00000500000000000000" pitchFamily="2" charset="-34"/>
            </a:endParaRPr>
          </a:p>
        </p:txBody>
      </p:sp>
    </p:spTree>
    <p:extLst>
      <p:ext uri="{BB962C8B-B14F-4D97-AF65-F5344CB8AC3E}">
        <p14:creationId xmlns:p14="http://schemas.microsoft.com/office/powerpoint/2010/main" val="2199083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264</TotalTime>
  <Words>801</Words>
  <Application>Microsoft Office PowerPoint</Application>
  <PresentationFormat>Custom</PresentationFormat>
  <Paragraphs>57</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Aharoni</vt:lpstr>
      <vt:lpstr>Aptos</vt:lpstr>
      <vt:lpstr>Arial</vt:lpstr>
      <vt:lpstr>Calibri</vt:lpstr>
      <vt:lpstr>Chonburi</vt:lpstr>
      <vt:lpstr>Sanskrit Text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Hana Tom</dc:creator>
  <cp:keywords/>
  <dc:description>generated using python-pptx</dc:description>
  <cp:lastModifiedBy>Hana Maria</cp:lastModifiedBy>
  <cp:revision>3</cp:revision>
  <dcterms:created xsi:type="dcterms:W3CDTF">2013-01-27T09:14:16Z</dcterms:created>
  <dcterms:modified xsi:type="dcterms:W3CDTF">2026-04-24T11:57:20Z</dcterms:modified>
  <cp:category/>
</cp:coreProperties>
</file>